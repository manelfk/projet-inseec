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627994"/>
            <a:ext cx="4972050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Olist :</a:t>
            </a:r>
            <a:r>
              <a:rPr lang="en-US" sz="33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33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Segmentation, </a:t>
            </a:r>
            <a:r>
              <a:rPr lang="en-US" sz="33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Scoring &amp; Marketing </a:t>
            </a:r>
            <a:r>
              <a:rPr lang="en-US" sz="33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Prédictif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3753929"/>
            <a:ext cx="42862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Transformer la donnée en leviers de croissance actionnables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4650581"/>
            <a:ext cx="154840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OLIST ANALYTICS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29300" y="0"/>
            <a:ext cx="33147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7413427" y="4850606"/>
            <a:ext cx="14448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Data Marketing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4857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Cadrage Stratégique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90411"/>
            <a:ext cx="4857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 Défi de la Fidélisation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1740480"/>
            <a:ext cx="4572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CONTEXTE BUSINESS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2042303"/>
            <a:ext cx="4572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opère comme un intermédiaire stratégique connectant les commerçants brésiliens aux grandes marketplaces. La connaissance client est l'actif principal pour optimiser les ventes.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802331"/>
            <a:ext cx="4572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PROBLÉMATIQUE MAJEURE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3104155"/>
            <a:ext cx="4572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L'analyse révèle un taux de ré-achat extrêmement faible (~2%), rendant la fidélisation traditionnelle complexe et la réactivation client cruciale pour la croissance.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864183"/>
            <a:ext cx="4572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APPROCHE DATA-DRIVEN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" y="4166006"/>
            <a:ext cx="4572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Passage d'une analyse descriptive à une dimension prescriptive. Objectifs : identifier des segments robustes et prédire l'insatisfaction en respectant le RGPD.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29250" y="0"/>
            <a:ext cx="371475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6215063" y="1816298"/>
            <a:ext cx="2143125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2%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6215063" y="2744986"/>
            <a:ext cx="21431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TAUX DE RÉ-ACHAT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15063" y="3052167"/>
            <a:ext cx="21431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4F4F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défi majeur d'Olist : transformer le "One-Shot" en relation durable.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Exploration des Données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27581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Réalité du Marché Brésilien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1791937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L'étude analyse plus de 74 000 articles commandés à travers les 27 régions du Brésil. Cette photographie révèle une forte fragmentation des intérêts d'achat et une réalité de marché dominée par le "One-Shot".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2534887"/>
            <a:ext cx="2016044" cy="44112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534887"/>
            <a:ext cx="2016044" cy="4411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INDICATEUR CLÉ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87544" y="2534887"/>
            <a:ext cx="2056730" cy="44112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2587544" y="2534887"/>
            <a:ext cx="2056730" cy="4411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VALEUR OBSERVÉE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44275" y="2534887"/>
            <a:ext cx="3928225" cy="44112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644275" y="2534887"/>
            <a:ext cx="3928225" cy="4411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IMPLICATION MARKETING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4375" y="3118889"/>
            <a:ext cx="10036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Clients Uniques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87544" y="2976014"/>
            <a:ext cx="2056730" cy="44469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61 043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44275" y="2976014"/>
            <a:ext cx="3928225" cy="44469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prospection massive à exploiter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1500" y="3420712"/>
            <a:ext cx="8001000" cy="44827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3567159"/>
            <a:ext cx="11090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Taux de Ré-achat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87544" y="3420712"/>
            <a:ext cx="205673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2,2%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44275" y="3420712"/>
            <a:ext cx="3928225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Priorité absolue à la conversion du 1er achat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14375" y="4015429"/>
            <a:ext cx="13073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Qualité des Données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87544" y="3868982"/>
            <a:ext cx="205673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&gt; 95%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44275" y="3868982"/>
            <a:ext cx="3928225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Haute fiabilité pour les modèles prédictifs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71500" y="4317253"/>
            <a:ext cx="8001000" cy="44827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0"/>
          <p:cNvSpPr/>
          <p:nvPr/>
        </p:nvSpPr>
        <p:spPr>
          <a:xfrm>
            <a:off x="714375" y="4463700"/>
            <a:ext cx="1135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Diversité Produits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587544" y="4317253"/>
            <a:ext cx="205673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69 catégories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44275" y="4317253"/>
            <a:ext cx="3928225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comportementale indispensable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500062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Méthodologie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90411"/>
            <a:ext cx="50006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Au-delà du RFM Traditionnel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41385"/>
            <a:ext cx="125016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3672" y="1826205"/>
            <a:ext cx="16644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1500" y="2128028"/>
            <a:ext cx="4714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Enrichissement des dimensions classiques (Récence, Montant) par des variables comportementales : panier moyen, diversité des catégories et facilités de paiement.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10393"/>
            <a:ext cx="17859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7250" y="2995213"/>
            <a:ext cx="18055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EXPÉRIENCE LOGISTIQUE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71500" y="3297036"/>
            <a:ext cx="4714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précis des délais de livraison réels comparés aux promesses initiales. Identification des retards critiques comme signal d'insatisfaction.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73683"/>
            <a:ext cx="178594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7250" y="3958503"/>
            <a:ext cx="1389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STANDARDISATION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71500" y="4260326"/>
            <a:ext cx="4714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du </a:t>
            </a:r>
            <a:r>
              <a:rPr lang="en-US" sz="900" b="1" dirty="0">
                <a:solidFill>
                  <a:srgbClr val="4755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StandardScaler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normaliser les échelles. Chaque 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 pèse équitablement dans l'algorithme de clustering sans biais de 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grandeur.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9"/>
          <p:cNvSpPr/>
          <p:nvPr/>
        </p:nvSpPr>
        <p:spPr>
          <a:xfrm>
            <a:off x="6000750" y="714375"/>
            <a:ext cx="31432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INPUT PRINCIPAL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6000750" y="871538"/>
            <a:ext cx="31432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RFM Enrichi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000750" y="1450181"/>
            <a:ext cx="31432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SIGNAL QUALITÉ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6000750" y="1607344"/>
            <a:ext cx="31432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 Score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000750" y="2185988"/>
            <a:ext cx="31432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LEVIER CRITIQUE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6000750" y="2343150"/>
            <a:ext cx="31432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Délai Logistique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8086"/>
            <a:ext cx="3446859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Segmentation Client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135270"/>
            <a:ext cx="344685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Algorithme K-Means &amp; Personas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1738917"/>
            <a:ext cx="31611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CHOIX DU MODÈLE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015737"/>
            <a:ext cx="3161109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du clustering K-Means optimisé par la méthode du coude (Elbow) et l'analyse du score de silhouette pour garantir la robustesse des groupes.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776547"/>
            <a:ext cx="31611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LOGIQUE DE PROFILAGE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3053367"/>
            <a:ext cx="3161109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clients sont regroupés selon leur similarité comportementale réelle (Récence, Montant, Satisfaction, Logistique) et non par simple intuition marketing.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996342"/>
            <a:ext cx="31611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INTERPRÉTABILITÉ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4273162"/>
            <a:ext cx="3161109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des clusters statistiques en 4 personas actionnables avec des frontières comportementales marquées et une signature unique.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018359" y="0"/>
            <a:ext cx="5125641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4304109" y="1410891"/>
            <a:ext cx="45541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SIGNATURE DES SEGMENTS (Écart à la moyenne)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04109" y="1798439"/>
            <a:ext cx="1516986" cy="26789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Dimension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821096" y="1798439"/>
            <a:ext cx="742950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S0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564046" y="1798439"/>
            <a:ext cx="777134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S1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341180" y="1798439"/>
            <a:ext cx="777134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S2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118314" y="1798439"/>
            <a:ext cx="739936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S3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304109" y="2066330"/>
            <a:ext cx="1516986" cy="339328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Récence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821096" y="2066330"/>
            <a:ext cx="742950" cy="339328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20" name="Text 17"/>
          <p:cNvSpPr/>
          <p:nvPr/>
        </p:nvSpPr>
        <p:spPr>
          <a:xfrm>
            <a:off x="5821096" y="2066330"/>
            <a:ext cx="742950" cy="339328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-1.33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564046" y="2066330"/>
            <a:ext cx="777134" cy="339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6564046" y="2066330"/>
            <a:ext cx="777134" cy="339328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+0.93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341180" y="2066330"/>
            <a:ext cx="777134" cy="339328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341180" y="2066330"/>
            <a:ext cx="777134" cy="339328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+0.22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118314" y="2066330"/>
            <a:ext cx="739936" cy="339328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118314" y="2066330"/>
            <a:ext cx="739936" cy="339328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+0.19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304109" y="2405658"/>
            <a:ext cx="1516986" cy="335756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Montant Total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821096" y="2405658"/>
            <a:ext cx="742950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821096" y="2405658"/>
            <a:ext cx="742950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-0.57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564046" y="2405658"/>
            <a:ext cx="777134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564046" y="2405658"/>
            <a:ext cx="777134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-0.56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7341180" y="2405658"/>
            <a:ext cx="777134" cy="3357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0"/>
          <p:cNvSpPr/>
          <p:nvPr/>
        </p:nvSpPr>
        <p:spPr>
          <a:xfrm>
            <a:off x="7341180" y="2405658"/>
            <a:ext cx="777134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+1.49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8118314" y="2405658"/>
            <a:ext cx="739936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8118314" y="2405658"/>
            <a:ext cx="739936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-0.37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304109" y="2741414"/>
            <a:ext cx="1516986" cy="335756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Satisfaction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5821096" y="2741414"/>
            <a:ext cx="742950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821096" y="2741414"/>
            <a:ext cx="742950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+0.51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564046" y="2741414"/>
            <a:ext cx="777134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6564046" y="2741414"/>
            <a:ext cx="777134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+0.54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7341180" y="2741414"/>
            <a:ext cx="777134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7341180" y="2741414"/>
            <a:ext cx="777134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+0.45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118314" y="2741414"/>
            <a:ext cx="739936" cy="335756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44" name="Text 41"/>
          <p:cNvSpPr/>
          <p:nvPr/>
        </p:nvSpPr>
        <p:spPr>
          <a:xfrm>
            <a:off x="8118314" y="2741414"/>
            <a:ext cx="739936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-1.50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304109" y="3077170"/>
            <a:ext cx="1516986" cy="335756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Délai Livraison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821096" y="3077170"/>
            <a:ext cx="742950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5821096" y="3077170"/>
            <a:ext cx="742950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-0.48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6564046" y="3077170"/>
            <a:ext cx="777134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6564046" y="3077170"/>
            <a:ext cx="777134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-0.60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7341180" y="3077170"/>
            <a:ext cx="777134" cy="335756"/>
          </a:xfrm>
          <a:prstGeom prst="rect">
            <a:avLst/>
          </a:prstGeom>
          <a:solidFill>
            <a:srgbClr val="F4F4F6">
              <a:alpha val="10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341180" y="3077170"/>
            <a:ext cx="777134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-0.41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8118314" y="3077170"/>
            <a:ext cx="739936" cy="335756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53" name="Text 50"/>
          <p:cNvSpPr/>
          <p:nvPr/>
        </p:nvSpPr>
        <p:spPr>
          <a:xfrm>
            <a:off x="8118314" y="3077170"/>
            <a:ext cx="739936" cy="335756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+1.50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437287" y="3627239"/>
            <a:ext cx="104834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4F4F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Au-dessus de la moyenne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6771382" y="3627239"/>
            <a:ext cx="109656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4F4F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En-dessous de la moyenne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Portrait-Robot des Personas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27581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l'ambassadeur fidèle au client à risque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1791937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synthèse des comportements a permis de définir quatre personas distincts, chacun représentant un enjeu spécifique pour la croissance et la rentabilité d'Olist.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2463450"/>
            <a:ext cx="1685227" cy="4982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463450"/>
            <a:ext cx="1685227" cy="498277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56727" y="2463450"/>
            <a:ext cx="3782448" cy="4982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2256727" y="2463450"/>
            <a:ext cx="3782448" cy="498277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PROFIL TYPE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9176" y="2463450"/>
            <a:ext cx="2533324" cy="4982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6039176" y="2463450"/>
            <a:ext cx="2533324" cy="498277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OBJECTIF STRATÉGIQUE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146571"/>
            <a:ext cx="171450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0125" y="3133176"/>
            <a:ext cx="7733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Forte Valeur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256727" y="2961726"/>
            <a:ext cx="3782448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Dépense élevée, achat récent, très satisfait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039176" y="2961726"/>
            <a:ext cx="2533324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Fidéliser &amp; Valoriser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71500" y="3467147"/>
            <a:ext cx="8001000" cy="50542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651991"/>
            <a:ext cx="171450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0125" y="3638597"/>
            <a:ext cx="5197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Récents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256727" y="3467147"/>
            <a:ext cx="3782448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Premier achat récent, panier moyen correct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039176" y="3467147"/>
            <a:ext cx="2533324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Convertir le 2ème achat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157411"/>
            <a:ext cx="171450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0125" y="4144017"/>
            <a:ext cx="6268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Dormants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2256727" y="3972567"/>
            <a:ext cx="3782448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Historique fort, inactif depuis longtemps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039176" y="3972567"/>
            <a:ext cx="2533324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Réactiver par campagne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71500" y="4477987"/>
            <a:ext cx="8001000" cy="50542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662832"/>
            <a:ext cx="171450" cy="128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0125" y="4649437"/>
            <a:ext cx="5625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À Risque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2256727" y="4477987"/>
            <a:ext cx="3782448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basse ou mauvaise expérience livraison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039176" y="4477987"/>
            <a:ext cx="2533324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Récupérer la confiance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8086"/>
            <a:ext cx="3580805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Scoring de Valeur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135270"/>
            <a:ext cx="358080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Prioriser l'Effort Marketing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1738917"/>
            <a:ext cx="329505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MÉTHODE DE CALCUL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015737"/>
            <a:ext cx="329505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score composite de 0 à 100 combinant la valeur transactionnelle et le potentiel relationnel.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500" y="2501512"/>
            <a:ext cx="3295055" cy="36968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501512"/>
            <a:ext cx="3295055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Score = (80% RFM) + (20% Satisfaction)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3049795"/>
            <a:ext cx="329505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LOI DE PARETO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326616"/>
            <a:ext cx="329505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minorité de clients prioritaires concentre une part disproportionnée du CA. Le score permet d'arbitrer les budgets avec précision.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4051706"/>
            <a:ext cx="329505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OUTIL OPÉRATIONNEL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1500" y="4328526"/>
            <a:ext cx="329505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quotidien vers le CRM pour automatiser la priorisation des campagnes et maximiser le ROI.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52305" y="0"/>
            <a:ext cx="4991695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152305" y="693837"/>
            <a:ext cx="470594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Distribution des Priorités Marketing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305" y="1206401"/>
            <a:ext cx="4705945" cy="2857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52305" y="4063901"/>
            <a:ext cx="4705945" cy="385763"/>
          </a:xfrm>
          <a:prstGeom prst="rect">
            <a:avLst/>
          </a:prstGeom>
          <a:noFill/>
          <a:ln/>
        </p:spPr>
        <p:txBody>
          <a:bodyPr wrap="square" lIns="340233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Données basées sur 61 043 clients uniques. </a:t>
            </a: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segments "Prioritaire" et "Élevée" représentent 80% du potentiel ROI.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8086"/>
            <a:ext cx="3714750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Modélisation Prédictive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135270"/>
            <a:ext cx="3714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Anticiper l'Insatisfaction Client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1738917"/>
            <a:ext cx="3429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OBJECTIF PROACTIF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015737"/>
            <a:ext cx="34290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Détecter les commandes risquant une note ≤ 2 avant l'expression du client. Passer d'une gestion de crise à une prévention ciblée.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740828"/>
            <a:ext cx="3429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LE CHAMPION : GRADIENT BOOSTING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3017648"/>
            <a:ext cx="34290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comparaison de 4 algorithmes, le Gradient Boosting 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offre le meilleur équilibre avec un </a:t>
            </a:r>
            <a:r>
              <a:rPr lang="en-US" sz="850" b="1" dirty="0">
                <a:solidFill>
                  <a:srgbClr val="4755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AUC de 0,751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560573"/>
            <a:ext cx="3429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 BUSINESS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837394"/>
            <a:ext cx="34290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à isoler les 13% de commandes problématiques pour déclencher un geste commercial préventif immédiat.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86250" y="0"/>
            <a:ext cx="485775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0" y="845641"/>
            <a:ext cx="4857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COMPARAISON DES PERFORMANCES (AUC)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94" y="1233190"/>
            <a:ext cx="3929063" cy="2857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86250" y="4376440"/>
            <a:ext cx="4857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SCORE CHAMPION : 0.751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8086"/>
            <a:ext cx="3580805" cy="69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Leviers d'Insatisfaction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481017"/>
            <a:ext cx="358080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Logistique au Cœur de la Valeur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2084663"/>
            <a:ext cx="329505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FACTEUR N°1 : ÉCART PROMESSE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361484"/>
            <a:ext cx="329505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retard par rapport à la date estimée est le prédicteur le plus puissant de l'insatisfaction. L'incertitude logistique détruit la LTV.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3086574"/>
            <a:ext cx="329505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VARIABLES SECONDAIRES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3363395"/>
            <a:ext cx="329505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délai total de livraison et le nombre d'articles impactent également la note finale, soulignant l'importance de la fluidité opérationnelle.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4088485"/>
            <a:ext cx="329505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ACTION CORRECTIVE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4365306"/>
            <a:ext cx="329505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doit agir sur ses partenaires pour réduire les délais. Le scoring en temps réel permet d'identifier les retards imminents dès l'expédition.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52305" y="0"/>
            <a:ext cx="4991695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152305" y="647402"/>
            <a:ext cx="470594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IMPORTANCE DES VARIABLES (MODÈLE D'ENSEMBLE)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305" y="1017091"/>
            <a:ext cx="4705945" cy="32146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52305" y="4231779"/>
            <a:ext cx="4705945" cy="264319"/>
          </a:xfrm>
          <a:prstGeom prst="rect">
            <a:avLst/>
          </a:prstGeom>
          <a:noFill/>
          <a:ln/>
        </p:spPr>
        <p:txBody>
          <a:bodyPr wrap="square" lIns="340233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L'écart à la promesse domine largement la prédiction de l'insatisfaction.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Plan d'Activation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27581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Transformer les Insights en Chiffre d'Affaires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1791937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segment appelle une stratégie de communication distincte. L'articulation entre segmentation, scoring et prédiction forme une chaîne d'activation complète.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2463450"/>
            <a:ext cx="1648644" cy="4982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463450"/>
            <a:ext cx="1648644" cy="498277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SEGMENT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20144" y="2463450"/>
            <a:ext cx="2302520" cy="4982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2220144" y="2463450"/>
            <a:ext cx="2302520" cy="498277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CANAL RECOMMANDÉ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22663" y="2463450"/>
            <a:ext cx="4049837" cy="4982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522663" y="2463450"/>
            <a:ext cx="4049837" cy="498277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MESSAGE / OFFRE CLÉ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146571"/>
            <a:ext cx="171450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0125" y="3133176"/>
            <a:ext cx="7733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Forte Valeur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220144" y="2961726"/>
            <a:ext cx="2302520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perso + SMS VIP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22663" y="2961726"/>
            <a:ext cx="4049837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 anticipé &amp; Programme fidélité exclusif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71500" y="3467147"/>
            <a:ext cx="8001000" cy="50542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651991"/>
            <a:ext cx="171450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0125" y="3638597"/>
            <a:ext cx="5197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Récents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220144" y="3467147"/>
            <a:ext cx="2302520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auto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22663" y="3467147"/>
            <a:ext cx="4049837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Remise sur 2ème commande &amp; Cross-sell ciblé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157411"/>
            <a:ext cx="171450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0125" y="4144017"/>
            <a:ext cx="6268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Dormants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2220144" y="3972567"/>
            <a:ext cx="2302520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Win-back + Retargeting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522663" y="3972567"/>
            <a:ext cx="4049837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"Vous nous manquez" + Offre de retour agressive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71500" y="4477987"/>
            <a:ext cx="8001000" cy="50542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662832"/>
            <a:ext cx="171450" cy="128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0125" y="4649437"/>
            <a:ext cx="5625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À Risque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2220144" y="4477987"/>
            <a:ext cx="2302520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client proactif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22663" y="4477987"/>
            <a:ext cx="4049837" cy="50542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Excuses officielles &amp; Geste commercial immédiat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8086"/>
            <a:ext cx="4411266" cy="345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Contrat de Maintenance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135270"/>
            <a:ext cx="441126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Garantir la Fiabilité Temporelle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1667480"/>
            <a:ext cx="412551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segmentation n'est pas figée. L'arrivée massive de nouveaux profils nécessite un rafraîchissement régulier pour éviter la dérive du modèle.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427508"/>
            <a:ext cx="2221427" cy="3518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427508"/>
            <a:ext cx="2221427" cy="3518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COMPOSANT DU MODÈLE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92927" y="2427508"/>
            <a:ext cx="1904088" cy="3518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2792927" y="2427508"/>
            <a:ext cx="1904088" cy="3518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FRÉQUENCE RECOMMANDÉE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2779337"/>
            <a:ext cx="2221427" cy="35540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Ré-affectation des clients (Scoring)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792927" y="2779337"/>
            <a:ext cx="1904088" cy="35540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Mensuelle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71500" y="3134739"/>
            <a:ext cx="4125516" cy="358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134739"/>
            <a:ext cx="2221427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Ré-entraînement de la segmentation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792927" y="3134739"/>
            <a:ext cx="1904088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Trimestrielle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71500" y="3493712"/>
            <a:ext cx="2221427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Refonte complète (Features, K)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92927" y="3493712"/>
            <a:ext cx="1904088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Annuelle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71500" y="3852686"/>
            <a:ext cx="4125516" cy="358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3852686"/>
            <a:ext cx="2221427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prédictif d'insatisfaction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792927" y="3852686"/>
            <a:ext cx="1904088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Trimestrielle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982766" y="0"/>
            <a:ext cx="4161234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4982766" y="808137"/>
            <a:ext cx="387548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Stabilité des Segments (ARI)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766" y="1177826"/>
            <a:ext cx="3875484" cy="250031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982766" y="3821013"/>
            <a:ext cx="3875484" cy="51435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Analyse ARI :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Plus l'indice est élevé, plus la structure est stable. 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baisse observée justifie une maintenance trimestrielle pour 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intégrer les nouveaux comportements.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94262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570230"/>
            <a:ext cx="3237012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Olist :</a:t>
            </a:r>
            <a:r>
              <a:rPr lang="en-US" sz="245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45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Vers le</a:t>
            </a:r>
            <a:r>
              <a:rPr lang="en-US" sz="245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450" b="1" dirty="0">
                <a:solidFill>
                  <a:srgbClr val="F4F4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Customer-Centric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2987483"/>
            <a:ext cx="32370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4F4F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 de la connaissance client le moteur principal de la rentabilité sur le marché brésilien.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22887" y="832386"/>
            <a:ext cx="4621113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522887" y="1284229"/>
            <a:ext cx="46211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Synthèse &amp; Prochaines Étapes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87" y="1901270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8630" y="1887875"/>
            <a:ext cx="173771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SYNTHÈSE DES LIVRABLES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808637" y="2157552"/>
            <a:ext cx="3763863" cy="205718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actionnable en 4 personas documentés.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08637" y="2434707"/>
            <a:ext cx="3763863" cy="205718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de valeur opérationnel (0-100) pour le CRM.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808637" y="2711862"/>
            <a:ext cx="3763863" cy="205718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Moteur de prédiction d'insatisfaction (AUC 0.75).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808637" y="2157552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08637" y="2434707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08637" y="2711862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87" y="3181006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8630" y="3167611"/>
            <a:ext cx="138945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PROCHAINES ÉTAPES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808637" y="3437288"/>
            <a:ext cx="3763863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technique des scores dans les outils quotidiens.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808637" y="3920161"/>
            <a:ext cx="3763863" cy="205718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des alertes logistiques proactives.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808637" y="4197316"/>
            <a:ext cx="3763863" cy="205718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Lancement des campagnes de réactivation "Dormants".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22887" y="4653065"/>
            <a:ext cx="40496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de données brutes en un plan d'action ROIste et scalable.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808637" y="3437288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808637" y="3920161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808637" y="4197316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2026-05-29T09:43:21Z</dcterms:created>
  <dcterms:modified xsi:type="dcterms:W3CDTF">2026-05-29T09:43:21Z</dcterms:modified>
</cp:coreProperties>
</file>