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notesMasterIdLst>
    <p:notesMasterId r:id="rId13"/>
  </p:notesMasterIdLst>
  <p:sldIdLst>
    <p:sldId id="256" r:id="rId2"/>
    <p:sldId id="266" r:id="rId3"/>
    <p:sldId id="257" r:id="rId4"/>
    <p:sldId id="258" r:id="rId5"/>
    <p:sldId id="259" r:id="rId6"/>
    <p:sldId id="260" r:id="rId7"/>
    <p:sldId id="262" r:id="rId8"/>
    <p:sldId id="261" r:id="rId9"/>
    <p:sldId id="263" r:id="rId10"/>
    <p:sldId id="267" r:id="rId11"/>
    <p:sldId id="265" r:id="rId12"/>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0E376B"/>
    <a:srgbClr val="FBFDFD"/>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1181" autoAdjust="0"/>
  </p:normalViewPr>
  <p:slideViewPr>
    <p:cSldViewPr snapToGrid="0" snapToObjects="1">
      <p:cViewPr>
        <p:scale>
          <a:sx n="75" d="100"/>
          <a:sy n="75" d="100"/>
        </p:scale>
        <p:origin x="123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2412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Nous sommes ici pour explorer le comportement du e-consommateur dans l'industrie automobile, une analyse comparative data-driven entre Renault et BMW. Notre objectif est d'optimiser le parcours client digital et de proposer des stratégies data marketing pertinentes. Cette étude s'inscrit dans le cadre de notre M2 Data Analytics, avec une perspective de Manager en Data Marketing. Nous allons décortiquer comment ces deux géants exploitent les données pour se différencier. Passons maintenant à la problématique centrale de notre étude.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Espace réservé des notes 2"/>
          <p:cNvSpPr>
            <a:spLocks noGrp="1"/>
          </p:cNvSpPr>
          <p:nvPr>
            <p:ph type="body" idx="1"/>
          </p:nvPr>
        </p:nvSpPr>
        <p:spPr>
          <a:xfrm>
            <a:off x="514350" y="4400550"/>
            <a:ext cx="4114800" cy="3600450"/>
          </a:xfrm>
          <a:prstGeom prst="rect">
            <a:avLst/>
          </a:prstGeom>
        </p:spPr>
        <p:txBody>
          <a:bodyPr/>
          <a:lstStyle/>
          <a:p>
            <a:endParaRPr lang="fr-FR" dirty="0"/>
          </a:p>
        </p:txBody>
      </p:sp>
    </p:spTree>
    <p:extLst>
      <p:ext uri="{BB962C8B-B14F-4D97-AF65-F5344CB8AC3E}">
        <p14:creationId xmlns:p14="http://schemas.microsoft.com/office/powerpoint/2010/main" val="1773309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secteur automobile a connu une transformation digitale majeure, impactant profondément l'achat de véhicules. L'e-consommateur d'aujourd'hui est hyper-connecté, naviguant entre canaux online et offline. Pour les constructeurs, l'enjeu est de taille : comment collecter, analyser et activer ces données pour comprendre ce client et optimiser son parcours ? C'est la problématique centrale de notre étude : comment Renault et BMW exploitent-ils les données pour optimiser le parcours client digital et se différencier ? Nous allons maintenant vous présenter notre méthodologie pour y répondre.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répondre à cette problématique, nous avons adopté une approche data-driven rigoureuse. Notre objectif est d'analyser le processus d'achat d'un véhicule sous l'angle des données, de la première visite web à l'acquisition. Nous avons choisi de comparer Renault, un acteur généraliste, et BMW, un constructeur premium, car leurs positionnements différents promettent des stratégies data distinctes. Nous structurerons notre analyse autour des types de données collectées, de la conformité RGPD, des sources d'informations complémentaires et des KPIs pertinents. Voyons maintenant comment ces marques collectent des données à chaque étape du parcours client digital.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parcours client digital est une véritable mine d'or de données, et nous observons des approches distinctes entre Renault et BMW. Au stade de la notoriété, le TOFU, Renault se concentre sur le volume et les interactions de masse, tandis que BMW privilégie l'expérience immersive et la personnalisation. En phase de considération, le MOFU, Renault génère des leads plus généralistes, alors que BMW affine la qualification de ses prospects avec un historique d'interactions plus détaillé. Enfin, en conversion, le BOFU, les deux collectent des données transactionnelles, mais BMW va plus loin avec les données de fidélisation et de services connectés, reflétant son positionnement premium. Mais cette collecte massive de données soulève des questions cruciales de conformité et d'éthique.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conformité au RGPD n'est pas une contrainte, mais une opportunité stratégique de bâtir la confiance client. Les deux constructeurs doivent respecter les principes fondamentaux du RGPD : consentement explicite, droit à l'oubli, portabilité et minimisation des données. Renault communique de manière standard sur sa politique de confidentialité et la gestion des cookies. BMW, avec ses services connectés et la personnalisation poussée, gère des données plus sensibles, ce qui implique un consentement renforcé et une politique de confidentialité encore plus détaillée. L'enjeu est d'équilibrer l'hyper-personnalisation avec le respect de la vie privée. Pour une vision complète, il faut aussi considérer les sources de données complémentaires.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Maintenant que nous avons exploré les sources de données, il est crucial de comprendre comment piloter cette stratégie data. Pour évaluer l'efficacité de leurs stratégies, les constructeurs doivent suivre des KPIs précis à chaque étape du parcours client. Au niveau de la visibilité et de l'engagement, nous mesurons le taux de visiteurs uniques et l'engagement sur les réseaux sociaux. Pour la considération, des KPIs comme le taux de conversion du configurateur ou le volume de demandes d'essai sont essentiels. Enfin, pour la conversion et la fidélisation, le taux de transformation, le coût d'acquisition client, la valeur vie client et le taux de rétention sont cruciaux. Il est important de noter que les valeurs cibles de ces KPIs peuvent varier entre Renault et BMW en fonction de leur positionnement et de leurs objectifs stratégiques. Forts de ces indicateurs, nous pouvons formuler des recommandations stratégiques.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avoir abordé la conformité RGPD, nous allons voir comment enrichir cette connaissance client. Pour avoir une vision 360 degrés du client, il est essentiel d'intégrer des sources de données complémentaires, qu'elles soient internes ou externes. En interne, au-delà des CRM et DMP, les données des sites web, des applications mobiles, et des interactions en concession sont cruciales. Pour BMW, les données des véhicules connectés offrent une richesse d'informations sur l'usage réel. En externe, les données socio-démographiques, de mobilité, les analyses des réseaux sociaux et les données de partenaires enrichissent considérablement le profil client. L'intégration de ces différentes sources dans un Data Lake ou un Data Warehouse est la clé pour une connaissance client approfondie. Mais comment mesurer l'efficacité de cette collecte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avoir analysé les données et les KPIs, nous pouvons maintenant formuler des recommandations stratégiques concrètes. Pour Renault, l'accent doit être mis sur la personnalisation de masse via l'IA, l'optimisation continue du funnel de conversion et le développement de partenariats data pour innover. Pour BMW, la stratégie doit viser l'hyper-personnalisation grâce aux données des véhicules connectés, une expérience client 360 degrés parfaitement intégrée, et l'exploration de technologies comme la blockchain pour renforcer la confiance et la sécurité des données sensibles. Une recommandation commune est l'investissement dans la formation des équipes à la culture et aux outils data, essentielle pour la réussite de ces stratégies. Ces actions nous mènent à une conclusion sur l'importance du data marketing.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En conclusion, </a:t>
            </a:r>
            <a:r>
              <a:rPr lang="en-US" dirty="0" err="1"/>
              <a:t>notre</a:t>
            </a:r>
            <a:r>
              <a:rPr lang="en-US" dirty="0"/>
              <a:t> étude </a:t>
            </a:r>
            <a:r>
              <a:rPr lang="en-US" dirty="0" err="1"/>
              <a:t>démontre</a:t>
            </a:r>
            <a:r>
              <a:rPr lang="en-US" dirty="0"/>
              <a:t> </a:t>
            </a:r>
            <a:r>
              <a:rPr lang="en-US" dirty="0" err="1"/>
              <a:t>que</a:t>
            </a:r>
            <a:r>
              <a:rPr lang="en-US" dirty="0"/>
              <a:t> la </a:t>
            </a:r>
            <a:r>
              <a:rPr lang="en-US" dirty="0" err="1"/>
              <a:t>maîtrise</a:t>
            </a:r>
            <a:r>
              <a:rPr lang="en-US" dirty="0"/>
              <a:t> du data marketing est </a:t>
            </a:r>
            <a:r>
              <a:rPr lang="en-US" dirty="0" err="1"/>
              <a:t>devenue</a:t>
            </a:r>
            <a:r>
              <a:rPr lang="en-US" dirty="0"/>
              <a:t> un </a:t>
            </a:r>
            <a:r>
              <a:rPr lang="en-US" dirty="0" err="1"/>
              <a:t>moteur</a:t>
            </a:r>
            <a:r>
              <a:rPr lang="en-US" dirty="0"/>
              <a:t> </a:t>
            </a:r>
            <a:r>
              <a:rPr lang="en-US" dirty="0" err="1"/>
              <a:t>essentiel</a:t>
            </a:r>
            <a:r>
              <a:rPr lang="en-US" dirty="0"/>
              <a:t> de la performance dans </a:t>
            </a:r>
            <a:r>
              <a:rPr lang="en-US" dirty="0" err="1"/>
              <a:t>l'industrie</a:t>
            </a:r>
            <a:r>
              <a:rPr lang="en-US" dirty="0"/>
              <a:t> automobile. La </a:t>
            </a:r>
            <a:r>
              <a:rPr lang="en-US" dirty="0" err="1"/>
              <a:t>maîtrise</a:t>
            </a:r>
            <a:r>
              <a:rPr lang="en-US" dirty="0"/>
              <a:t> des données est un </a:t>
            </a:r>
            <a:r>
              <a:rPr lang="en-US" dirty="0" err="1"/>
              <a:t>avantage</a:t>
            </a:r>
            <a:r>
              <a:rPr lang="en-US" dirty="0"/>
              <a:t> </a:t>
            </a:r>
            <a:r>
              <a:rPr lang="en-US" dirty="0" err="1"/>
              <a:t>concurrentiel</a:t>
            </a:r>
            <a:r>
              <a:rPr lang="en-US" dirty="0"/>
              <a:t> </a:t>
            </a:r>
            <a:r>
              <a:rPr lang="en-US" dirty="0" err="1"/>
              <a:t>majeur</a:t>
            </a:r>
            <a:r>
              <a:rPr lang="en-US" dirty="0"/>
              <a:t>, </a:t>
            </a:r>
            <a:r>
              <a:rPr lang="en-US" dirty="0" err="1"/>
              <a:t>permettant</a:t>
            </a:r>
            <a:r>
              <a:rPr lang="en-US" dirty="0"/>
              <a:t> de passer </a:t>
            </a:r>
            <a:r>
              <a:rPr lang="en-US" dirty="0" err="1"/>
              <a:t>d'une</a:t>
            </a:r>
            <a:r>
              <a:rPr lang="en-US" dirty="0"/>
              <a:t> intuition marketing à </a:t>
            </a:r>
            <a:r>
              <a:rPr lang="en-US" dirty="0" err="1"/>
              <a:t>une</a:t>
            </a:r>
            <a:r>
              <a:rPr lang="en-US" dirty="0"/>
              <a:t> </a:t>
            </a:r>
            <a:r>
              <a:rPr lang="en-US" dirty="0" err="1"/>
              <a:t>précision</a:t>
            </a:r>
            <a:r>
              <a:rPr lang="en-US" dirty="0"/>
              <a:t> </a:t>
            </a:r>
            <a:r>
              <a:rPr lang="en-US" dirty="0" err="1"/>
              <a:t>analytique</a:t>
            </a:r>
            <a:r>
              <a:rPr lang="en-US" dirty="0"/>
              <a:t>. Renault et BMW, malgré </a:t>
            </a:r>
            <a:r>
              <a:rPr lang="en-US" dirty="0" err="1"/>
              <a:t>leurs</a:t>
            </a:r>
            <a:r>
              <a:rPr lang="en-US" dirty="0"/>
              <a:t> </a:t>
            </a:r>
            <a:r>
              <a:rPr lang="en-US" dirty="0" err="1"/>
              <a:t>positionnements</a:t>
            </a:r>
            <a:r>
              <a:rPr lang="en-US" dirty="0"/>
              <a:t> </a:t>
            </a:r>
            <a:r>
              <a:rPr lang="en-US" dirty="0" err="1"/>
              <a:t>différents</a:t>
            </a:r>
            <a:r>
              <a:rPr lang="en-US" dirty="0"/>
              <a:t>, convergent vers </a:t>
            </a:r>
            <a:r>
              <a:rPr lang="en-US" dirty="0" err="1"/>
              <a:t>une</a:t>
            </a:r>
            <a:r>
              <a:rPr lang="en-US" dirty="0"/>
              <a:t> </a:t>
            </a:r>
            <a:r>
              <a:rPr lang="en-US" dirty="0" err="1"/>
              <a:t>approche</a:t>
            </a:r>
            <a:r>
              <a:rPr lang="en-US" dirty="0"/>
              <a:t> data-centric, </a:t>
            </a:r>
            <a:r>
              <a:rPr lang="en-US" dirty="0" err="1"/>
              <a:t>adaptant</a:t>
            </a:r>
            <a:r>
              <a:rPr lang="en-US" dirty="0"/>
              <a:t> </a:t>
            </a:r>
            <a:r>
              <a:rPr lang="en-US" dirty="0" err="1"/>
              <a:t>leurs</a:t>
            </a:r>
            <a:r>
              <a:rPr lang="en-US" dirty="0"/>
              <a:t> </a:t>
            </a:r>
            <a:r>
              <a:rPr lang="en-US" dirty="0" err="1"/>
              <a:t>outils</a:t>
            </a:r>
            <a:r>
              <a:rPr lang="en-US" dirty="0"/>
              <a:t> à </a:t>
            </a:r>
            <a:r>
              <a:rPr lang="en-US" dirty="0" err="1"/>
              <a:t>leurs</a:t>
            </a:r>
            <a:r>
              <a:rPr lang="en-US" dirty="0"/>
              <a:t> </a:t>
            </a:r>
            <a:r>
              <a:rPr lang="en-US" dirty="0" err="1"/>
              <a:t>spécificités</a:t>
            </a:r>
            <a:r>
              <a:rPr lang="en-US" dirty="0"/>
              <a:t>. Les </a:t>
            </a:r>
            <a:r>
              <a:rPr lang="en-US" dirty="0" err="1"/>
              <a:t>enjeux</a:t>
            </a:r>
            <a:r>
              <a:rPr lang="en-US" dirty="0"/>
              <a:t> </a:t>
            </a:r>
            <a:r>
              <a:rPr lang="en-US" dirty="0" err="1"/>
              <a:t>futurs</a:t>
            </a:r>
            <a:r>
              <a:rPr lang="en-US" dirty="0"/>
              <a:t> </a:t>
            </a:r>
            <a:r>
              <a:rPr lang="en-US" dirty="0" err="1"/>
              <a:t>sont</a:t>
            </a:r>
            <a:r>
              <a:rPr lang="en-US" dirty="0"/>
              <a:t> </a:t>
            </a:r>
            <a:r>
              <a:rPr lang="en-US" dirty="0" err="1"/>
              <a:t>nombreux</a:t>
            </a:r>
            <a:r>
              <a:rPr lang="en-US" dirty="0"/>
              <a:t> : </a:t>
            </a:r>
            <a:r>
              <a:rPr lang="en-US" dirty="0" err="1"/>
              <a:t>l'éthique</a:t>
            </a:r>
            <a:r>
              <a:rPr lang="en-US" dirty="0"/>
              <a:t> de </a:t>
            </a:r>
            <a:r>
              <a:rPr lang="en-US" dirty="0" err="1"/>
              <a:t>l'IA</a:t>
            </a:r>
            <a:r>
              <a:rPr lang="en-US" dirty="0"/>
              <a:t>, </a:t>
            </a:r>
            <a:r>
              <a:rPr lang="en-US" dirty="0" err="1"/>
              <a:t>l'évolution</a:t>
            </a:r>
            <a:r>
              <a:rPr lang="en-US" dirty="0"/>
              <a:t> des </a:t>
            </a:r>
            <a:r>
              <a:rPr lang="en-US" dirty="0" err="1"/>
              <a:t>réglementations</a:t>
            </a:r>
            <a:r>
              <a:rPr lang="en-US" dirty="0"/>
              <a:t>, les </a:t>
            </a:r>
            <a:r>
              <a:rPr lang="en-US" dirty="0" err="1"/>
              <a:t>attentes</a:t>
            </a:r>
            <a:r>
              <a:rPr lang="en-US" dirty="0"/>
              <a:t> </a:t>
            </a:r>
            <a:r>
              <a:rPr lang="en-US" dirty="0" err="1"/>
              <a:t>toujours</a:t>
            </a:r>
            <a:r>
              <a:rPr lang="en-US" dirty="0"/>
              <a:t> plus fortes des clients, et </a:t>
            </a:r>
            <a:r>
              <a:rPr lang="en-US" dirty="0" err="1"/>
              <a:t>l'avènement</a:t>
            </a:r>
            <a:r>
              <a:rPr lang="en-US" dirty="0"/>
              <a:t> des </a:t>
            </a:r>
            <a:r>
              <a:rPr lang="en-US" dirty="0" err="1"/>
              <a:t>véhicules</a:t>
            </a:r>
            <a:r>
              <a:rPr lang="en-US" dirty="0"/>
              <a:t> </a:t>
            </a:r>
            <a:r>
              <a:rPr lang="en-US" dirty="0" err="1"/>
              <a:t>autonomes</a:t>
            </a:r>
            <a:r>
              <a:rPr lang="en-US" dirty="0"/>
              <a:t> et </a:t>
            </a:r>
            <a:r>
              <a:rPr lang="en-US" dirty="0" err="1"/>
              <a:t>connectés</a:t>
            </a:r>
            <a:r>
              <a:rPr lang="en-US" dirty="0"/>
              <a:t>. Dans </a:t>
            </a:r>
            <a:r>
              <a:rPr lang="en-US" dirty="0" err="1"/>
              <a:t>ce</a:t>
            </a:r>
            <a:r>
              <a:rPr lang="en-US" dirty="0"/>
              <a:t> </a:t>
            </a:r>
            <a:r>
              <a:rPr lang="en-US" dirty="0" err="1"/>
              <a:t>contexte</a:t>
            </a:r>
            <a:r>
              <a:rPr lang="en-US" dirty="0"/>
              <a:t>, le </a:t>
            </a:r>
            <a:r>
              <a:rPr lang="en-US" dirty="0" err="1"/>
              <a:t>rôle</a:t>
            </a:r>
            <a:r>
              <a:rPr lang="en-US" dirty="0"/>
              <a:t> du Data Marketing Manager est plus </a:t>
            </a:r>
            <a:r>
              <a:rPr lang="en-US" dirty="0" err="1"/>
              <a:t>que</a:t>
            </a:r>
            <a:r>
              <a:rPr lang="en-US" dirty="0"/>
              <a:t> jamais </a:t>
            </a:r>
            <a:r>
              <a:rPr lang="en-US" dirty="0" err="1"/>
              <a:t>stratégique</a:t>
            </a:r>
            <a:r>
              <a:rPr lang="en-US" dirty="0"/>
              <a:t> : il doit </a:t>
            </a:r>
            <a:r>
              <a:rPr lang="en-US" dirty="0" err="1"/>
              <a:t>piloter</a:t>
            </a:r>
            <a:r>
              <a:rPr lang="en-US" dirty="0"/>
              <a:t> </a:t>
            </a:r>
            <a:r>
              <a:rPr lang="en-US" dirty="0" err="1"/>
              <a:t>l'innovation</a:t>
            </a:r>
            <a:r>
              <a:rPr lang="en-US" dirty="0"/>
              <a:t>, </a:t>
            </a:r>
            <a:r>
              <a:rPr lang="en-US" dirty="0" err="1"/>
              <a:t>garantir</a:t>
            </a:r>
            <a:r>
              <a:rPr lang="en-US" dirty="0"/>
              <a:t> la </a:t>
            </a:r>
            <a:r>
              <a:rPr lang="en-US" dirty="0" err="1"/>
              <a:t>conformité</a:t>
            </a:r>
            <a:r>
              <a:rPr lang="en-US" dirty="0"/>
              <a:t> et transformer la donnée </a:t>
            </a:r>
            <a:r>
              <a:rPr lang="en-US" dirty="0" err="1"/>
              <a:t>en</a:t>
            </a:r>
            <a:r>
              <a:rPr lang="en-US" dirty="0"/>
              <a:t> </a:t>
            </a:r>
            <a:r>
              <a:rPr lang="en-US" dirty="0" err="1"/>
              <a:t>valeur</a:t>
            </a:r>
            <a:r>
              <a:rPr lang="en-US" dirty="0"/>
              <a:t> pour </a:t>
            </a:r>
            <a:r>
              <a:rPr lang="en-US" dirty="0" err="1"/>
              <a:t>l'entreprise</a:t>
            </a:r>
            <a:r>
              <a:rPr lang="en-US" dirty="0"/>
              <a:t>. Nous </a:t>
            </a:r>
            <a:r>
              <a:rPr lang="en-US" dirty="0" err="1"/>
              <a:t>sommes</a:t>
            </a:r>
            <a:r>
              <a:rPr lang="en-US" dirty="0"/>
              <a:t> </a:t>
            </a:r>
            <a:r>
              <a:rPr lang="en-US" dirty="0" err="1"/>
              <a:t>maintenant</a:t>
            </a:r>
            <a:r>
              <a:rPr lang="en-US" dirty="0"/>
              <a:t> </a:t>
            </a:r>
            <a:r>
              <a:rPr lang="en-US" dirty="0" err="1"/>
              <a:t>prêts</a:t>
            </a:r>
            <a:r>
              <a:rPr lang="en-US" dirty="0"/>
              <a:t> à </a:t>
            </a:r>
            <a:r>
              <a:rPr lang="en-US" dirty="0" err="1"/>
              <a:t>répondre</a:t>
            </a:r>
            <a:r>
              <a:rPr lang="en-US" dirty="0"/>
              <a:t> à </a:t>
            </a:r>
            <a:r>
              <a:rPr lang="en-US" dirty="0" err="1"/>
              <a:t>vos</a:t>
            </a:r>
            <a:r>
              <a:rPr lang="en-US" dirty="0"/>
              <a:t> questions.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vous remercions de votre écoute attentive. Nous espérons que cette présentation vous a apporté un éclairage sur les stratégies data marketing dans l'industrie automobile. Nous sommes maintenant à votre entière disposition pour répondre à toutes vos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ctrTitle"/>
          </p:nvPr>
        </p:nvSpPr>
        <p:spPr>
          <a:xfrm>
            <a:off x="1313259" y="975589"/>
            <a:ext cx="6517482" cy="1881910"/>
          </a:xfrm>
        </p:spPr>
        <p:txBody>
          <a:bodyPr anchor="b">
            <a:normAutofit/>
          </a:bodyPr>
          <a:lstStyle>
            <a:lvl1pPr algn="ctr">
              <a:defRPr sz="3600"/>
            </a:lvl1pPr>
          </a:lstStyle>
          <a:p>
            <a:r>
              <a:rPr lang="fr-FR"/>
              <a:t>Modifiez le style du titre</a:t>
            </a:r>
            <a:endParaRPr lang="en-US" dirty="0"/>
          </a:p>
        </p:txBody>
      </p:sp>
      <p:sp>
        <p:nvSpPr>
          <p:cNvPr id="3" name="Subtitle 2"/>
          <p:cNvSpPr>
            <a:spLocks noGrp="1"/>
          </p:cNvSpPr>
          <p:nvPr>
            <p:ph type="subTitle" idx="1"/>
          </p:nvPr>
        </p:nvSpPr>
        <p:spPr>
          <a:xfrm>
            <a:off x="1313259" y="2914651"/>
            <a:ext cx="6517482" cy="1028699"/>
          </a:xfrm>
        </p:spPr>
        <p:txBody>
          <a:bodyPr>
            <a:normAutofit/>
          </a:bodyPr>
          <a:lstStyle>
            <a:lvl1pPr marL="0" indent="0" algn="ctr">
              <a:buNone/>
              <a:defRPr sz="1650">
                <a:solidFill>
                  <a:schemeClr val="bg1">
                    <a:lumMod val="5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160243832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12" name="Content Placeholder 2"/>
          <p:cNvSpPr>
            <a:spLocks noGrp="1"/>
          </p:cNvSpPr>
          <p:nvPr>
            <p:ph sz="quarter" idx="13"/>
          </p:nvPr>
        </p:nvSpPr>
        <p:spPr>
          <a:xfrm>
            <a:off x="685330" y="1775320"/>
            <a:ext cx="7772870" cy="256808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5/28/2026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213572106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621423"/>
            <a:ext cx="7763814" cy="2052614"/>
          </a:xfrm>
        </p:spPr>
        <p:txBody>
          <a:bodyPr anchor="b">
            <a:normAutofit/>
          </a:bodyPr>
          <a:lstStyle>
            <a:lvl1pPr>
              <a:defRPr sz="3000"/>
            </a:lvl1pPr>
          </a:lstStyle>
          <a:p>
            <a:r>
              <a:rPr lang="fr-FR"/>
              <a:t>Modifiez le style du titre</a:t>
            </a:r>
            <a:endParaRPr lang="en-US" dirty="0"/>
          </a:p>
        </p:txBody>
      </p:sp>
      <p:sp>
        <p:nvSpPr>
          <p:cNvPr id="3" name="Text Placeholder 2"/>
          <p:cNvSpPr>
            <a:spLocks noGrp="1"/>
          </p:cNvSpPr>
          <p:nvPr>
            <p:ph type="body" idx="1"/>
          </p:nvPr>
        </p:nvSpPr>
        <p:spPr>
          <a:xfrm>
            <a:off x="685331" y="2743093"/>
            <a:ext cx="7763814" cy="1026137"/>
          </a:xfrm>
        </p:spPr>
        <p:txBody>
          <a:bodyPr>
            <a:normAutofit/>
          </a:bodyPr>
          <a:lstStyle>
            <a:lvl1pPr marL="0" indent="0" algn="ctr">
              <a:buNone/>
              <a:defRPr sz="1500">
                <a:solidFill>
                  <a:schemeClr val="bg1">
                    <a:lumMod val="5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48A87A34-81AB-432B-8DAE-1953F412C126}" type="datetimeFigureOut">
              <a:rPr lang="en-US" smtClean="0"/>
              <a:t>5/28/2026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410491204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4" name="Title 1"/>
          <p:cNvSpPr>
            <a:spLocks noGrp="1"/>
          </p:cNvSpPr>
          <p:nvPr>
            <p:ph type="title"/>
          </p:nvPr>
        </p:nvSpPr>
        <p:spPr>
          <a:xfrm>
            <a:off x="685332" y="463888"/>
            <a:ext cx="7773338" cy="1197133"/>
          </a:xfrm>
        </p:spPr>
        <p:txBody>
          <a:bodyPr/>
          <a:lstStyle/>
          <a:p>
            <a:r>
              <a:rPr lang="fr-FR"/>
              <a:t>Modifiez le style du titre</a:t>
            </a:r>
            <a:endParaRPr lang="en-US" dirty="0"/>
          </a:p>
        </p:txBody>
      </p:sp>
      <p:sp>
        <p:nvSpPr>
          <p:cNvPr id="12" name="Content Placeholder 2"/>
          <p:cNvSpPr>
            <a:spLocks noGrp="1"/>
          </p:cNvSpPr>
          <p:nvPr>
            <p:ph sz="quarter" idx="13"/>
          </p:nvPr>
        </p:nvSpPr>
        <p:spPr>
          <a:xfrm>
            <a:off x="685330" y="1775320"/>
            <a:ext cx="3829520" cy="256808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3" name="Content Placeholder 3"/>
          <p:cNvSpPr>
            <a:spLocks noGrp="1"/>
          </p:cNvSpPr>
          <p:nvPr>
            <p:ph sz="quarter" idx="14"/>
          </p:nvPr>
        </p:nvSpPr>
        <p:spPr>
          <a:xfrm>
            <a:off x="4629150" y="1775320"/>
            <a:ext cx="3829050" cy="256808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5/28/2026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108876384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4" name="Title 1"/>
          <p:cNvSpPr>
            <a:spLocks noGrp="1"/>
          </p:cNvSpPr>
          <p:nvPr>
            <p:ph type="title"/>
          </p:nvPr>
        </p:nvSpPr>
        <p:spPr>
          <a:xfrm>
            <a:off x="685332" y="463888"/>
            <a:ext cx="7773338" cy="1197133"/>
          </a:xfrm>
        </p:spPr>
        <p:txBody>
          <a:bodyPr/>
          <a:lstStyle/>
          <a:p>
            <a:r>
              <a:rPr lang="fr-FR"/>
              <a:t>Modifiez le style du titre</a:t>
            </a:r>
            <a:endParaRPr lang="en-US" dirty="0"/>
          </a:p>
        </p:txBody>
      </p:sp>
      <p:sp>
        <p:nvSpPr>
          <p:cNvPr id="3" name="Text Placeholder 2"/>
          <p:cNvSpPr>
            <a:spLocks noGrp="1"/>
          </p:cNvSpPr>
          <p:nvPr>
            <p:ph type="body" idx="1"/>
          </p:nvPr>
        </p:nvSpPr>
        <p:spPr>
          <a:xfrm>
            <a:off x="859746" y="1778263"/>
            <a:ext cx="3655106" cy="509996"/>
          </a:xfrm>
        </p:spPr>
        <p:txBody>
          <a:bodyPr anchor="b">
            <a:noAutofit/>
          </a:bodyPr>
          <a:lstStyle>
            <a:lvl1pPr marL="0" indent="0">
              <a:lnSpc>
                <a:spcPct val="85000"/>
              </a:lnSpc>
              <a:buNone/>
              <a:defRPr sz="19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12" name="Content Placeholder 3"/>
          <p:cNvSpPr>
            <a:spLocks noGrp="1"/>
          </p:cNvSpPr>
          <p:nvPr>
            <p:ph sz="quarter" idx="13"/>
          </p:nvPr>
        </p:nvSpPr>
        <p:spPr>
          <a:xfrm>
            <a:off x="685331" y="2288260"/>
            <a:ext cx="3829520" cy="205514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797317" y="1778263"/>
            <a:ext cx="3661353" cy="509996"/>
          </a:xfrm>
        </p:spPr>
        <p:txBody>
          <a:bodyPr anchor="b">
            <a:noAutofit/>
          </a:bodyPr>
          <a:lstStyle>
            <a:lvl1pPr marL="0" indent="0">
              <a:lnSpc>
                <a:spcPct val="85000"/>
              </a:lnSpc>
              <a:buNone/>
              <a:defRPr sz="19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13" name="Content Placeholder 5"/>
          <p:cNvSpPr>
            <a:spLocks noGrp="1"/>
          </p:cNvSpPr>
          <p:nvPr>
            <p:ph sz="quarter" idx="14"/>
          </p:nvPr>
        </p:nvSpPr>
        <p:spPr>
          <a:xfrm>
            <a:off x="4629150" y="2288260"/>
            <a:ext cx="3829051" cy="205514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5/28/2026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346347070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398445140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smtClean="0"/>
              <a:t>5/28/2026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39142987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457200"/>
            <a:ext cx="2951766" cy="1517439"/>
          </a:xfrm>
        </p:spPr>
        <p:txBody>
          <a:bodyPr anchor="b"/>
          <a:lstStyle>
            <a:lvl1pPr algn="ctr">
              <a:defRPr sz="2400"/>
            </a:lvl1pPr>
          </a:lstStyle>
          <a:p>
            <a:r>
              <a:rPr lang="fr-FR"/>
              <a:t>Modifiez le style du titre</a:t>
            </a:r>
            <a:endParaRPr lang="en-US" dirty="0"/>
          </a:p>
        </p:txBody>
      </p:sp>
      <p:sp>
        <p:nvSpPr>
          <p:cNvPr id="10" name="Content Placeholder 2"/>
          <p:cNvSpPr>
            <a:spLocks noGrp="1"/>
          </p:cNvSpPr>
          <p:nvPr>
            <p:ph sz="quarter" idx="13"/>
          </p:nvPr>
        </p:nvSpPr>
        <p:spPr>
          <a:xfrm>
            <a:off x="3808547" y="457201"/>
            <a:ext cx="4650122" cy="388619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85331" y="1974639"/>
            <a:ext cx="2951767" cy="2368761"/>
          </a:xfrm>
        </p:spPr>
        <p:txBody>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smtClean="0"/>
              <a:pPr/>
              <a:t>5/28/2026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285090468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457200"/>
            <a:ext cx="4451227" cy="1517441"/>
          </a:xfrm>
        </p:spPr>
        <p:txBody>
          <a:bodyPr anchor="b"/>
          <a:lstStyle>
            <a:lvl1pPr algn="ctr">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5568602" y="457201"/>
            <a:ext cx="2441519" cy="38862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346" y="1974639"/>
            <a:ext cx="4451212" cy="2368760"/>
          </a:xfrm>
        </p:spPr>
        <p:txBody>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smtClean="0"/>
              <a:t>5/28/2026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a:t>
            </a:fld>
            <a:endParaRPr lang="en-US" dirty="0"/>
          </a:p>
        </p:txBody>
      </p:sp>
    </p:spTree>
    <p:extLst>
      <p:ext uri="{BB962C8B-B14F-4D97-AF65-F5344CB8AC3E}">
        <p14:creationId xmlns:p14="http://schemas.microsoft.com/office/powerpoint/2010/main" val="22407095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46" y="3217030"/>
            <a:ext cx="7773324" cy="608708"/>
          </a:xfrm>
        </p:spPr>
        <p:txBody>
          <a:bodyPr anchor="b"/>
          <a:lstStyle>
            <a:lvl1pPr>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888558" y="523696"/>
            <a:ext cx="7366899" cy="2410602"/>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331" y="3831546"/>
            <a:ext cx="7773339" cy="511854"/>
          </a:xfrm>
        </p:spPr>
        <p:txBody>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smtClean="0"/>
              <a:pPr/>
              <a:t>5/28/2026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283054799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457200"/>
            <a:ext cx="7773339" cy="2570434"/>
          </a:xfrm>
        </p:spPr>
        <p:txBody>
          <a:bodyPr anchor="ctr"/>
          <a:lstStyle>
            <a:lvl1pPr algn="ctr">
              <a:defRPr sz="2400"/>
            </a:lvl1pPr>
          </a:lstStyle>
          <a:p>
            <a:r>
              <a:rPr lang="fr-FR"/>
              <a:t>Modifiez le style du titre</a:t>
            </a:r>
            <a:endParaRPr lang="en-US" dirty="0"/>
          </a:p>
        </p:txBody>
      </p:sp>
      <p:sp>
        <p:nvSpPr>
          <p:cNvPr id="4" name="Text Placeholder 3"/>
          <p:cNvSpPr>
            <a:spLocks noGrp="1"/>
          </p:cNvSpPr>
          <p:nvPr>
            <p:ph type="body" sz="half" idx="2"/>
          </p:nvPr>
        </p:nvSpPr>
        <p:spPr>
          <a:xfrm>
            <a:off x="685331" y="3153616"/>
            <a:ext cx="7773339" cy="1189785"/>
          </a:xfrm>
        </p:spPr>
        <p:txBody>
          <a:bodyPr anchor="ct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smtClean="0"/>
              <a:pPr/>
              <a:t>5/28/2026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7571536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1084659" y="457200"/>
            <a:ext cx="6977064" cy="2244678"/>
          </a:xfrm>
        </p:spPr>
        <p:txBody>
          <a:bodyPr anchor="ctr"/>
          <a:lstStyle>
            <a:lvl1pPr>
              <a:defRPr sz="2400"/>
            </a:lvl1pPr>
          </a:lstStyle>
          <a:p>
            <a:r>
              <a:rPr lang="fr-FR"/>
              <a:t>Modifiez le style du titre</a:t>
            </a:r>
            <a:endParaRPr lang="en-US" dirty="0"/>
          </a:p>
        </p:txBody>
      </p:sp>
      <p:sp>
        <p:nvSpPr>
          <p:cNvPr id="12" name="Text Placeholder 3"/>
          <p:cNvSpPr>
            <a:spLocks noGrp="1"/>
          </p:cNvSpPr>
          <p:nvPr>
            <p:ph type="body" sz="half" idx="13"/>
          </p:nvPr>
        </p:nvSpPr>
        <p:spPr>
          <a:xfrm>
            <a:off x="1290484" y="2707524"/>
            <a:ext cx="6564224" cy="446091"/>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4" name="Text Placeholder 3"/>
          <p:cNvSpPr>
            <a:spLocks noGrp="1"/>
          </p:cNvSpPr>
          <p:nvPr>
            <p:ph type="body" sz="half" idx="2"/>
          </p:nvPr>
        </p:nvSpPr>
        <p:spPr>
          <a:xfrm>
            <a:off x="685331" y="3279597"/>
            <a:ext cx="7773339" cy="1065790"/>
          </a:xfrm>
        </p:spPr>
        <p:txBody>
          <a:bodyPr anchor="ctr">
            <a:normAutofit/>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smtClean="0"/>
              <a:pPr/>
              <a:t>5/28/2026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a:t>
            </a:fld>
            <a:endParaRPr lang="en-US" dirty="0"/>
          </a:p>
        </p:txBody>
      </p:sp>
      <p:sp>
        <p:nvSpPr>
          <p:cNvPr id="13" name="TextBox 12"/>
          <p:cNvSpPr txBox="1"/>
          <p:nvPr/>
        </p:nvSpPr>
        <p:spPr>
          <a:xfrm>
            <a:off x="751116" y="565625"/>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4" name="TextBox 13"/>
          <p:cNvSpPr txBox="1"/>
          <p:nvPr/>
        </p:nvSpPr>
        <p:spPr>
          <a:xfrm>
            <a:off x="7918169" y="2245184"/>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308169621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a:xfrm>
            <a:off x="685331" y="1604041"/>
            <a:ext cx="7773339" cy="1883876"/>
          </a:xfrm>
        </p:spPr>
        <p:txBody>
          <a:bodyPr anchor="b"/>
          <a:lstStyle>
            <a:lvl1pPr algn="ctr">
              <a:defRPr sz="2400"/>
            </a:lvl1pPr>
          </a:lstStyle>
          <a:p>
            <a:r>
              <a:rPr lang="fr-FR"/>
              <a:t>Modifiez le style du titre</a:t>
            </a:r>
            <a:endParaRPr lang="en-US" dirty="0"/>
          </a:p>
        </p:txBody>
      </p:sp>
      <p:sp>
        <p:nvSpPr>
          <p:cNvPr id="4" name="Text Placeholder 3"/>
          <p:cNvSpPr>
            <a:spLocks noGrp="1"/>
          </p:cNvSpPr>
          <p:nvPr>
            <p:ph type="body" sz="half" idx="2"/>
          </p:nvPr>
        </p:nvSpPr>
        <p:spPr>
          <a:xfrm>
            <a:off x="685331" y="3496751"/>
            <a:ext cx="7773339" cy="855483"/>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smtClean="0"/>
              <a:pPr/>
              <a:t>5/28/2026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222067033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5" name="Title 1"/>
          <p:cNvSpPr>
            <a:spLocks noGrp="1"/>
          </p:cNvSpPr>
          <p:nvPr>
            <p:ph type="title"/>
          </p:nvPr>
        </p:nvSpPr>
        <p:spPr>
          <a:xfrm>
            <a:off x="685331" y="457200"/>
            <a:ext cx="7773339" cy="1203821"/>
          </a:xfrm>
        </p:spPr>
        <p:txBody>
          <a:bodyPr/>
          <a:lstStyle/>
          <a:p>
            <a:r>
              <a:rPr lang="fr-FR"/>
              <a:t>Modifiez le style du titre</a:t>
            </a:r>
            <a:endParaRPr lang="en-US" dirty="0"/>
          </a:p>
        </p:txBody>
      </p:sp>
      <p:sp>
        <p:nvSpPr>
          <p:cNvPr id="7" name="Text Placeholder 2"/>
          <p:cNvSpPr>
            <a:spLocks noGrp="1"/>
          </p:cNvSpPr>
          <p:nvPr>
            <p:ph type="body" idx="1"/>
          </p:nvPr>
        </p:nvSpPr>
        <p:spPr>
          <a:xfrm>
            <a:off x="685331" y="1775320"/>
            <a:ext cx="2474232" cy="432197"/>
          </a:xfrm>
        </p:spPr>
        <p:txBody>
          <a:bodyPr anchor="b">
            <a:noAutofit/>
          </a:bodyPr>
          <a:lstStyle>
            <a:lvl1pPr marL="0" indent="0" algn="ctr">
              <a:lnSpc>
                <a:spcPct val="85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8" name="Text Placeholder 3"/>
          <p:cNvSpPr>
            <a:spLocks noGrp="1"/>
          </p:cNvSpPr>
          <p:nvPr>
            <p:ph type="body" sz="half" idx="15"/>
          </p:nvPr>
        </p:nvSpPr>
        <p:spPr>
          <a:xfrm>
            <a:off x="685331" y="2207517"/>
            <a:ext cx="2474232" cy="2135884"/>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9" name="Text Placeholder 4"/>
          <p:cNvSpPr>
            <a:spLocks noGrp="1"/>
          </p:cNvSpPr>
          <p:nvPr>
            <p:ph type="body" sz="quarter" idx="3"/>
          </p:nvPr>
        </p:nvSpPr>
        <p:spPr>
          <a:xfrm>
            <a:off x="3339292" y="1775320"/>
            <a:ext cx="2468641" cy="432197"/>
          </a:xfrm>
        </p:spPr>
        <p:txBody>
          <a:bodyPr anchor="b">
            <a:noAutofit/>
          </a:bodyPr>
          <a:lstStyle>
            <a:lvl1pPr marL="0" indent="0" algn="ctr">
              <a:lnSpc>
                <a:spcPct val="85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10" name="Text Placeholder 3"/>
          <p:cNvSpPr>
            <a:spLocks noGrp="1"/>
          </p:cNvSpPr>
          <p:nvPr>
            <p:ph type="body" sz="half" idx="16"/>
          </p:nvPr>
        </p:nvSpPr>
        <p:spPr>
          <a:xfrm>
            <a:off x="3331012" y="2207517"/>
            <a:ext cx="2477513" cy="2135884"/>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11" name="Text Placeholder 4"/>
          <p:cNvSpPr>
            <a:spLocks noGrp="1"/>
          </p:cNvSpPr>
          <p:nvPr>
            <p:ph type="body" sz="quarter" idx="13"/>
          </p:nvPr>
        </p:nvSpPr>
        <p:spPr>
          <a:xfrm>
            <a:off x="5979974" y="1775320"/>
            <a:ext cx="2478696" cy="432197"/>
          </a:xfrm>
        </p:spPr>
        <p:txBody>
          <a:bodyPr anchor="b">
            <a:noAutofit/>
          </a:bodyPr>
          <a:lstStyle>
            <a:lvl1pPr marL="0" indent="0" algn="ctr">
              <a:lnSpc>
                <a:spcPct val="85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12" name="Text Placeholder 3"/>
          <p:cNvSpPr>
            <a:spLocks noGrp="1"/>
          </p:cNvSpPr>
          <p:nvPr>
            <p:ph type="body" sz="half" idx="17"/>
          </p:nvPr>
        </p:nvSpPr>
        <p:spPr>
          <a:xfrm>
            <a:off x="5979974" y="2207517"/>
            <a:ext cx="2478696" cy="2135884"/>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48A87A34-81AB-432B-8DAE-1953F412C126}" type="datetimeFigureOut">
              <a:rPr lang="en-US" smtClean="0"/>
              <a:pPr/>
              <a:t>5/28/2026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12067371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0" name="Title 1"/>
          <p:cNvSpPr>
            <a:spLocks noGrp="1"/>
          </p:cNvSpPr>
          <p:nvPr>
            <p:ph type="title"/>
          </p:nvPr>
        </p:nvSpPr>
        <p:spPr>
          <a:xfrm>
            <a:off x="685331" y="458079"/>
            <a:ext cx="7773339" cy="1202942"/>
          </a:xfrm>
        </p:spPr>
        <p:txBody>
          <a:bodyPr/>
          <a:lstStyle/>
          <a:p>
            <a:r>
              <a:rPr lang="fr-FR"/>
              <a:t>Modifiez le style du titre</a:t>
            </a:r>
            <a:endParaRPr lang="en-US" dirty="0"/>
          </a:p>
        </p:txBody>
      </p:sp>
      <p:sp>
        <p:nvSpPr>
          <p:cNvPr id="19" name="Text Placeholder 2"/>
          <p:cNvSpPr>
            <a:spLocks noGrp="1"/>
          </p:cNvSpPr>
          <p:nvPr>
            <p:ph type="body" idx="1"/>
          </p:nvPr>
        </p:nvSpPr>
        <p:spPr>
          <a:xfrm>
            <a:off x="685331" y="3153615"/>
            <a:ext cx="2472307" cy="432197"/>
          </a:xfrm>
        </p:spPr>
        <p:txBody>
          <a:bodyPr anchor="b">
            <a:noAutofit/>
          </a:bodyPr>
          <a:lstStyle>
            <a:lvl1pPr marL="0" indent="0" algn="ctr">
              <a:lnSpc>
                <a:spcPct val="85000"/>
              </a:lnSpc>
              <a:buNone/>
              <a:defRPr sz="16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685331" y="1775320"/>
            <a:ext cx="2472307" cy="1143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fr-FR"/>
              <a:t>Cliquez sur l'icône pour ajouter une image</a:t>
            </a:r>
            <a:endParaRPr lang="en-US" dirty="0"/>
          </a:p>
        </p:txBody>
      </p:sp>
      <p:sp>
        <p:nvSpPr>
          <p:cNvPr id="21" name="Text Placeholder 3"/>
          <p:cNvSpPr>
            <a:spLocks noGrp="1"/>
          </p:cNvSpPr>
          <p:nvPr>
            <p:ph type="body" sz="half" idx="18"/>
          </p:nvPr>
        </p:nvSpPr>
        <p:spPr>
          <a:xfrm>
            <a:off x="685331" y="3585811"/>
            <a:ext cx="2472307" cy="757589"/>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22" name="Text Placeholder 4"/>
          <p:cNvSpPr>
            <a:spLocks noGrp="1"/>
          </p:cNvSpPr>
          <p:nvPr>
            <p:ph type="body" sz="quarter" idx="3"/>
          </p:nvPr>
        </p:nvSpPr>
        <p:spPr>
          <a:xfrm>
            <a:off x="3332069" y="3153615"/>
            <a:ext cx="2476371" cy="432197"/>
          </a:xfrm>
        </p:spPr>
        <p:txBody>
          <a:bodyPr anchor="b">
            <a:noAutofit/>
          </a:bodyPr>
          <a:lstStyle>
            <a:lvl1pPr marL="0" indent="0" algn="ctr">
              <a:lnSpc>
                <a:spcPct val="85000"/>
              </a:lnSpc>
              <a:buNone/>
              <a:defRPr sz="16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3331011" y="1775320"/>
            <a:ext cx="2477514" cy="1143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fr-FR"/>
              <a:t>Cliquez sur l'icône pour ajouter une image</a:t>
            </a:r>
            <a:endParaRPr lang="en-US" dirty="0"/>
          </a:p>
        </p:txBody>
      </p:sp>
      <p:sp>
        <p:nvSpPr>
          <p:cNvPr id="24" name="Text Placeholder 3"/>
          <p:cNvSpPr>
            <a:spLocks noGrp="1"/>
          </p:cNvSpPr>
          <p:nvPr>
            <p:ph type="body" sz="half" idx="19"/>
          </p:nvPr>
        </p:nvSpPr>
        <p:spPr>
          <a:xfrm>
            <a:off x="3331011" y="3585811"/>
            <a:ext cx="2477514" cy="757589"/>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25" name="Text Placeholder 4"/>
          <p:cNvSpPr>
            <a:spLocks noGrp="1"/>
          </p:cNvSpPr>
          <p:nvPr>
            <p:ph type="body" sz="quarter" idx="13"/>
          </p:nvPr>
        </p:nvSpPr>
        <p:spPr>
          <a:xfrm>
            <a:off x="5979974" y="3153615"/>
            <a:ext cx="2475511" cy="432197"/>
          </a:xfrm>
        </p:spPr>
        <p:txBody>
          <a:bodyPr anchor="b">
            <a:noAutofit/>
          </a:bodyPr>
          <a:lstStyle>
            <a:lvl1pPr marL="0" indent="0" algn="ctr">
              <a:lnSpc>
                <a:spcPct val="85000"/>
              </a:lnSpc>
              <a:buNone/>
              <a:defRPr sz="165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5979974" y="1775320"/>
            <a:ext cx="2478696" cy="1143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fr-FR"/>
              <a:t>Cliquez sur l'icône pour ajouter une image</a:t>
            </a:r>
            <a:endParaRPr lang="en-US" dirty="0"/>
          </a:p>
        </p:txBody>
      </p:sp>
      <p:sp>
        <p:nvSpPr>
          <p:cNvPr id="27" name="Text Placeholder 3"/>
          <p:cNvSpPr>
            <a:spLocks noGrp="1"/>
          </p:cNvSpPr>
          <p:nvPr>
            <p:ph type="body" sz="half" idx="20"/>
          </p:nvPr>
        </p:nvSpPr>
        <p:spPr>
          <a:xfrm>
            <a:off x="5979880" y="3585809"/>
            <a:ext cx="2478790" cy="757591"/>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48A87A34-81AB-432B-8DAE-1953F412C126}" type="datetimeFigureOut">
              <a:rPr lang="en-US" smtClean="0"/>
              <a:pPr/>
              <a:t>5/28/2026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21971224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11" name="Vertical Text Placeholder 2"/>
          <p:cNvSpPr>
            <a:spLocks noGrp="1"/>
          </p:cNvSpPr>
          <p:nvPr>
            <p:ph type="body" orient="vert" sz="quarter" idx="13"/>
          </p:nvPr>
        </p:nvSpPr>
        <p:spPr>
          <a:xfrm>
            <a:off x="685331" y="1775320"/>
            <a:ext cx="7773339" cy="256808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5/28/2026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83313250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2" name="Vertical Title 1"/>
          <p:cNvSpPr>
            <a:spLocks noGrp="1"/>
          </p:cNvSpPr>
          <p:nvPr>
            <p:ph type="title" orient="vert"/>
          </p:nvPr>
        </p:nvSpPr>
        <p:spPr>
          <a:xfrm>
            <a:off x="6543675" y="457201"/>
            <a:ext cx="1914995" cy="3886199"/>
          </a:xfrm>
        </p:spPr>
        <p:txBody>
          <a:bodyPr vert="eaVert"/>
          <a:lstStyle>
            <a:lvl1pPr algn="l">
              <a:defRPr/>
            </a:lvl1pPr>
          </a:lstStyle>
          <a:p>
            <a:r>
              <a:rPr lang="fr-FR"/>
              <a:t>Modifiez le style du titre</a:t>
            </a:r>
            <a:endParaRPr lang="en-US" dirty="0"/>
          </a:p>
        </p:txBody>
      </p:sp>
      <p:sp>
        <p:nvSpPr>
          <p:cNvPr id="8" name="Vertical Text Placeholder 2"/>
          <p:cNvSpPr>
            <a:spLocks noGrp="1"/>
          </p:cNvSpPr>
          <p:nvPr>
            <p:ph type="body" orient="vert" sz="quarter" idx="13"/>
          </p:nvPr>
        </p:nvSpPr>
        <p:spPr>
          <a:xfrm>
            <a:off x="685331" y="457201"/>
            <a:ext cx="5744043" cy="3886199"/>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5/28/2026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2111658936"/>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8469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1" y="-1"/>
            <a:ext cx="9144002" cy="51435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463888"/>
            <a:ext cx="7773338" cy="119713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5331" y="1775320"/>
            <a:ext cx="7773339" cy="256808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5759053" y="4412457"/>
            <a:ext cx="2057400" cy="273844"/>
          </a:xfrm>
          <a:prstGeom prst="rect">
            <a:avLst/>
          </a:prstGeom>
        </p:spPr>
        <p:txBody>
          <a:bodyPr vert="horz" lIns="91440" tIns="45720" rIns="91440" bIns="45720" rtlCol="0" anchor="ctr"/>
          <a:lstStyle>
            <a:lvl1pPr algn="r">
              <a:defRPr sz="750">
                <a:solidFill>
                  <a:schemeClr val="tx1"/>
                </a:solidFill>
              </a:defRPr>
            </a:lvl1pPr>
          </a:lstStyle>
          <a:p>
            <a:fld id="{48A87A34-81AB-432B-8DAE-1953F412C126}" type="datetimeFigureOut">
              <a:rPr lang="en-US" smtClean="0"/>
              <a:pPr/>
              <a:t>5/28/2026</a:t>
            </a:fld>
            <a:endParaRPr lang="en-US" dirty="0"/>
          </a:p>
        </p:txBody>
      </p:sp>
      <p:sp>
        <p:nvSpPr>
          <p:cNvPr id="5" name="Footer Placeholder 4"/>
          <p:cNvSpPr>
            <a:spLocks noGrp="1"/>
          </p:cNvSpPr>
          <p:nvPr>
            <p:ph type="ftr" sz="quarter" idx="3"/>
          </p:nvPr>
        </p:nvSpPr>
        <p:spPr>
          <a:xfrm>
            <a:off x="685331" y="4412457"/>
            <a:ext cx="5004665" cy="273844"/>
          </a:xfrm>
          <a:prstGeom prst="rect">
            <a:avLst/>
          </a:prstGeom>
        </p:spPr>
        <p:txBody>
          <a:bodyPr vert="horz" lIns="91440" tIns="45720" rIns="91440" bIns="45720" rtlCol="0" anchor="ctr"/>
          <a:lstStyle>
            <a:lvl1pPr algn="l">
              <a:defRPr sz="750">
                <a:solidFill>
                  <a:schemeClr val="tx1"/>
                </a:solidFill>
              </a:defRPr>
            </a:lvl1pPr>
          </a:lstStyle>
          <a:p>
            <a:endParaRPr lang="en-US" dirty="0"/>
          </a:p>
        </p:txBody>
      </p:sp>
      <p:sp>
        <p:nvSpPr>
          <p:cNvPr id="6" name="Slide Number Placeholder 5"/>
          <p:cNvSpPr>
            <a:spLocks noGrp="1"/>
          </p:cNvSpPr>
          <p:nvPr>
            <p:ph type="sldNum" sz="quarter" idx="4"/>
          </p:nvPr>
        </p:nvSpPr>
        <p:spPr>
          <a:xfrm>
            <a:off x="7885509" y="4412457"/>
            <a:ext cx="573161" cy="273844"/>
          </a:xfrm>
          <a:prstGeom prst="rect">
            <a:avLst/>
          </a:prstGeom>
        </p:spPr>
        <p:txBody>
          <a:bodyPr vert="horz" lIns="91440" tIns="45720" rIns="91440" bIns="45720" rtlCol="0" anchor="ctr"/>
          <a:lstStyle>
            <a:lvl1pPr algn="r">
              <a:defRPr sz="750">
                <a:solidFill>
                  <a:schemeClr val="tx1"/>
                </a:solidFill>
              </a:defRPr>
            </a:lvl1pPr>
          </a:lstStyle>
          <a:p>
            <a:fld id="{6D22F896-40B5-4ADD-8801-0D06FADFA095}" type="slidenum">
              <a:rPr lang="en-US" smtClean="0"/>
              <a:pPr/>
              <a:t>‹N°›</a:t>
            </a:fld>
            <a:endParaRPr lang="en-US" dirty="0"/>
          </a:p>
        </p:txBody>
      </p:sp>
    </p:spTree>
    <p:extLst>
      <p:ext uri="{BB962C8B-B14F-4D97-AF65-F5344CB8AC3E}">
        <p14:creationId xmlns:p14="http://schemas.microsoft.com/office/powerpoint/2010/main" val="3436443795"/>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Lst>
  <p:hf sldNum="0" hdr="0" ftr="0" dt="0"/>
  <p:txStyles>
    <p:titleStyle>
      <a:lvl1pPr algn="ctr" defTabSz="685800" rtl="0" eaLnBrk="1" latinLnBrk="0" hangingPunct="1">
        <a:lnSpc>
          <a:spcPct val="90000"/>
        </a:lnSpc>
        <a:spcBef>
          <a:spcPct val="0"/>
        </a:spcBef>
        <a:buNone/>
        <a:defRPr sz="2700" kern="1200" cap="all" baseline="0">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tx1"/>
        </a:buClr>
        <a:buFont typeface="Arial" panose="020B0604020202020204" pitchFamily="34" charset="0"/>
        <a:buChar char="•"/>
        <a:defRPr sz="1500" kern="1200" cap="all" baseline="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tx1"/>
        </a:buClr>
        <a:buFont typeface="Arial" panose="020B0604020202020204" pitchFamily="34" charset="0"/>
        <a:buChar char="•"/>
        <a:defRPr sz="1350" kern="1200" cap="all"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tx1"/>
        </a:buClr>
        <a:buFont typeface="Arial" panose="020B0604020202020204" pitchFamily="34" charset="0"/>
        <a:buChar char="•"/>
        <a:defRPr sz="1200" kern="1200" cap="all" baseline="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tx1"/>
        </a:buClr>
        <a:buFont typeface="Arial" panose="020B0604020202020204" pitchFamily="34" charset="0"/>
        <a:buChar char="•"/>
        <a:defRPr sz="1050" kern="1200" cap="all"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image" Target="../media/image31.png"/><Relationship Id="rId11" Type="http://schemas.microsoft.com/office/2007/relationships/hdphoto" Target="../media/hdphoto1.wdp"/><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0"/>
          <p:cNvSpPr/>
          <p:nvPr/>
        </p:nvSpPr>
        <p:spPr>
          <a:xfrm>
            <a:off x="-7009" y="696306"/>
            <a:ext cx="9144000" cy="1445011"/>
          </a:xfrm>
          <a:prstGeom prst="rect">
            <a:avLst/>
          </a:prstGeom>
          <a:noFill/>
          <a:ln/>
        </p:spPr>
        <p:txBody>
          <a:bodyPr wrap="square" lIns="0" tIns="425196" rIns="0" bIns="0" rtlCol="0" anchor="t">
            <a:spAutoFit/>
          </a:bodyPr>
          <a:lstStyle/>
          <a:p>
            <a:pPr marL="0" indent="0" algn="ctr">
              <a:buNone/>
            </a:pPr>
            <a:r>
              <a:rPr lang="en-US" sz="3300" b="1" dirty="0" err="1">
                <a:solidFill>
                  <a:srgbClr val="002060"/>
                </a:solidFill>
                <a:latin typeface="Arial" panose="020B0604020202020204" pitchFamily="34" charset="0"/>
                <a:ea typeface="Space Grotesk Bold" pitchFamily="34" charset="-122"/>
                <a:cs typeface="Arial" panose="020B0604020202020204" pitchFamily="34" charset="0"/>
              </a:rPr>
              <a:t>Analyse</a:t>
            </a:r>
            <a:r>
              <a:rPr lang="en-US" sz="3300" b="1" dirty="0">
                <a:solidFill>
                  <a:srgbClr val="002060"/>
                </a:solidFill>
                <a:latin typeface="Arial" panose="020B0604020202020204" pitchFamily="34" charset="0"/>
                <a:ea typeface="Space Grotesk Bold" pitchFamily="34" charset="-122"/>
                <a:cs typeface="Arial" panose="020B0604020202020204" pitchFamily="34" charset="0"/>
              </a:rPr>
              <a:t> Comparative Data-Driven </a:t>
            </a:r>
          </a:p>
          <a:p>
            <a:pPr marL="0" indent="0" algn="ctr">
              <a:buNone/>
            </a:pPr>
            <a:r>
              <a:rPr lang="en-US" sz="3300" b="1" dirty="0">
                <a:solidFill>
                  <a:srgbClr val="002060"/>
                </a:solidFill>
                <a:latin typeface="Arial" panose="020B0604020202020204" pitchFamily="34" charset="0"/>
                <a:ea typeface="Space Grotesk Bold" pitchFamily="34" charset="-122"/>
                <a:cs typeface="Arial" panose="020B0604020202020204" pitchFamily="34" charset="0"/>
              </a:rPr>
              <a:t>Renault vs. BMW</a:t>
            </a:r>
            <a:endParaRPr lang="en-US" sz="3300" dirty="0">
              <a:latin typeface="Arial" panose="020B0604020202020204" pitchFamily="34" charset="0"/>
              <a:cs typeface="Arial" panose="020B0604020202020204" pitchFamily="34" charset="0"/>
            </a:endParaRPr>
          </a:p>
        </p:txBody>
      </p:sp>
      <p:sp>
        <p:nvSpPr>
          <p:cNvPr id="5" name="Text 1"/>
          <p:cNvSpPr/>
          <p:nvPr/>
        </p:nvSpPr>
        <p:spPr>
          <a:xfrm>
            <a:off x="795770" y="2762307"/>
            <a:ext cx="7538442" cy="246221"/>
          </a:xfrm>
          <a:prstGeom prst="rect">
            <a:avLst/>
          </a:prstGeom>
          <a:noFill/>
          <a:ln/>
        </p:spPr>
        <p:txBody>
          <a:bodyPr wrap="square" lIns="0" tIns="0" rIns="0" bIns="0" rtlCol="0" anchor="t">
            <a:spAutoFit/>
          </a:bodyPr>
          <a:lstStyle/>
          <a:p>
            <a:pPr marL="0" indent="0" algn="ctr">
              <a:buNone/>
            </a:pPr>
            <a:r>
              <a:rPr lang="en-US" sz="1600" b="1" dirty="0">
                <a:solidFill>
                  <a:srgbClr val="0070C0"/>
                </a:solidFill>
                <a:latin typeface="Arial" panose="020B0604020202020204" pitchFamily="34" charset="0"/>
                <a:ea typeface="Inter Bold" pitchFamily="34" charset="-122"/>
                <a:cs typeface="Arial" panose="020B0604020202020204" pitchFamily="34" charset="0"/>
              </a:rPr>
              <a:t>Optimisation du Parcours Client Digital et Stratégies Data Marketing</a:t>
            </a:r>
            <a:endParaRPr lang="en-US" sz="1600" dirty="0">
              <a:latin typeface="Arial" panose="020B0604020202020204" pitchFamily="34" charset="0"/>
              <a:cs typeface="Arial" panose="020B0604020202020204" pitchFamily="34" charset="0"/>
            </a:endParaRPr>
          </a:p>
        </p:txBody>
      </p:sp>
      <p:sp>
        <p:nvSpPr>
          <p:cNvPr id="6" name="Text 2"/>
          <p:cNvSpPr/>
          <p:nvPr/>
        </p:nvSpPr>
        <p:spPr>
          <a:xfrm>
            <a:off x="2073201" y="4148195"/>
            <a:ext cx="4983581" cy="161583"/>
          </a:xfrm>
          <a:prstGeom prst="rect">
            <a:avLst/>
          </a:prstGeom>
          <a:noFill/>
          <a:ln/>
        </p:spPr>
        <p:txBody>
          <a:bodyPr wrap="square" lIns="0" tIns="0" rIns="0" bIns="0" rtlCol="0" anchor="t">
            <a:spAutoFit/>
          </a:bodyPr>
          <a:lstStyle/>
          <a:p>
            <a:pPr algn="ctr"/>
            <a:r>
              <a:rPr lang="en-US" sz="1000" b="1" dirty="0">
                <a:solidFill>
                  <a:srgbClr val="333333"/>
                </a:solidFill>
                <a:latin typeface="Arial" panose="020B0604020202020204" pitchFamily="34" charset="0"/>
                <a:ea typeface="Inter Bold" pitchFamily="34" charset="-122"/>
                <a:cs typeface="Arial" panose="020B0604020202020204" pitchFamily="34" charset="0"/>
              </a:rPr>
              <a:t>Auteurs :</a:t>
            </a:r>
            <a:r>
              <a:rPr lang="en-US" sz="1050" dirty="0">
                <a:solidFill>
                  <a:srgbClr val="333333"/>
                </a:solidFill>
                <a:latin typeface="Arial" panose="020B0604020202020204" pitchFamily="34" charset="0"/>
                <a:ea typeface="Inter" pitchFamily="34" charset="-122"/>
                <a:cs typeface="Arial" panose="020B0604020202020204" pitchFamily="34" charset="0"/>
              </a:rPr>
              <a:t>  Ines </a:t>
            </a:r>
            <a:r>
              <a:rPr lang="en-US" sz="1050" dirty="0" err="1">
                <a:solidFill>
                  <a:srgbClr val="333333"/>
                </a:solidFill>
                <a:latin typeface="Arial" panose="020B0604020202020204" pitchFamily="34" charset="0"/>
                <a:ea typeface="Inter" pitchFamily="34" charset="-122"/>
                <a:cs typeface="Arial" panose="020B0604020202020204" pitchFamily="34" charset="0"/>
              </a:rPr>
              <a:t>Dammak</a:t>
            </a:r>
            <a:r>
              <a:rPr lang="en-US" sz="1050" dirty="0">
                <a:solidFill>
                  <a:srgbClr val="333333"/>
                </a:solidFill>
                <a:latin typeface="Arial" panose="020B0604020202020204" pitchFamily="34" charset="0"/>
                <a:ea typeface="Inter" pitchFamily="34" charset="-122"/>
                <a:cs typeface="Arial" panose="020B0604020202020204" pitchFamily="34" charset="0"/>
              </a:rPr>
              <a:t> | Manel </a:t>
            </a:r>
            <a:r>
              <a:rPr lang="en-US" sz="1050" dirty="0" err="1">
                <a:solidFill>
                  <a:srgbClr val="333333"/>
                </a:solidFill>
                <a:latin typeface="Arial" panose="020B0604020202020204" pitchFamily="34" charset="0"/>
                <a:ea typeface="Inter" pitchFamily="34" charset="-122"/>
                <a:cs typeface="Arial" panose="020B0604020202020204" pitchFamily="34" charset="0"/>
              </a:rPr>
              <a:t>Frikha</a:t>
            </a:r>
            <a:r>
              <a:rPr lang="en-US" sz="1050" dirty="0">
                <a:solidFill>
                  <a:srgbClr val="333333"/>
                </a:solidFill>
                <a:latin typeface="Arial" panose="020B0604020202020204" pitchFamily="34" charset="0"/>
                <a:ea typeface="Inter" pitchFamily="34" charset="-122"/>
                <a:cs typeface="Arial" panose="020B0604020202020204" pitchFamily="34" charset="0"/>
              </a:rPr>
              <a:t> | Yen Hai Nguyen | </a:t>
            </a:r>
            <a:r>
              <a:rPr lang="en-US" sz="1050" dirty="0" err="1">
                <a:solidFill>
                  <a:srgbClr val="333333"/>
                </a:solidFill>
                <a:latin typeface="Arial" panose="020B0604020202020204" pitchFamily="34" charset="0"/>
                <a:ea typeface="Inter" pitchFamily="34" charset="-122"/>
                <a:cs typeface="Arial" panose="020B0604020202020204" pitchFamily="34" charset="0"/>
              </a:rPr>
              <a:t>Milade</a:t>
            </a:r>
            <a:r>
              <a:rPr lang="en-US" sz="1050" dirty="0">
                <a:solidFill>
                  <a:srgbClr val="333333"/>
                </a:solidFill>
                <a:latin typeface="Arial" panose="020B0604020202020204" pitchFamily="34" charset="0"/>
                <a:ea typeface="Inter" pitchFamily="34" charset="-122"/>
                <a:cs typeface="Arial" panose="020B0604020202020204" pitchFamily="34" charset="0"/>
              </a:rPr>
              <a:t> </a:t>
            </a:r>
            <a:r>
              <a:rPr lang="en-US" sz="1050" dirty="0" err="1">
                <a:solidFill>
                  <a:srgbClr val="333333"/>
                </a:solidFill>
                <a:latin typeface="Arial" panose="020B0604020202020204" pitchFamily="34" charset="0"/>
                <a:ea typeface="Inter" pitchFamily="34" charset="-122"/>
                <a:cs typeface="Arial" panose="020B0604020202020204" pitchFamily="34" charset="0"/>
              </a:rPr>
              <a:t>Lammari</a:t>
            </a:r>
            <a:endParaRPr lang="en-US" sz="850" dirty="0">
              <a:solidFill>
                <a:srgbClr val="333333"/>
              </a:solidFill>
              <a:latin typeface="Inter" pitchFamily="34" charset="0"/>
              <a:ea typeface="Inter" pitchFamily="34" charset="-122"/>
            </a:endParaRPr>
          </a:p>
        </p:txBody>
      </p:sp>
      <p:sp>
        <p:nvSpPr>
          <p:cNvPr id="7" name="Text 3"/>
          <p:cNvSpPr/>
          <p:nvPr/>
        </p:nvSpPr>
        <p:spPr>
          <a:xfrm>
            <a:off x="1685925" y="4848034"/>
            <a:ext cx="5772150" cy="590931"/>
          </a:xfrm>
          <a:prstGeom prst="rect">
            <a:avLst/>
          </a:prstGeom>
          <a:noFill/>
          <a:ln/>
        </p:spPr>
        <p:txBody>
          <a:bodyPr wrap="square" lIns="0" tIns="0" rIns="0" bIns="425196" rtlCol="0" anchor="t">
            <a:spAutoFit/>
          </a:bodyPr>
          <a:lstStyle/>
          <a:p>
            <a:pPr marL="0" indent="0" algn="ctr">
              <a:buNone/>
            </a:pPr>
            <a:r>
              <a:rPr lang="fr-FR" sz="1050" noProof="0" dirty="0">
                <a:solidFill>
                  <a:srgbClr val="333333"/>
                </a:solidFill>
                <a:latin typeface="Arial" panose="020B0604020202020204" pitchFamily="34" charset="0"/>
                <a:ea typeface="Inter" pitchFamily="34" charset="-122"/>
                <a:cs typeface="Arial" panose="020B0604020202020204" pitchFamily="34" charset="0"/>
              </a:rPr>
              <a:t>M2 Data Analytics - Manager en Data Marketing – Comportement e-consommateur</a:t>
            </a:r>
            <a:endParaRPr lang="fr-FR" sz="1000" noProof="0" dirty="0">
              <a:latin typeface="Arial" panose="020B0604020202020204" pitchFamily="34" charset="0"/>
              <a:cs typeface="Arial" panose="020B0604020202020204" pitchFamily="34" charset="0"/>
            </a:endParaRPr>
          </a:p>
        </p:txBody>
      </p:sp>
      <p:pic>
        <p:nvPicPr>
          <p:cNvPr id="1026" name="Picture 2">
            <a:extLst>
              <a:ext uri="{FF2B5EF4-FFF2-40B4-BE49-F238E27FC236}">
                <a16:creationId xmlns:a16="http://schemas.microsoft.com/office/drawing/2014/main" id="{CB1D8F18-CD4F-6C29-7EFF-ECAE3FDE0A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8074" y="75316"/>
            <a:ext cx="1565609" cy="3682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A7B44FE6-33FE-6362-2901-8684BF3B2EA6}"/>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983308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0"/>
          <p:cNvSpPr/>
          <p:nvPr/>
        </p:nvSpPr>
        <p:spPr>
          <a:xfrm>
            <a:off x="26712" y="143460"/>
            <a:ext cx="1542545" cy="246221"/>
          </a:xfrm>
          <a:prstGeom prst="rect">
            <a:avLst/>
          </a:prstGeom>
          <a:noFill/>
          <a:ln/>
        </p:spPr>
        <p:txBody>
          <a:bodyPr wrap="square" lIns="0" tIns="0" rIns="0" bIns="0" rtlCol="0" anchor="t">
            <a:spAutoFit/>
          </a:bodyPr>
          <a:lstStyle/>
          <a:p>
            <a:pPr marL="0" indent="0" algn="ctr">
              <a:buNone/>
            </a:pPr>
            <a:r>
              <a:rPr lang="fr-FR" sz="1600" b="1" noProof="0" dirty="0">
                <a:solidFill>
                  <a:srgbClr val="002060"/>
                </a:solidFill>
                <a:latin typeface="Arial" panose="020B0604020202020204" pitchFamily="34" charset="0"/>
                <a:ea typeface="Space Grotesk Bold" pitchFamily="34" charset="-122"/>
                <a:cs typeface="Arial" panose="020B0604020202020204" pitchFamily="34" charset="0"/>
              </a:rPr>
              <a:t>1. Contexte </a:t>
            </a:r>
            <a:endParaRPr lang="fr-FR" sz="1600" noProof="0" dirty="0">
              <a:latin typeface="Arial" panose="020B0604020202020204" pitchFamily="34" charset="0"/>
              <a:cs typeface="Arial" panose="020B0604020202020204" pitchFamily="34" charset="0"/>
            </a:endParaRPr>
          </a:p>
        </p:txBody>
      </p:sp>
      <p:pic>
        <p:nvPicPr>
          <p:cNvPr id="5" name="Image 1" descr="preencoded.png"/>
          <p:cNvPicPr>
            <a:picLocks noChangeAspect="1"/>
          </p:cNvPicPr>
          <p:nvPr/>
        </p:nvPicPr>
        <p:blipFill>
          <a:blip r:embed="rId3"/>
          <a:stretch>
            <a:fillRect/>
          </a:stretch>
        </p:blipFill>
        <p:spPr>
          <a:xfrm>
            <a:off x="814388" y="583924"/>
            <a:ext cx="7063868" cy="3975651"/>
          </a:xfrm>
          <a:prstGeom prst="rect">
            <a:avLst/>
          </a:prstGeom>
        </p:spPr>
      </p:pic>
      <p:sp>
        <p:nvSpPr>
          <p:cNvPr id="6" name="Text 1"/>
          <p:cNvSpPr/>
          <p:nvPr/>
        </p:nvSpPr>
        <p:spPr>
          <a:xfrm>
            <a:off x="757238" y="4696704"/>
            <a:ext cx="7858125" cy="170303"/>
          </a:xfrm>
          <a:prstGeom prst="rect">
            <a:avLst/>
          </a:prstGeom>
          <a:noFill/>
          <a:ln/>
        </p:spPr>
        <p:txBody>
          <a:bodyPr wrap="square" lIns="255143" tIns="0" rIns="0" bIns="0" rtlCol="0" anchor="t">
            <a:spAutoFit/>
          </a:bodyPr>
          <a:lstStyle/>
          <a:p>
            <a:pPr marL="0" indent="0" algn="l">
              <a:lnSpc>
                <a:spcPct val="112000"/>
              </a:lnSpc>
              <a:buNone/>
            </a:pPr>
            <a:r>
              <a:rPr lang="en-US" sz="1000" b="1" dirty="0">
                <a:solidFill>
                  <a:srgbClr val="333333"/>
                </a:solidFill>
                <a:latin typeface="Arial" panose="020B0604020202020204" pitchFamily="34" charset="0"/>
                <a:ea typeface="Inter Bold" pitchFamily="34" charset="-122"/>
                <a:cs typeface="Arial" panose="020B0604020202020204" pitchFamily="34" charset="0"/>
              </a:rPr>
              <a:t>Transformation Digitale :</a:t>
            </a:r>
            <a:r>
              <a:rPr lang="en-US" sz="1050" dirty="0">
                <a:solidFill>
                  <a:srgbClr val="333333"/>
                </a:solidFill>
                <a:latin typeface="Arial" panose="020B0604020202020204" pitchFamily="34" charset="0"/>
                <a:ea typeface="Inter" pitchFamily="34" charset="-122"/>
                <a:cs typeface="Arial" panose="020B0604020202020204" pitchFamily="34" charset="0"/>
              </a:rPr>
              <a:t> L'achat automobile, un processus long et complexe, est profondément impacté par le digital.</a:t>
            </a:r>
            <a:endParaRPr lang="en-US" sz="1000" dirty="0">
              <a:latin typeface="Arial" panose="020B0604020202020204" pitchFamily="34" charset="0"/>
              <a:cs typeface="Arial" panose="020B0604020202020204" pitchFamily="34" charset="0"/>
            </a:endParaRPr>
          </a:p>
        </p:txBody>
      </p:sp>
      <p:pic>
        <p:nvPicPr>
          <p:cNvPr id="10" name="Image 2" descr="preencoded.png"/>
          <p:cNvPicPr>
            <a:picLocks noChangeAspect="1"/>
          </p:cNvPicPr>
          <p:nvPr/>
        </p:nvPicPr>
        <p:blipFill>
          <a:blip r:embed="rId4"/>
          <a:stretch>
            <a:fillRect/>
          </a:stretch>
        </p:blipFill>
        <p:spPr>
          <a:xfrm>
            <a:off x="757238" y="4696704"/>
            <a:ext cx="114300" cy="15998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Text 0"/>
          <p:cNvSpPr/>
          <p:nvPr/>
        </p:nvSpPr>
        <p:spPr>
          <a:xfrm>
            <a:off x="1939528" y="285750"/>
            <a:ext cx="5264944" cy="246221"/>
          </a:xfrm>
          <a:prstGeom prst="rect">
            <a:avLst/>
          </a:prstGeom>
          <a:noFill/>
          <a:ln/>
        </p:spPr>
        <p:txBody>
          <a:bodyPr wrap="square" lIns="0" tIns="0" rIns="0" bIns="0" rtlCol="0" anchor="t">
            <a:spAutoFit/>
          </a:bodyPr>
          <a:lstStyle/>
          <a:p>
            <a:pPr marL="0" indent="0" algn="ctr">
              <a:buNone/>
            </a:pPr>
            <a:endParaRPr lang="en-US" sz="1600" dirty="0"/>
          </a:p>
        </p:txBody>
      </p:sp>
      <p:pic>
        <p:nvPicPr>
          <p:cNvPr id="5" name="Image 1" descr="preencoded.png"/>
          <p:cNvPicPr>
            <a:picLocks noChangeAspect="1"/>
          </p:cNvPicPr>
          <p:nvPr/>
        </p:nvPicPr>
        <p:blipFill>
          <a:blip r:embed="rId3"/>
          <a:srcRect t="18379" b="19894"/>
          <a:stretch>
            <a:fillRect/>
          </a:stretch>
        </p:blipFill>
        <p:spPr>
          <a:xfrm>
            <a:off x="1373434" y="1746127"/>
            <a:ext cx="6043032" cy="2099420"/>
          </a:xfrm>
          <a:prstGeom prst="rect">
            <a:avLst/>
          </a:prstGeom>
        </p:spPr>
      </p:pic>
      <p:sp>
        <p:nvSpPr>
          <p:cNvPr id="6" name="Text 1"/>
          <p:cNvSpPr/>
          <p:nvPr/>
        </p:nvSpPr>
        <p:spPr>
          <a:xfrm>
            <a:off x="666249" y="4513952"/>
            <a:ext cx="6408357" cy="166392"/>
          </a:xfrm>
          <a:prstGeom prst="rect">
            <a:avLst/>
          </a:prstGeom>
          <a:noFill/>
          <a:ln/>
        </p:spPr>
        <p:txBody>
          <a:bodyPr wrap="none" lIns="255143" tIns="0" rIns="0" bIns="0" rtlCol="0" anchor="t">
            <a:spAutoFit/>
          </a:bodyPr>
          <a:lstStyle/>
          <a:p>
            <a:pPr marL="0" indent="0" algn="l">
              <a:lnSpc>
                <a:spcPct val="112000"/>
              </a:lnSpc>
              <a:buNone/>
            </a:pPr>
            <a:r>
              <a:rPr lang="en-US" sz="1050" b="1" dirty="0">
                <a:solidFill>
                  <a:srgbClr val="002060"/>
                </a:solidFill>
                <a:latin typeface="Arial" panose="020B0604020202020204" pitchFamily="34" charset="0"/>
                <a:ea typeface="Inter Bold" pitchFamily="34" charset="-122"/>
                <a:cs typeface="Arial" panose="020B0604020202020204" pitchFamily="34" charset="0"/>
              </a:rPr>
              <a:t>Objectif :</a:t>
            </a:r>
            <a:r>
              <a:rPr lang="en-US" sz="1050" dirty="0">
                <a:solidFill>
                  <a:srgbClr val="333333"/>
                </a:solidFill>
                <a:latin typeface="Arial" panose="020B0604020202020204" pitchFamily="34" charset="0"/>
                <a:ea typeface="Inter" pitchFamily="34" charset="-122"/>
                <a:cs typeface="Arial" panose="020B0604020202020204" pitchFamily="34" charset="0"/>
              </a:rPr>
              <a:t> Analyser le processus d'achat d'un véhicule sous l'angle Data, de la visite web à l'acquisition.</a:t>
            </a:r>
            <a:endParaRPr lang="en-US" sz="1050" dirty="0">
              <a:latin typeface="Arial" panose="020B0604020202020204" pitchFamily="34" charset="0"/>
              <a:cs typeface="Arial" panose="020B0604020202020204" pitchFamily="34" charset="0"/>
            </a:endParaRPr>
          </a:p>
        </p:txBody>
      </p:sp>
      <p:sp>
        <p:nvSpPr>
          <p:cNvPr id="7" name="Text 2"/>
          <p:cNvSpPr/>
          <p:nvPr/>
        </p:nvSpPr>
        <p:spPr>
          <a:xfrm>
            <a:off x="642937" y="4766745"/>
            <a:ext cx="7858125" cy="166392"/>
          </a:xfrm>
          <a:prstGeom prst="rect">
            <a:avLst/>
          </a:prstGeom>
          <a:noFill/>
          <a:ln/>
        </p:spPr>
        <p:txBody>
          <a:bodyPr wrap="square" lIns="255143" tIns="0" rIns="0" bIns="0" rtlCol="0" anchor="t">
            <a:spAutoFit/>
          </a:bodyPr>
          <a:lstStyle/>
          <a:p>
            <a:pPr marL="0" indent="0" algn="l">
              <a:lnSpc>
                <a:spcPct val="112000"/>
              </a:lnSpc>
              <a:buNone/>
            </a:pPr>
            <a:r>
              <a:rPr lang="en-US" sz="1050" b="1" dirty="0">
                <a:solidFill>
                  <a:srgbClr val="002060"/>
                </a:solidFill>
                <a:latin typeface="Arial" panose="020B0604020202020204" pitchFamily="34" charset="0"/>
                <a:ea typeface="Inter Bold" pitchFamily="34" charset="-122"/>
                <a:cs typeface="Arial" panose="020B0604020202020204" pitchFamily="34" charset="0"/>
              </a:rPr>
              <a:t>Comparaison :</a:t>
            </a:r>
            <a:r>
              <a:rPr lang="en-US" sz="1050" dirty="0">
                <a:solidFill>
                  <a:srgbClr val="333333"/>
                </a:solidFill>
                <a:latin typeface="Arial" panose="020B0604020202020204" pitchFamily="34" charset="0"/>
                <a:ea typeface="Inter" pitchFamily="34" charset="-122"/>
                <a:cs typeface="Arial" panose="020B0604020202020204" pitchFamily="34" charset="0"/>
              </a:rPr>
              <a:t> Renault (généraliste) vs. BMW (premium) – deux positionnements, deux stratégies data potentielles.</a:t>
            </a:r>
            <a:endParaRPr lang="en-US" sz="1050" dirty="0">
              <a:latin typeface="Arial" panose="020B0604020202020204" pitchFamily="34" charset="0"/>
              <a:cs typeface="Arial" panose="020B0604020202020204" pitchFamily="34" charset="0"/>
            </a:endParaRPr>
          </a:p>
        </p:txBody>
      </p:sp>
      <p:pic>
        <p:nvPicPr>
          <p:cNvPr id="9" name="Image 2" descr="preencoded.png"/>
          <p:cNvPicPr>
            <a:picLocks noChangeAspect="1"/>
          </p:cNvPicPr>
          <p:nvPr/>
        </p:nvPicPr>
        <p:blipFill>
          <a:blip r:embed="rId4"/>
          <a:stretch>
            <a:fillRect/>
          </a:stretch>
        </p:blipFill>
        <p:spPr>
          <a:xfrm>
            <a:off x="666249" y="4560083"/>
            <a:ext cx="114300" cy="159981"/>
          </a:xfrm>
          <a:prstGeom prst="rect">
            <a:avLst/>
          </a:prstGeom>
        </p:spPr>
      </p:pic>
      <p:pic>
        <p:nvPicPr>
          <p:cNvPr id="10" name="Image 3" descr="preencoded.png"/>
          <p:cNvPicPr>
            <a:picLocks noChangeAspect="1"/>
          </p:cNvPicPr>
          <p:nvPr/>
        </p:nvPicPr>
        <p:blipFill>
          <a:blip r:embed="rId4"/>
          <a:stretch>
            <a:fillRect/>
          </a:stretch>
        </p:blipFill>
        <p:spPr>
          <a:xfrm>
            <a:off x="666249" y="4760334"/>
            <a:ext cx="114300" cy="159981"/>
          </a:xfrm>
          <a:prstGeom prst="rect">
            <a:avLst/>
          </a:prstGeom>
        </p:spPr>
      </p:pic>
      <p:sp>
        <p:nvSpPr>
          <p:cNvPr id="2" name="Text 0">
            <a:extLst>
              <a:ext uri="{FF2B5EF4-FFF2-40B4-BE49-F238E27FC236}">
                <a16:creationId xmlns:a16="http://schemas.microsoft.com/office/drawing/2014/main" id="{5307ACE4-2DE5-43F0-7648-B911105AF714}"/>
              </a:ext>
            </a:extLst>
          </p:cNvPr>
          <p:cNvSpPr/>
          <p:nvPr/>
        </p:nvSpPr>
        <p:spPr>
          <a:xfrm>
            <a:off x="26712" y="143460"/>
            <a:ext cx="5608775" cy="492443"/>
          </a:xfrm>
          <a:prstGeom prst="rect">
            <a:avLst/>
          </a:prstGeom>
          <a:noFill/>
          <a:ln/>
        </p:spPr>
        <p:txBody>
          <a:bodyPr wrap="square" lIns="0" tIns="0" rIns="0" bIns="0" rtlCol="0" anchor="t">
            <a:spAutoFit/>
          </a:bodyPr>
          <a:lstStyle/>
          <a:p>
            <a:pPr algn="ctr"/>
            <a:r>
              <a:rPr lang="fr-FR" sz="1600" b="1" dirty="0">
                <a:solidFill>
                  <a:srgbClr val="002060"/>
                </a:solidFill>
                <a:latin typeface="Arial" panose="020B0604020202020204" pitchFamily="34" charset="0"/>
                <a:ea typeface="Space Grotesk Bold" pitchFamily="34" charset="-122"/>
                <a:cs typeface="Arial" panose="020B0604020202020204" pitchFamily="34" charset="0"/>
              </a:rPr>
              <a:t>2. </a:t>
            </a:r>
            <a:r>
              <a:rPr lang="en-US" sz="1600" b="1" dirty="0" err="1">
                <a:solidFill>
                  <a:srgbClr val="002060"/>
                </a:solidFill>
                <a:latin typeface="Arial" panose="020B0604020202020204" pitchFamily="34" charset="0"/>
                <a:ea typeface="Space Grotesk Bold" pitchFamily="34" charset="-122"/>
                <a:cs typeface="Arial" panose="020B0604020202020204" pitchFamily="34" charset="0"/>
              </a:rPr>
              <a:t>Approche</a:t>
            </a:r>
            <a:r>
              <a:rPr lang="en-US" sz="1600" b="1" dirty="0">
                <a:solidFill>
                  <a:srgbClr val="002060"/>
                </a:solidFill>
                <a:latin typeface="Arial" panose="020B0604020202020204" pitchFamily="34" charset="0"/>
                <a:ea typeface="Space Grotesk Bold" pitchFamily="34" charset="-122"/>
                <a:cs typeface="Arial" panose="020B0604020202020204" pitchFamily="34" charset="0"/>
              </a:rPr>
              <a:t> Data-Driven de </a:t>
            </a:r>
            <a:r>
              <a:rPr lang="en-US" sz="1600" b="1" dirty="0" err="1">
                <a:solidFill>
                  <a:srgbClr val="002060"/>
                </a:solidFill>
                <a:latin typeface="Arial" panose="020B0604020202020204" pitchFamily="34" charset="0"/>
                <a:ea typeface="Space Grotesk Bold" pitchFamily="34" charset="-122"/>
                <a:cs typeface="Arial" panose="020B0604020202020204" pitchFamily="34" charset="0"/>
              </a:rPr>
              <a:t>l'Analyse</a:t>
            </a:r>
            <a:r>
              <a:rPr lang="en-US" sz="1600" b="1" dirty="0">
                <a:solidFill>
                  <a:srgbClr val="002060"/>
                </a:solidFill>
                <a:latin typeface="Arial" panose="020B0604020202020204" pitchFamily="34" charset="0"/>
                <a:ea typeface="Space Grotesk Bold" pitchFamily="34" charset="-122"/>
                <a:cs typeface="Arial" panose="020B0604020202020204" pitchFamily="34" charset="0"/>
              </a:rPr>
              <a:t> Comparative</a:t>
            </a:r>
            <a:endParaRPr lang="en-US" sz="1600" dirty="0">
              <a:latin typeface="Arial" panose="020B0604020202020204" pitchFamily="34" charset="0"/>
              <a:cs typeface="Arial" panose="020B0604020202020204" pitchFamily="34" charset="0"/>
            </a:endParaRPr>
          </a:p>
          <a:p>
            <a:pPr marL="0" indent="0" algn="ctr">
              <a:buNone/>
            </a:pPr>
            <a:endParaRPr lang="fr-FR" sz="1600" noProof="0" dirty="0">
              <a:latin typeface="Arial" panose="020B0604020202020204" pitchFamily="34" charset="0"/>
              <a:cs typeface="Arial" panose="020B0604020202020204" pitchFamily="34" charset="0"/>
            </a:endParaRPr>
          </a:p>
        </p:txBody>
      </p:sp>
      <p:sp>
        <p:nvSpPr>
          <p:cNvPr id="20" name="Text 3"/>
          <p:cNvSpPr/>
          <p:nvPr/>
        </p:nvSpPr>
        <p:spPr>
          <a:xfrm>
            <a:off x="642938" y="991313"/>
            <a:ext cx="7858125" cy="170303"/>
          </a:xfrm>
          <a:prstGeom prst="rect">
            <a:avLst/>
          </a:prstGeom>
          <a:noFill/>
          <a:ln/>
        </p:spPr>
        <p:txBody>
          <a:bodyPr wrap="square" lIns="255143" tIns="0" rIns="0" bIns="0" rtlCol="0" anchor="t">
            <a:spAutoFit/>
          </a:bodyPr>
          <a:lstStyle/>
          <a:p>
            <a:pPr marL="0" indent="0" algn="l">
              <a:lnSpc>
                <a:spcPct val="112000"/>
              </a:lnSpc>
              <a:buNone/>
            </a:pPr>
            <a:r>
              <a:rPr lang="en-US" sz="1000" b="1" dirty="0">
                <a:solidFill>
                  <a:srgbClr val="333333"/>
                </a:solidFill>
                <a:latin typeface="Arial" panose="020B0604020202020204" pitchFamily="34" charset="0"/>
                <a:ea typeface="Inter Bold" pitchFamily="34" charset="-122"/>
                <a:cs typeface="Arial" panose="020B0604020202020204" pitchFamily="34" charset="0"/>
              </a:rPr>
              <a:t>Enjeu Data :</a:t>
            </a:r>
            <a:r>
              <a:rPr lang="en-US" sz="1050" dirty="0">
                <a:solidFill>
                  <a:srgbClr val="333333"/>
                </a:solidFill>
                <a:latin typeface="Arial" panose="020B0604020202020204" pitchFamily="34" charset="0"/>
                <a:ea typeface="Inter" pitchFamily="34" charset="-122"/>
                <a:cs typeface="Arial" panose="020B0604020202020204" pitchFamily="34" charset="0"/>
              </a:rPr>
              <a:t> La collecte, l'analyse et l'activation des données sont cruciales pour comprendre et influencer ce parcours.</a:t>
            </a:r>
            <a:endParaRPr lang="en-US" sz="1000" dirty="0">
              <a:latin typeface="Arial" panose="020B0604020202020204" pitchFamily="34" charset="0"/>
              <a:cs typeface="Arial" panose="020B0604020202020204" pitchFamily="34" charset="0"/>
            </a:endParaRPr>
          </a:p>
        </p:txBody>
      </p:sp>
      <p:sp>
        <p:nvSpPr>
          <p:cNvPr id="21" name="Text 4"/>
          <p:cNvSpPr/>
          <p:nvPr/>
        </p:nvSpPr>
        <p:spPr>
          <a:xfrm>
            <a:off x="642938" y="1266789"/>
            <a:ext cx="8023984" cy="166392"/>
          </a:xfrm>
          <a:prstGeom prst="rect">
            <a:avLst/>
          </a:prstGeom>
          <a:noFill/>
          <a:ln/>
        </p:spPr>
        <p:txBody>
          <a:bodyPr wrap="square" lIns="255143" tIns="0" rIns="0" bIns="0" rtlCol="0" anchor="t">
            <a:spAutoFit/>
          </a:bodyPr>
          <a:lstStyle/>
          <a:p>
            <a:pPr marL="0" indent="0" algn="l">
              <a:lnSpc>
                <a:spcPct val="112000"/>
              </a:lnSpc>
              <a:buNone/>
            </a:pPr>
            <a:r>
              <a:rPr lang="en-US" sz="1000" b="1" dirty="0">
                <a:solidFill>
                  <a:srgbClr val="333333"/>
                </a:solidFill>
                <a:latin typeface="Arial" panose="020B0604020202020204" pitchFamily="34" charset="0"/>
                <a:ea typeface="Inter Bold" pitchFamily="34" charset="-122"/>
                <a:cs typeface="Arial" panose="020B0604020202020204" pitchFamily="34" charset="0"/>
              </a:rPr>
              <a:t>Problématique :</a:t>
            </a:r>
            <a:r>
              <a:rPr lang="en-US" sz="1050" dirty="0">
                <a:solidFill>
                  <a:srgbClr val="333333"/>
                </a:solidFill>
                <a:latin typeface="Arial" panose="020B0604020202020204" pitchFamily="34" charset="0"/>
                <a:ea typeface="Inter" pitchFamily="34" charset="-122"/>
                <a:cs typeface="Arial" panose="020B0604020202020204" pitchFamily="34" charset="0"/>
              </a:rPr>
              <a:t> Comment </a:t>
            </a:r>
            <a:r>
              <a:rPr lang="en-US" sz="1050" b="1" dirty="0">
                <a:solidFill>
                  <a:srgbClr val="333333"/>
                </a:solidFill>
                <a:latin typeface="Arial" panose="020B0604020202020204" pitchFamily="34" charset="0"/>
                <a:ea typeface="Inter" pitchFamily="34" charset="-122"/>
                <a:cs typeface="Arial" panose="020B0604020202020204" pitchFamily="34" charset="0"/>
              </a:rPr>
              <a:t>Renault</a:t>
            </a:r>
            <a:r>
              <a:rPr lang="en-US" sz="1050" dirty="0">
                <a:solidFill>
                  <a:srgbClr val="333333"/>
                </a:solidFill>
                <a:latin typeface="Arial" panose="020B0604020202020204" pitchFamily="34" charset="0"/>
                <a:ea typeface="Inter" pitchFamily="34" charset="-122"/>
                <a:cs typeface="Arial" panose="020B0604020202020204" pitchFamily="34" charset="0"/>
              </a:rPr>
              <a:t> et </a:t>
            </a:r>
            <a:r>
              <a:rPr lang="en-US" sz="1050" b="1" dirty="0">
                <a:solidFill>
                  <a:srgbClr val="333333"/>
                </a:solidFill>
                <a:latin typeface="Arial" panose="020B0604020202020204" pitchFamily="34" charset="0"/>
                <a:ea typeface="Inter" pitchFamily="34" charset="-122"/>
                <a:cs typeface="Arial" panose="020B0604020202020204" pitchFamily="34" charset="0"/>
              </a:rPr>
              <a:t>BMW</a:t>
            </a:r>
            <a:r>
              <a:rPr lang="en-US" sz="1050" dirty="0">
                <a:solidFill>
                  <a:srgbClr val="333333"/>
                </a:solidFill>
                <a:latin typeface="Arial" panose="020B0604020202020204" pitchFamily="34" charset="0"/>
                <a:ea typeface="Inter" pitchFamily="34" charset="-122"/>
                <a:cs typeface="Arial" panose="020B0604020202020204" pitchFamily="34" charset="0"/>
              </a:rPr>
              <a:t> exploitent-ils les données pour optimiser le parcours client digital et se différencier ?</a:t>
            </a:r>
            <a:endParaRPr lang="en-US" sz="1000" dirty="0">
              <a:latin typeface="Arial" panose="020B0604020202020204" pitchFamily="34" charset="0"/>
              <a:cs typeface="Arial" panose="020B0604020202020204" pitchFamily="34" charset="0"/>
            </a:endParaRPr>
          </a:p>
        </p:txBody>
      </p:sp>
      <p:pic>
        <p:nvPicPr>
          <p:cNvPr id="22" name="Image 4" descr="preencoded.png"/>
          <p:cNvPicPr>
            <a:picLocks noChangeAspect="1"/>
          </p:cNvPicPr>
          <p:nvPr/>
        </p:nvPicPr>
        <p:blipFill>
          <a:blip r:embed="rId4"/>
          <a:stretch>
            <a:fillRect/>
          </a:stretch>
        </p:blipFill>
        <p:spPr>
          <a:xfrm>
            <a:off x="642938" y="991313"/>
            <a:ext cx="114300" cy="159981"/>
          </a:xfrm>
          <a:prstGeom prst="rect">
            <a:avLst/>
          </a:prstGeom>
        </p:spPr>
      </p:pic>
      <p:pic>
        <p:nvPicPr>
          <p:cNvPr id="23" name="Image 5" descr="preencoded.png"/>
          <p:cNvPicPr>
            <a:picLocks noChangeAspect="1"/>
          </p:cNvPicPr>
          <p:nvPr/>
        </p:nvPicPr>
        <p:blipFill>
          <a:blip r:embed="rId4"/>
          <a:stretch>
            <a:fillRect/>
          </a:stretch>
        </p:blipFill>
        <p:spPr>
          <a:xfrm>
            <a:off x="642938" y="1266789"/>
            <a:ext cx="114300" cy="15998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ext 0"/>
          <p:cNvSpPr/>
          <p:nvPr/>
        </p:nvSpPr>
        <p:spPr>
          <a:xfrm>
            <a:off x="3712130" y="415570"/>
            <a:ext cx="5961459" cy="246221"/>
          </a:xfrm>
          <a:prstGeom prst="rect">
            <a:avLst/>
          </a:prstGeom>
          <a:noFill/>
          <a:ln/>
        </p:spPr>
        <p:txBody>
          <a:bodyPr wrap="square" lIns="0" tIns="0" rIns="0" bIns="0" rtlCol="0" anchor="t">
            <a:spAutoFit/>
          </a:bodyPr>
          <a:lstStyle/>
          <a:p>
            <a:pPr marL="0" indent="0" algn="ctr">
              <a:buNone/>
            </a:pPr>
            <a:endParaRPr lang="en-US" sz="1600" dirty="0"/>
          </a:p>
        </p:txBody>
      </p:sp>
      <p:pic>
        <p:nvPicPr>
          <p:cNvPr id="5" name="Image 1" descr="preencoded.png"/>
          <p:cNvPicPr>
            <a:picLocks noChangeAspect="1"/>
          </p:cNvPicPr>
          <p:nvPr/>
        </p:nvPicPr>
        <p:blipFill>
          <a:blip r:embed="rId3"/>
          <a:srcRect l="4062" r="8349"/>
          <a:stretch>
            <a:fillRect/>
          </a:stretch>
        </p:blipFill>
        <p:spPr>
          <a:xfrm>
            <a:off x="156303" y="1598766"/>
            <a:ext cx="3003458" cy="1929901"/>
          </a:xfrm>
          <a:prstGeom prst="rect">
            <a:avLst/>
          </a:prstGeom>
        </p:spPr>
      </p:pic>
      <p:sp>
        <p:nvSpPr>
          <p:cNvPr id="6" name="Shape 1"/>
          <p:cNvSpPr/>
          <p:nvPr/>
        </p:nvSpPr>
        <p:spPr>
          <a:xfrm>
            <a:off x="3356651" y="1392244"/>
            <a:ext cx="1384278" cy="269677"/>
          </a:xfrm>
          <a:prstGeom prst="rect">
            <a:avLst/>
          </a:prstGeom>
          <a:solidFill>
            <a:srgbClr val="002060"/>
          </a:solidFill>
          <a:ln/>
        </p:spPr>
      </p:sp>
      <p:sp>
        <p:nvSpPr>
          <p:cNvPr id="7" name="Text 2"/>
          <p:cNvSpPr/>
          <p:nvPr/>
        </p:nvSpPr>
        <p:spPr>
          <a:xfrm>
            <a:off x="3332726" y="1383628"/>
            <a:ext cx="433132" cy="287258"/>
          </a:xfrm>
          <a:prstGeom prst="rect">
            <a:avLst/>
          </a:prstGeom>
          <a:noFill/>
          <a:ln/>
        </p:spPr>
        <p:txBody>
          <a:bodyPr wrap="none" lIns="85090" tIns="85090" rIns="85090" bIns="85090" rtlCol="0" anchor="ctr">
            <a:spAutoFit/>
          </a:bodyPr>
          <a:lstStyle/>
          <a:p>
            <a:pPr marL="0" indent="0" algn="l">
              <a:buNone/>
            </a:pPr>
            <a:r>
              <a:rPr lang="en-US" sz="750" b="1" dirty="0">
                <a:solidFill>
                  <a:srgbClr val="FFFFFF"/>
                </a:solidFill>
                <a:latin typeface="Arial" panose="020B0604020202020204" pitchFamily="34" charset="0"/>
                <a:ea typeface="Space Grotesk Bold" pitchFamily="34" charset="-122"/>
                <a:cs typeface="Arial" panose="020B0604020202020204" pitchFamily="34" charset="0"/>
              </a:rPr>
              <a:t>Étape</a:t>
            </a:r>
            <a:endParaRPr lang="en-US" sz="750" dirty="0">
              <a:latin typeface="Arial" panose="020B0604020202020204" pitchFamily="34" charset="0"/>
              <a:cs typeface="Arial" panose="020B0604020202020204" pitchFamily="34" charset="0"/>
            </a:endParaRPr>
          </a:p>
        </p:txBody>
      </p:sp>
      <p:sp>
        <p:nvSpPr>
          <p:cNvPr id="8" name="Shape 3"/>
          <p:cNvSpPr/>
          <p:nvPr/>
        </p:nvSpPr>
        <p:spPr>
          <a:xfrm>
            <a:off x="4740928" y="1392418"/>
            <a:ext cx="1976056" cy="269677"/>
          </a:xfrm>
          <a:prstGeom prst="rect">
            <a:avLst/>
          </a:prstGeom>
          <a:solidFill>
            <a:srgbClr val="002060"/>
          </a:solidFill>
          <a:ln/>
        </p:spPr>
      </p:sp>
      <p:sp>
        <p:nvSpPr>
          <p:cNvPr id="9" name="Text 4"/>
          <p:cNvSpPr/>
          <p:nvPr/>
        </p:nvSpPr>
        <p:spPr>
          <a:xfrm>
            <a:off x="4740928" y="1396154"/>
            <a:ext cx="1976056" cy="287258"/>
          </a:xfrm>
          <a:prstGeom prst="rect">
            <a:avLst/>
          </a:prstGeom>
          <a:noFill/>
          <a:ln/>
        </p:spPr>
        <p:txBody>
          <a:bodyPr wrap="square" lIns="85090" tIns="85090" rIns="85090" bIns="85090" rtlCol="0" anchor="ctr">
            <a:spAutoFit/>
          </a:bodyPr>
          <a:lstStyle/>
          <a:p>
            <a:pPr marL="0" indent="0" algn="l">
              <a:buNone/>
            </a:pPr>
            <a:r>
              <a:rPr lang="en-US" sz="750" b="1" dirty="0">
                <a:solidFill>
                  <a:srgbClr val="FFFFFF"/>
                </a:solidFill>
                <a:latin typeface="Arial" panose="020B0604020202020204" pitchFamily="34" charset="0"/>
                <a:ea typeface="Space Grotesk Bold" pitchFamily="34" charset="-122"/>
                <a:cs typeface="Arial" panose="020B0604020202020204" pitchFamily="34" charset="0"/>
              </a:rPr>
              <a:t>Renault (Généraliste)</a:t>
            </a:r>
            <a:endParaRPr lang="en-US" sz="750" dirty="0">
              <a:latin typeface="Arial" panose="020B0604020202020204" pitchFamily="34" charset="0"/>
              <a:cs typeface="Arial" panose="020B0604020202020204" pitchFamily="34" charset="0"/>
            </a:endParaRPr>
          </a:p>
        </p:txBody>
      </p:sp>
      <p:sp>
        <p:nvSpPr>
          <p:cNvPr id="10" name="Shape 5"/>
          <p:cNvSpPr/>
          <p:nvPr/>
        </p:nvSpPr>
        <p:spPr>
          <a:xfrm>
            <a:off x="6716984" y="1392418"/>
            <a:ext cx="1978428" cy="269677"/>
          </a:xfrm>
          <a:prstGeom prst="rect">
            <a:avLst/>
          </a:prstGeom>
          <a:solidFill>
            <a:srgbClr val="002060"/>
          </a:solidFill>
          <a:ln/>
        </p:spPr>
      </p:sp>
      <p:sp>
        <p:nvSpPr>
          <p:cNvPr id="11" name="Text 6"/>
          <p:cNvSpPr/>
          <p:nvPr/>
        </p:nvSpPr>
        <p:spPr>
          <a:xfrm>
            <a:off x="6716984" y="1387475"/>
            <a:ext cx="1978428" cy="279564"/>
          </a:xfrm>
          <a:prstGeom prst="rect">
            <a:avLst/>
          </a:prstGeom>
          <a:noFill/>
          <a:ln/>
        </p:spPr>
        <p:txBody>
          <a:bodyPr wrap="square" lIns="85090" tIns="85090" rIns="85090" bIns="85090" rtlCol="0" anchor="ctr">
            <a:spAutoFit/>
          </a:bodyPr>
          <a:lstStyle/>
          <a:p>
            <a:pPr marL="0" indent="0" algn="l">
              <a:buNone/>
            </a:pPr>
            <a:r>
              <a:rPr lang="en-US" sz="700" b="1" dirty="0">
                <a:solidFill>
                  <a:srgbClr val="FFFFFF"/>
                </a:solidFill>
                <a:latin typeface="Arial" panose="020B0604020202020204" pitchFamily="34" charset="0"/>
                <a:ea typeface="Space Grotesk Bold" pitchFamily="34" charset="-122"/>
                <a:cs typeface="Arial" panose="020B0604020202020204" pitchFamily="34" charset="0"/>
              </a:rPr>
              <a:t>BMW (Premium)</a:t>
            </a:r>
            <a:endParaRPr lang="en-US" sz="700" dirty="0">
              <a:latin typeface="Arial" panose="020B0604020202020204" pitchFamily="34" charset="0"/>
              <a:cs typeface="Arial" panose="020B0604020202020204" pitchFamily="34" charset="0"/>
            </a:endParaRPr>
          </a:p>
        </p:txBody>
      </p:sp>
      <p:sp>
        <p:nvSpPr>
          <p:cNvPr id="12" name="Text 7"/>
          <p:cNvSpPr/>
          <p:nvPr/>
        </p:nvSpPr>
        <p:spPr>
          <a:xfrm>
            <a:off x="3332726" y="1681309"/>
            <a:ext cx="942887" cy="321627"/>
          </a:xfrm>
          <a:prstGeom prst="rect">
            <a:avLst/>
          </a:prstGeom>
          <a:noFill/>
          <a:ln/>
        </p:spPr>
        <p:txBody>
          <a:bodyPr wrap="none" lIns="85090" tIns="102108" rIns="85090" bIns="102108" rtlCol="0" anchor="t">
            <a:spAutoFit/>
          </a:bodyPr>
          <a:lstStyle/>
          <a:p>
            <a:r>
              <a:rPr lang="en-US" sz="750" b="1" dirty="0">
                <a:solidFill>
                  <a:srgbClr val="0070C0"/>
                </a:solidFill>
                <a:latin typeface="Arial" panose="020B0604020202020204" pitchFamily="34" charset="0"/>
                <a:ea typeface="Inter Bold" pitchFamily="34" charset="-122"/>
                <a:cs typeface="Arial" panose="020B0604020202020204" pitchFamily="34" charset="0"/>
              </a:rPr>
              <a:t>TOFU : </a:t>
            </a:r>
            <a:r>
              <a:rPr lang="en-US" sz="750" b="1" dirty="0" err="1">
                <a:solidFill>
                  <a:srgbClr val="0070C0"/>
                </a:solidFill>
                <a:latin typeface="Arial" panose="020B0604020202020204" pitchFamily="34" charset="0"/>
                <a:ea typeface="Inter Bold" pitchFamily="34" charset="-122"/>
                <a:cs typeface="Arial" panose="020B0604020202020204" pitchFamily="34" charset="0"/>
              </a:rPr>
              <a:t>Notoriété</a:t>
            </a:r>
            <a:endParaRPr lang="en-US" sz="750" b="1" dirty="0">
              <a:solidFill>
                <a:srgbClr val="0070C0"/>
              </a:solidFill>
              <a:latin typeface="Arial" panose="020B0604020202020204" pitchFamily="34" charset="0"/>
              <a:ea typeface="Inter Bold" pitchFamily="34" charset="-122"/>
              <a:cs typeface="Arial" panose="020B0604020202020204" pitchFamily="34" charset="0"/>
            </a:endParaRPr>
          </a:p>
        </p:txBody>
      </p:sp>
      <p:sp>
        <p:nvSpPr>
          <p:cNvPr id="13" name="Text 8"/>
          <p:cNvSpPr/>
          <p:nvPr/>
        </p:nvSpPr>
        <p:spPr>
          <a:xfrm>
            <a:off x="4812365" y="1760346"/>
            <a:ext cx="1833181" cy="115416"/>
          </a:xfrm>
          <a:prstGeom prst="rect">
            <a:avLst/>
          </a:prstGeom>
          <a:noFill/>
          <a:ln/>
        </p:spPr>
        <p:txBody>
          <a:bodyPr wrap="square" lIns="127508" tIns="0" rIns="0" bIns="0" rtlCol="0" anchor="t">
            <a:spAutoFit/>
          </a:bodyPr>
          <a:lstStyle/>
          <a:p>
            <a:pPr marL="0" indent="0" algn="l">
              <a:buNone/>
            </a:pPr>
            <a:r>
              <a:rPr lang="en-US" sz="750" dirty="0">
                <a:solidFill>
                  <a:srgbClr val="333333"/>
                </a:solidFill>
                <a:latin typeface="Arial" panose="020B0604020202020204" pitchFamily="34" charset="0"/>
                <a:ea typeface="Inter" pitchFamily="34" charset="-122"/>
                <a:cs typeface="Arial" panose="020B0604020202020204" pitchFamily="34" charset="0"/>
              </a:rPr>
              <a:t>Navigation anonyme</a:t>
            </a:r>
            <a:endParaRPr lang="en-US" sz="750" dirty="0">
              <a:latin typeface="Arial" panose="020B0604020202020204" pitchFamily="34" charset="0"/>
              <a:cs typeface="Arial" panose="020B0604020202020204" pitchFamily="34" charset="0"/>
            </a:endParaRPr>
          </a:p>
        </p:txBody>
      </p:sp>
      <p:sp>
        <p:nvSpPr>
          <p:cNvPr id="14" name="Text 9"/>
          <p:cNvSpPr/>
          <p:nvPr/>
        </p:nvSpPr>
        <p:spPr>
          <a:xfrm>
            <a:off x="4812365" y="1910365"/>
            <a:ext cx="1833181" cy="115416"/>
          </a:xfrm>
          <a:prstGeom prst="rect">
            <a:avLst/>
          </a:prstGeom>
          <a:noFill/>
          <a:ln/>
        </p:spPr>
        <p:txBody>
          <a:bodyPr wrap="square" lIns="127508" tIns="0" rIns="0" bIns="0" rtlCol="0" anchor="t">
            <a:spAutoFit/>
          </a:bodyPr>
          <a:lstStyle/>
          <a:p>
            <a:pPr marL="0" indent="0" algn="l">
              <a:buNone/>
            </a:pPr>
            <a:r>
              <a:rPr lang="en-US" sz="750" dirty="0">
                <a:solidFill>
                  <a:srgbClr val="333333"/>
                </a:solidFill>
                <a:latin typeface="Arial" panose="020B0604020202020204" pitchFamily="34" charset="0"/>
                <a:ea typeface="Inter" pitchFamily="34" charset="-122"/>
                <a:cs typeface="Arial" panose="020B0604020202020204" pitchFamily="34" charset="0"/>
              </a:rPr>
              <a:t>Interactions campagnes masse</a:t>
            </a:r>
            <a:endParaRPr lang="en-US" sz="750" dirty="0">
              <a:latin typeface="Arial" panose="020B0604020202020204" pitchFamily="34" charset="0"/>
              <a:cs typeface="Arial" panose="020B0604020202020204" pitchFamily="34" charset="0"/>
            </a:endParaRPr>
          </a:p>
        </p:txBody>
      </p:sp>
      <p:sp>
        <p:nvSpPr>
          <p:cNvPr id="15" name="Text 10"/>
          <p:cNvSpPr/>
          <p:nvPr/>
        </p:nvSpPr>
        <p:spPr>
          <a:xfrm>
            <a:off x="4812365" y="2060383"/>
            <a:ext cx="1833181" cy="115416"/>
          </a:xfrm>
          <a:prstGeom prst="rect">
            <a:avLst/>
          </a:prstGeom>
          <a:noFill/>
          <a:ln/>
        </p:spPr>
        <p:txBody>
          <a:bodyPr wrap="square" lIns="127508" tIns="0" rIns="0" bIns="0" rtlCol="0" anchor="t">
            <a:spAutoFit/>
          </a:bodyPr>
          <a:lstStyle/>
          <a:p>
            <a:pPr marL="0" indent="0" algn="l">
              <a:buNone/>
            </a:pPr>
            <a:r>
              <a:rPr lang="en-US" sz="750" dirty="0">
                <a:solidFill>
                  <a:srgbClr val="333333"/>
                </a:solidFill>
                <a:latin typeface="Arial" panose="020B0604020202020204" pitchFamily="34" charset="0"/>
                <a:ea typeface="Inter" pitchFamily="34" charset="-122"/>
                <a:cs typeface="Arial" panose="020B0604020202020204" pitchFamily="34" charset="0"/>
              </a:rPr>
              <a:t>Vues réseaux sociaux</a:t>
            </a:r>
            <a:endParaRPr lang="en-US" sz="750" dirty="0">
              <a:latin typeface="Arial" panose="020B0604020202020204" pitchFamily="34" charset="0"/>
              <a:cs typeface="Arial" panose="020B0604020202020204" pitchFamily="34" charset="0"/>
            </a:endParaRPr>
          </a:p>
        </p:txBody>
      </p:sp>
      <p:sp>
        <p:nvSpPr>
          <p:cNvPr id="16" name="Text 11"/>
          <p:cNvSpPr/>
          <p:nvPr/>
        </p:nvSpPr>
        <p:spPr>
          <a:xfrm>
            <a:off x="4812365" y="1760346"/>
            <a:ext cx="33664" cy="115416"/>
          </a:xfrm>
          <a:prstGeom prst="rect">
            <a:avLst/>
          </a:prstGeom>
          <a:noFill/>
          <a:ln/>
        </p:spPr>
        <p:txBody>
          <a:bodyPr wrap="non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17" name="Text 12"/>
          <p:cNvSpPr/>
          <p:nvPr/>
        </p:nvSpPr>
        <p:spPr>
          <a:xfrm>
            <a:off x="4812365" y="1910365"/>
            <a:ext cx="33664" cy="115416"/>
          </a:xfrm>
          <a:prstGeom prst="rect">
            <a:avLst/>
          </a:prstGeom>
          <a:noFill/>
          <a:ln/>
        </p:spPr>
        <p:txBody>
          <a:bodyPr wrap="non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18" name="Text 13"/>
          <p:cNvSpPr/>
          <p:nvPr/>
        </p:nvSpPr>
        <p:spPr>
          <a:xfrm>
            <a:off x="4812365" y="2060383"/>
            <a:ext cx="33664" cy="115416"/>
          </a:xfrm>
          <a:prstGeom prst="rect">
            <a:avLst/>
          </a:prstGeom>
          <a:noFill/>
          <a:ln/>
        </p:spPr>
        <p:txBody>
          <a:bodyPr wrap="non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19" name="Text 14"/>
          <p:cNvSpPr/>
          <p:nvPr/>
        </p:nvSpPr>
        <p:spPr>
          <a:xfrm>
            <a:off x="6788421" y="1760346"/>
            <a:ext cx="1835553" cy="115416"/>
          </a:xfrm>
          <a:prstGeom prst="rect">
            <a:avLst/>
          </a:prstGeom>
          <a:noFill/>
          <a:ln/>
        </p:spPr>
        <p:txBody>
          <a:bodyPr wrap="square" lIns="127508" tIns="0" rIns="0" bIns="0" rtlCol="0" anchor="t">
            <a:spAutoFit/>
          </a:bodyPr>
          <a:lstStyle/>
          <a:p>
            <a:pPr marL="0" indent="0" algn="l">
              <a:buNone/>
            </a:pPr>
            <a:r>
              <a:rPr lang="en-US" sz="750" dirty="0">
                <a:solidFill>
                  <a:srgbClr val="333333"/>
                </a:solidFill>
                <a:latin typeface="Arial" panose="020B0604020202020204" pitchFamily="34" charset="0"/>
                <a:ea typeface="Inter" pitchFamily="34" charset="-122"/>
                <a:cs typeface="Arial" panose="020B0604020202020204" pitchFamily="34" charset="0"/>
              </a:rPr>
              <a:t>Préférences configurateur 3D</a:t>
            </a:r>
            <a:endParaRPr lang="en-US" sz="750" dirty="0">
              <a:latin typeface="Arial" panose="020B0604020202020204" pitchFamily="34" charset="0"/>
              <a:cs typeface="Arial" panose="020B0604020202020204" pitchFamily="34" charset="0"/>
            </a:endParaRPr>
          </a:p>
        </p:txBody>
      </p:sp>
      <p:sp>
        <p:nvSpPr>
          <p:cNvPr id="20" name="Text 15"/>
          <p:cNvSpPr/>
          <p:nvPr/>
        </p:nvSpPr>
        <p:spPr>
          <a:xfrm>
            <a:off x="6788421" y="1910365"/>
            <a:ext cx="1835553" cy="115416"/>
          </a:xfrm>
          <a:prstGeom prst="rect">
            <a:avLst/>
          </a:prstGeom>
          <a:noFill/>
          <a:ln/>
        </p:spPr>
        <p:txBody>
          <a:bodyPr wrap="square" lIns="127508" tIns="0" rIns="0" bIns="0" rtlCol="0" anchor="t">
            <a:spAutoFit/>
          </a:bodyPr>
          <a:lstStyle/>
          <a:p>
            <a:pPr marL="0" indent="0" algn="l">
              <a:buNone/>
            </a:pPr>
            <a:r>
              <a:rPr lang="en-US" sz="750" dirty="0">
                <a:solidFill>
                  <a:srgbClr val="333333"/>
                </a:solidFill>
                <a:latin typeface="Arial" panose="020B0604020202020204" pitchFamily="34" charset="0"/>
                <a:ea typeface="Inter" pitchFamily="34" charset="-122"/>
                <a:cs typeface="Arial" panose="020B0604020202020204" pitchFamily="34" charset="0"/>
              </a:rPr>
              <a:t>Engagement contenus marque</a:t>
            </a:r>
            <a:endParaRPr lang="en-US" sz="750" dirty="0">
              <a:latin typeface="Arial" panose="020B0604020202020204" pitchFamily="34" charset="0"/>
              <a:cs typeface="Arial" panose="020B0604020202020204" pitchFamily="34" charset="0"/>
            </a:endParaRPr>
          </a:p>
        </p:txBody>
      </p:sp>
      <p:sp>
        <p:nvSpPr>
          <p:cNvPr id="21" name="Text 16"/>
          <p:cNvSpPr/>
          <p:nvPr/>
        </p:nvSpPr>
        <p:spPr>
          <a:xfrm>
            <a:off x="6788421" y="2060383"/>
            <a:ext cx="1835553" cy="115416"/>
          </a:xfrm>
          <a:prstGeom prst="rect">
            <a:avLst/>
          </a:prstGeom>
          <a:noFill/>
          <a:ln/>
        </p:spPr>
        <p:txBody>
          <a:bodyPr wrap="square" lIns="127508" tIns="0" rIns="0" bIns="0" rtlCol="0" anchor="t">
            <a:spAutoFit/>
          </a:bodyPr>
          <a:lstStyle/>
          <a:p>
            <a:pPr marL="0" indent="0" algn="l">
              <a:buNone/>
            </a:pPr>
            <a:r>
              <a:rPr lang="en-US" sz="750" dirty="0">
                <a:solidFill>
                  <a:srgbClr val="333333"/>
                </a:solidFill>
                <a:latin typeface="Arial" panose="020B0604020202020204" pitchFamily="34" charset="0"/>
                <a:ea typeface="Inter" pitchFamily="34" charset="-122"/>
                <a:cs typeface="Arial" panose="020B0604020202020204" pitchFamily="34" charset="0"/>
              </a:rPr>
              <a:t>Données d'intérêt lifestyle</a:t>
            </a:r>
            <a:endParaRPr lang="en-US" sz="750" dirty="0">
              <a:latin typeface="Arial" panose="020B0604020202020204" pitchFamily="34" charset="0"/>
              <a:cs typeface="Arial" panose="020B0604020202020204" pitchFamily="34" charset="0"/>
            </a:endParaRPr>
          </a:p>
        </p:txBody>
      </p:sp>
      <p:sp>
        <p:nvSpPr>
          <p:cNvPr id="22" name="Text 17"/>
          <p:cNvSpPr/>
          <p:nvPr/>
        </p:nvSpPr>
        <p:spPr>
          <a:xfrm>
            <a:off x="6788421" y="1760346"/>
            <a:ext cx="33664" cy="115416"/>
          </a:xfrm>
          <a:prstGeom prst="rect">
            <a:avLst/>
          </a:prstGeom>
          <a:noFill/>
          <a:ln/>
        </p:spPr>
        <p:txBody>
          <a:bodyPr wrap="non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23" name="Text 18"/>
          <p:cNvSpPr/>
          <p:nvPr/>
        </p:nvSpPr>
        <p:spPr>
          <a:xfrm>
            <a:off x="6788421" y="1910365"/>
            <a:ext cx="33664" cy="115416"/>
          </a:xfrm>
          <a:prstGeom prst="rect">
            <a:avLst/>
          </a:prstGeom>
          <a:noFill/>
          <a:ln/>
        </p:spPr>
        <p:txBody>
          <a:bodyPr wrap="non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24" name="Text 19"/>
          <p:cNvSpPr/>
          <p:nvPr/>
        </p:nvSpPr>
        <p:spPr>
          <a:xfrm>
            <a:off x="6788421" y="2060383"/>
            <a:ext cx="33664" cy="115416"/>
          </a:xfrm>
          <a:prstGeom prst="rect">
            <a:avLst/>
          </a:prstGeom>
          <a:noFill/>
          <a:ln/>
        </p:spPr>
        <p:txBody>
          <a:bodyPr wrap="non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38" name="Text 33"/>
          <p:cNvSpPr/>
          <p:nvPr/>
        </p:nvSpPr>
        <p:spPr>
          <a:xfrm>
            <a:off x="3356650" y="3374004"/>
            <a:ext cx="1059906" cy="321627"/>
          </a:xfrm>
          <a:prstGeom prst="rect">
            <a:avLst/>
          </a:prstGeom>
          <a:noFill/>
          <a:ln/>
        </p:spPr>
        <p:txBody>
          <a:bodyPr wrap="none" lIns="85090" tIns="102108" rIns="85090" bIns="102108" rtlCol="0" anchor="t">
            <a:spAutoFit/>
          </a:bodyPr>
          <a:lstStyle/>
          <a:p>
            <a:r>
              <a:rPr lang="en-US" sz="750" b="1" dirty="0">
                <a:solidFill>
                  <a:srgbClr val="0070C0"/>
                </a:solidFill>
                <a:latin typeface="Arial" panose="020B0604020202020204" pitchFamily="34" charset="0"/>
                <a:ea typeface="Inter Bold" pitchFamily="34" charset="-122"/>
                <a:cs typeface="Arial" panose="020B0604020202020204" pitchFamily="34" charset="0"/>
              </a:rPr>
              <a:t>BOFU : Conversion</a:t>
            </a:r>
          </a:p>
        </p:txBody>
      </p:sp>
      <p:sp>
        <p:nvSpPr>
          <p:cNvPr id="39" name="Text 34"/>
          <p:cNvSpPr/>
          <p:nvPr/>
        </p:nvSpPr>
        <p:spPr>
          <a:xfrm>
            <a:off x="4812365" y="3510804"/>
            <a:ext cx="1833181" cy="115416"/>
          </a:xfrm>
          <a:prstGeom prst="rect">
            <a:avLst/>
          </a:prstGeom>
          <a:noFill/>
          <a:ln/>
        </p:spPr>
        <p:txBody>
          <a:bodyPr wrap="square" lIns="127508" tIns="0" rIns="0" bIns="0" rtlCol="0" anchor="t">
            <a:spAutoFit/>
          </a:bodyPr>
          <a:lstStyle/>
          <a:p>
            <a:pPr marL="0" indent="0" algn="l">
              <a:buNone/>
            </a:pPr>
            <a:r>
              <a:rPr lang="en-US" sz="750" dirty="0">
                <a:solidFill>
                  <a:srgbClr val="333333"/>
                </a:solidFill>
                <a:latin typeface="Arial" panose="020B0604020202020204" pitchFamily="34" charset="0"/>
                <a:ea typeface="Inter" pitchFamily="34" charset="-122"/>
                <a:cs typeface="Arial" panose="020B0604020202020204" pitchFamily="34" charset="0"/>
              </a:rPr>
              <a:t>Données transactionnelles</a:t>
            </a:r>
            <a:endParaRPr lang="en-US" sz="750" dirty="0">
              <a:latin typeface="Arial" panose="020B0604020202020204" pitchFamily="34" charset="0"/>
              <a:cs typeface="Arial" panose="020B0604020202020204" pitchFamily="34" charset="0"/>
            </a:endParaRPr>
          </a:p>
        </p:txBody>
      </p:sp>
      <p:sp>
        <p:nvSpPr>
          <p:cNvPr id="40" name="Text 35"/>
          <p:cNvSpPr/>
          <p:nvPr/>
        </p:nvSpPr>
        <p:spPr>
          <a:xfrm>
            <a:off x="4812365" y="3660823"/>
            <a:ext cx="1833181" cy="115416"/>
          </a:xfrm>
          <a:prstGeom prst="rect">
            <a:avLst/>
          </a:prstGeom>
          <a:noFill/>
          <a:ln/>
        </p:spPr>
        <p:txBody>
          <a:bodyPr wrap="square" lIns="127508" tIns="0" rIns="0" bIns="0" rtlCol="0" anchor="t">
            <a:spAutoFit/>
          </a:bodyPr>
          <a:lstStyle/>
          <a:p>
            <a:pPr marL="0" indent="0" algn="l">
              <a:buNone/>
            </a:pPr>
            <a:r>
              <a:rPr lang="en-US" sz="750" dirty="0">
                <a:solidFill>
                  <a:srgbClr val="333333"/>
                </a:solidFill>
                <a:latin typeface="Arial" panose="020B0604020202020204" pitchFamily="34" charset="0"/>
                <a:ea typeface="Inter" pitchFamily="34" charset="-122"/>
                <a:cs typeface="Arial" panose="020B0604020202020204" pitchFamily="34" charset="0"/>
              </a:rPr>
              <a:t>Dossier de crédit</a:t>
            </a:r>
            <a:endParaRPr lang="en-US" sz="750" dirty="0">
              <a:latin typeface="Arial" panose="020B0604020202020204" pitchFamily="34" charset="0"/>
              <a:cs typeface="Arial" panose="020B0604020202020204" pitchFamily="34" charset="0"/>
            </a:endParaRPr>
          </a:p>
        </p:txBody>
      </p:sp>
      <p:sp>
        <p:nvSpPr>
          <p:cNvPr id="41" name="Text 36"/>
          <p:cNvSpPr/>
          <p:nvPr/>
        </p:nvSpPr>
        <p:spPr>
          <a:xfrm>
            <a:off x="4812365" y="3810841"/>
            <a:ext cx="1833181" cy="115416"/>
          </a:xfrm>
          <a:prstGeom prst="rect">
            <a:avLst/>
          </a:prstGeom>
          <a:noFill/>
          <a:ln/>
        </p:spPr>
        <p:txBody>
          <a:bodyPr wrap="square" lIns="127508" tIns="0" rIns="0" bIns="0" rtlCol="0" anchor="t">
            <a:spAutoFit/>
          </a:bodyPr>
          <a:lstStyle/>
          <a:p>
            <a:pPr marL="0" indent="0" algn="l">
              <a:buNone/>
            </a:pPr>
            <a:r>
              <a:rPr lang="en-US" sz="750" dirty="0">
                <a:solidFill>
                  <a:srgbClr val="333333"/>
                </a:solidFill>
                <a:latin typeface="Arial" panose="020B0604020202020204" pitchFamily="34" charset="0"/>
                <a:ea typeface="Inter" pitchFamily="34" charset="-122"/>
                <a:cs typeface="Arial" panose="020B0604020202020204" pitchFamily="34" charset="0"/>
              </a:rPr>
              <a:t>Données SAV standard</a:t>
            </a:r>
            <a:endParaRPr lang="en-US" sz="750" dirty="0">
              <a:latin typeface="Arial" panose="020B0604020202020204" pitchFamily="34" charset="0"/>
              <a:cs typeface="Arial" panose="020B0604020202020204" pitchFamily="34" charset="0"/>
            </a:endParaRPr>
          </a:p>
        </p:txBody>
      </p:sp>
      <p:sp>
        <p:nvSpPr>
          <p:cNvPr id="42" name="Text 37"/>
          <p:cNvSpPr/>
          <p:nvPr/>
        </p:nvSpPr>
        <p:spPr>
          <a:xfrm>
            <a:off x="4817364" y="3527633"/>
            <a:ext cx="33664" cy="115416"/>
          </a:xfrm>
          <a:prstGeom prst="rect">
            <a:avLst/>
          </a:prstGeom>
          <a:noFill/>
          <a:ln/>
        </p:spPr>
        <p:txBody>
          <a:bodyPr wrap="non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43" name="Text 38"/>
          <p:cNvSpPr/>
          <p:nvPr/>
        </p:nvSpPr>
        <p:spPr>
          <a:xfrm>
            <a:off x="4819441" y="3674144"/>
            <a:ext cx="33664" cy="115416"/>
          </a:xfrm>
          <a:prstGeom prst="rect">
            <a:avLst/>
          </a:prstGeom>
          <a:noFill/>
          <a:ln/>
        </p:spPr>
        <p:txBody>
          <a:bodyPr wrap="non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44" name="Text 39"/>
          <p:cNvSpPr/>
          <p:nvPr/>
        </p:nvSpPr>
        <p:spPr>
          <a:xfrm>
            <a:off x="4818537" y="3823706"/>
            <a:ext cx="33664" cy="115416"/>
          </a:xfrm>
          <a:prstGeom prst="rect">
            <a:avLst/>
          </a:prstGeom>
          <a:noFill/>
          <a:ln/>
        </p:spPr>
        <p:txBody>
          <a:bodyPr wrap="non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45" name="Text 40"/>
          <p:cNvSpPr/>
          <p:nvPr/>
        </p:nvSpPr>
        <p:spPr>
          <a:xfrm>
            <a:off x="6788421" y="3542554"/>
            <a:ext cx="1835553" cy="115416"/>
          </a:xfrm>
          <a:prstGeom prst="rect">
            <a:avLst/>
          </a:prstGeom>
          <a:noFill/>
          <a:ln/>
        </p:spPr>
        <p:txBody>
          <a:bodyPr wrap="square" lIns="127508" tIns="0" rIns="0" bIns="0" rtlCol="0" anchor="t">
            <a:spAutoFit/>
          </a:bodyPr>
          <a:lstStyle/>
          <a:p>
            <a:pPr marL="0" indent="0" algn="l">
              <a:buNone/>
            </a:pPr>
            <a:r>
              <a:rPr lang="en-US" sz="750" dirty="0">
                <a:solidFill>
                  <a:srgbClr val="333333"/>
                </a:solidFill>
                <a:latin typeface="Arial" panose="020B0604020202020204" pitchFamily="34" charset="0"/>
                <a:ea typeface="Inter" pitchFamily="34" charset="-122"/>
                <a:cs typeface="Arial" panose="020B0604020202020204" pitchFamily="34" charset="0"/>
              </a:rPr>
              <a:t>Services connectés (Télémétrie)</a:t>
            </a:r>
            <a:endParaRPr lang="en-US" sz="750" dirty="0">
              <a:latin typeface="Arial" panose="020B0604020202020204" pitchFamily="34" charset="0"/>
              <a:cs typeface="Arial" panose="020B0604020202020204" pitchFamily="34" charset="0"/>
            </a:endParaRPr>
          </a:p>
        </p:txBody>
      </p:sp>
      <p:sp>
        <p:nvSpPr>
          <p:cNvPr id="46" name="Text 41"/>
          <p:cNvSpPr/>
          <p:nvPr/>
        </p:nvSpPr>
        <p:spPr>
          <a:xfrm>
            <a:off x="6788421" y="3692573"/>
            <a:ext cx="1835553" cy="115416"/>
          </a:xfrm>
          <a:prstGeom prst="rect">
            <a:avLst/>
          </a:prstGeom>
          <a:noFill/>
          <a:ln/>
        </p:spPr>
        <p:txBody>
          <a:bodyPr wrap="square" lIns="127508" tIns="0" rIns="0" bIns="0" rtlCol="0" anchor="t">
            <a:spAutoFit/>
          </a:bodyPr>
          <a:lstStyle/>
          <a:p>
            <a:pPr marL="0" indent="0" algn="l">
              <a:buNone/>
            </a:pPr>
            <a:r>
              <a:rPr lang="en-US" sz="750" dirty="0">
                <a:solidFill>
                  <a:srgbClr val="333333"/>
                </a:solidFill>
                <a:latin typeface="Arial" panose="020B0604020202020204" pitchFamily="34" charset="0"/>
                <a:ea typeface="Inter" pitchFamily="34" charset="-122"/>
                <a:cs typeface="Arial" panose="020B0604020202020204" pitchFamily="34" charset="0"/>
              </a:rPr>
              <a:t>Score de fidélité prédictif</a:t>
            </a:r>
            <a:endParaRPr lang="en-US" sz="750" dirty="0">
              <a:latin typeface="Arial" panose="020B0604020202020204" pitchFamily="34" charset="0"/>
              <a:cs typeface="Arial" panose="020B0604020202020204" pitchFamily="34" charset="0"/>
            </a:endParaRPr>
          </a:p>
        </p:txBody>
      </p:sp>
      <p:sp>
        <p:nvSpPr>
          <p:cNvPr id="47" name="Text 42"/>
          <p:cNvSpPr/>
          <p:nvPr/>
        </p:nvSpPr>
        <p:spPr>
          <a:xfrm>
            <a:off x="6788421" y="3842591"/>
            <a:ext cx="1835553" cy="115416"/>
          </a:xfrm>
          <a:prstGeom prst="rect">
            <a:avLst/>
          </a:prstGeom>
          <a:noFill/>
          <a:ln/>
        </p:spPr>
        <p:txBody>
          <a:bodyPr wrap="square" lIns="127508" tIns="0" rIns="0" bIns="0" rtlCol="0" anchor="t">
            <a:spAutoFit/>
          </a:bodyPr>
          <a:lstStyle/>
          <a:p>
            <a:pPr marL="0" indent="0" algn="l">
              <a:buNone/>
            </a:pPr>
            <a:r>
              <a:rPr lang="en-US" sz="750" dirty="0">
                <a:solidFill>
                  <a:srgbClr val="333333"/>
                </a:solidFill>
                <a:latin typeface="Arial" panose="020B0604020202020204" pitchFamily="34" charset="0"/>
                <a:ea typeface="Inter" pitchFamily="34" charset="-122"/>
                <a:cs typeface="Arial" panose="020B0604020202020204" pitchFamily="34" charset="0"/>
              </a:rPr>
              <a:t>Personnalisation après-vente</a:t>
            </a:r>
            <a:endParaRPr lang="en-US" sz="750" dirty="0">
              <a:latin typeface="Arial" panose="020B0604020202020204" pitchFamily="34" charset="0"/>
              <a:cs typeface="Arial" panose="020B0604020202020204" pitchFamily="34" charset="0"/>
            </a:endParaRPr>
          </a:p>
        </p:txBody>
      </p:sp>
      <p:sp>
        <p:nvSpPr>
          <p:cNvPr id="48" name="Text 43"/>
          <p:cNvSpPr/>
          <p:nvPr/>
        </p:nvSpPr>
        <p:spPr>
          <a:xfrm>
            <a:off x="6788421" y="3542554"/>
            <a:ext cx="33664" cy="115416"/>
          </a:xfrm>
          <a:prstGeom prst="rect">
            <a:avLst/>
          </a:prstGeom>
          <a:noFill/>
          <a:ln/>
        </p:spPr>
        <p:txBody>
          <a:bodyPr wrap="non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49" name="Text 44"/>
          <p:cNvSpPr/>
          <p:nvPr/>
        </p:nvSpPr>
        <p:spPr>
          <a:xfrm>
            <a:off x="6788421" y="3692573"/>
            <a:ext cx="33664" cy="115416"/>
          </a:xfrm>
          <a:prstGeom prst="rect">
            <a:avLst/>
          </a:prstGeom>
          <a:noFill/>
          <a:ln/>
        </p:spPr>
        <p:txBody>
          <a:bodyPr wrap="non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50" name="Text 45"/>
          <p:cNvSpPr/>
          <p:nvPr/>
        </p:nvSpPr>
        <p:spPr>
          <a:xfrm>
            <a:off x="6788421" y="3842591"/>
            <a:ext cx="33664" cy="115416"/>
          </a:xfrm>
          <a:prstGeom prst="rect">
            <a:avLst/>
          </a:prstGeom>
          <a:noFill/>
          <a:ln/>
        </p:spPr>
        <p:txBody>
          <a:bodyPr wrap="non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2" name="Shape 7"/>
          <p:cNvSpPr/>
          <p:nvPr/>
        </p:nvSpPr>
        <p:spPr>
          <a:xfrm>
            <a:off x="3356650" y="2230841"/>
            <a:ext cx="5357813" cy="258961"/>
          </a:xfrm>
          <a:prstGeom prst="rect">
            <a:avLst/>
          </a:prstGeom>
          <a:solidFill>
            <a:srgbClr val="F9F9F9"/>
          </a:solidFill>
          <a:ln/>
        </p:spPr>
      </p:sp>
      <p:sp>
        <p:nvSpPr>
          <p:cNvPr id="51" name="Text 8"/>
          <p:cNvSpPr/>
          <p:nvPr/>
        </p:nvSpPr>
        <p:spPr>
          <a:xfrm>
            <a:off x="3356650" y="2230841"/>
            <a:ext cx="736099" cy="287258"/>
          </a:xfrm>
          <a:prstGeom prst="rect">
            <a:avLst/>
          </a:prstGeom>
          <a:noFill/>
          <a:ln/>
        </p:spPr>
        <p:txBody>
          <a:bodyPr wrap="none" lIns="85090" tIns="85090" rIns="85090" bIns="85090" rtlCol="0" anchor="t">
            <a:spAutoFit/>
          </a:bodyPr>
          <a:lstStyle/>
          <a:p>
            <a:pPr marL="0" indent="0" algn="l">
              <a:buNone/>
            </a:pPr>
            <a:r>
              <a:rPr lang="en-US" sz="750" b="1" i="1" dirty="0">
                <a:solidFill>
                  <a:srgbClr val="0070C0"/>
                </a:solidFill>
                <a:latin typeface="Arial" panose="020B0604020202020204" pitchFamily="34" charset="0"/>
                <a:ea typeface="Inter Bold" pitchFamily="34" charset="-122"/>
                <a:cs typeface="Arial" panose="020B0604020202020204" pitchFamily="34" charset="0"/>
              </a:rPr>
              <a:t>Initialisation</a:t>
            </a:r>
            <a:endParaRPr lang="en-US" sz="750" dirty="0">
              <a:latin typeface="Arial" panose="020B0604020202020204" pitchFamily="34" charset="0"/>
              <a:cs typeface="Arial" panose="020B0604020202020204" pitchFamily="34" charset="0"/>
            </a:endParaRPr>
          </a:p>
        </p:txBody>
      </p:sp>
      <p:sp>
        <p:nvSpPr>
          <p:cNvPr id="52" name="Text 9"/>
          <p:cNvSpPr/>
          <p:nvPr/>
        </p:nvSpPr>
        <p:spPr>
          <a:xfrm>
            <a:off x="4859837" y="2316422"/>
            <a:ext cx="1147750" cy="115416"/>
          </a:xfrm>
          <a:prstGeom prst="rect">
            <a:avLst/>
          </a:prstGeom>
          <a:noFill/>
          <a:ln/>
        </p:spPr>
        <p:txBody>
          <a:bodyPr wrap="none" lIns="0" tIns="0" rIns="0" bIns="0" rtlCol="0" anchor="t">
            <a:spAutoFit/>
          </a:bodyPr>
          <a:lstStyle/>
          <a:p>
            <a:pPr marL="0" indent="0" algn="ctr">
              <a:buNone/>
            </a:pPr>
            <a:r>
              <a:rPr lang="en-US" sz="750" i="1" dirty="0">
                <a:solidFill>
                  <a:srgbClr val="333333"/>
                </a:solidFill>
                <a:latin typeface="Arial" panose="020B0604020202020204" pitchFamily="34" charset="0"/>
                <a:ea typeface="Inter" pitchFamily="34" charset="-122"/>
                <a:cs typeface="Arial" panose="020B0604020202020204" pitchFamily="34" charset="0"/>
              </a:rPr>
              <a:t>Acceptation obligatoire des</a:t>
            </a:r>
            <a:endParaRPr lang="en-US" sz="750" dirty="0">
              <a:latin typeface="Arial" panose="020B0604020202020204" pitchFamily="34" charset="0"/>
              <a:cs typeface="Arial" panose="020B0604020202020204" pitchFamily="34" charset="0"/>
            </a:endParaRPr>
          </a:p>
        </p:txBody>
      </p:sp>
      <p:sp>
        <p:nvSpPr>
          <p:cNvPr id="53" name="Text 10"/>
          <p:cNvSpPr/>
          <p:nvPr/>
        </p:nvSpPr>
        <p:spPr>
          <a:xfrm>
            <a:off x="6296091" y="2314570"/>
            <a:ext cx="373500" cy="115416"/>
          </a:xfrm>
          <a:prstGeom prst="rect">
            <a:avLst/>
          </a:prstGeom>
          <a:noFill/>
          <a:ln/>
        </p:spPr>
        <p:txBody>
          <a:bodyPr wrap="none" lIns="0" tIns="0" rIns="0" bIns="0" rtlCol="0" anchor="t">
            <a:spAutoFit/>
          </a:bodyPr>
          <a:lstStyle/>
          <a:p>
            <a:pPr marL="0" indent="0" algn="ctr">
              <a:buNone/>
            </a:pPr>
            <a:r>
              <a:rPr lang="en-US" sz="750" b="1" i="1" dirty="0">
                <a:solidFill>
                  <a:srgbClr val="333333"/>
                </a:solidFill>
                <a:latin typeface="Arial" panose="020B0604020202020204" pitchFamily="34" charset="0"/>
                <a:ea typeface="Inter Bold" pitchFamily="34" charset="-122"/>
                <a:cs typeface="Arial" panose="020B0604020202020204" pitchFamily="34" charset="0"/>
              </a:rPr>
              <a:t>Cookies</a:t>
            </a:r>
            <a:endParaRPr lang="en-US" sz="750" dirty="0">
              <a:latin typeface="Arial" panose="020B0604020202020204" pitchFamily="34" charset="0"/>
              <a:cs typeface="Arial" panose="020B0604020202020204" pitchFamily="34" charset="0"/>
            </a:endParaRPr>
          </a:p>
        </p:txBody>
      </p:sp>
      <p:sp>
        <p:nvSpPr>
          <p:cNvPr id="54" name="Text 11"/>
          <p:cNvSpPr/>
          <p:nvPr/>
        </p:nvSpPr>
        <p:spPr>
          <a:xfrm>
            <a:off x="6941976" y="2302279"/>
            <a:ext cx="767839" cy="115416"/>
          </a:xfrm>
          <a:prstGeom prst="rect">
            <a:avLst/>
          </a:prstGeom>
          <a:noFill/>
          <a:ln/>
        </p:spPr>
        <p:txBody>
          <a:bodyPr wrap="none" lIns="0" tIns="0" rIns="0" bIns="0" rtlCol="0" anchor="t">
            <a:spAutoFit/>
          </a:bodyPr>
          <a:lstStyle/>
          <a:p>
            <a:pPr marL="0" indent="0" algn="ctr">
              <a:buNone/>
            </a:pPr>
            <a:r>
              <a:rPr lang="en-US" sz="750" i="1" dirty="0">
                <a:solidFill>
                  <a:srgbClr val="333333"/>
                </a:solidFill>
                <a:latin typeface="Arial" panose="020B0604020202020204" pitchFamily="34" charset="0"/>
                <a:ea typeface="Inter" pitchFamily="34" charset="-122"/>
                <a:cs typeface="Arial" panose="020B0604020202020204" pitchFamily="34" charset="0"/>
              </a:rPr>
              <a:t>sur les deux sites.</a:t>
            </a:r>
            <a:endParaRPr lang="en-US" sz="750" dirty="0">
              <a:latin typeface="Arial" panose="020B0604020202020204" pitchFamily="34" charset="0"/>
              <a:cs typeface="Arial" panose="020B0604020202020204" pitchFamily="34" charset="0"/>
            </a:endParaRPr>
          </a:p>
        </p:txBody>
      </p:sp>
      <p:sp>
        <p:nvSpPr>
          <p:cNvPr id="65" name="Shape 12"/>
          <p:cNvSpPr/>
          <p:nvPr/>
        </p:nvSpPr>
        <p:spPr>
          <a:xfrm>
            <a:off x="3358534" y="2496490"/>
            <a:ext cx="5357813" cy="262533"/>
          </a:xfrm>
          <a:prstGeom prst="rect">
            <a:avLst/>
          </a:prstGeom>
          <a:solidFill>
            <a:srgbClr val="F9F9F9"/>
          </a:solidFill>
          <a:ln/>
        </p:spPr>
      </p:sp>
      <p:sp>
        <p:nvSpPr>
          <p:cNvPr id="66" name="Text 13"/>
          <p:cNvSpPr/>
          <p:nvPr/>
        </p:nvSpPr>
        <p:spPr>
          <a:xfrm>
            <a:off x="3358534" y="2496490"/>
            <a:ext cx="878767" cy="287258"/>
          </a:xfrm>
          <a:prstGeom prst="rect">
            <a:avLst/>
          </a:prstGeom>
          <a:noFill/>
          <a:ln/>
        </p:spPr>
        <p:txBody>
          <a:bodyPr wrap="none" lIns="85090" tIns="85090" rIns="85090" bIns="85090" rtlCol="0" anchor="t">
            <a:spAutoFit/>
          </a:bodyPr>
          <a:lstStyle/>
          <a:p>
            <a:pPr marL="0" indent="0" algn="l">
              <a:buNone/>
            </a:pPr>
            <a:r>
              <a:rPr lang="en-US" sz="750" b="1" i="1" dirty="0">
                <a:solidFill>
                  <a:srgbClr val="0070C0"/>
                </a:solidFill>
                <a:latin typeface="Arial" panose="020B0604020202020204" pitchFamily="34" charset="0"/>
                <a:ea typeface="Inter Bold" pitchFamily="34" charset="-122"/>
                <a:cs typeface="Arial" panose="020B0604020202020204" pitchFamily="34" charset="0"/>
              </a:rPr>
              <a:t>Collecte Initiale</a:t>
            </a:r>
            <a:endParaRPr lang="en-US" sz="750" dirty="0">
              <a:latin typeface="Arial" panose="020B0604020202020204" pitchFamily="34" charset="0"/>
              <a:cs typeface="Arial" panose="020B0604020202020204" pitchFamily="34" charset="0"/>
            </a:endParaRPr>
          </a:p>
        </p:txBody>
      </p:sp>
      <p:sp>
        <p:nvSpPr>
          <p:cNvPr id="67" name="Text 14"/>
          <p:cNvSpPr/>
          <p:nvPr/>
        </p:nvSpPr>
        <p:spPr>
          <a:xfrm>
            <a:off x="4818537" y="2571500"/>
            <a:ext cx="2709267" cy="115416"/>
          </a:xfrm>
          <a:prstGeom prst="rect">
            <a:avLst/>
          </a:prstGeom>
          <a:noFill/>
          <a:ln/>
        </p:spPr>
        <p:txBody>
          <a:bodyPr wrap="square" lIns="0" tIns="0" rIns="0" bIns="0" rtlCol="0" anchor="t">
            <a:spAutoFit/>
          </a:bodyPr>
          <a:lstStyle/>
          <a:p>
            <a:pPr marL="0" indent="0" algn="ctr">
              <a:buNone/>
            </a:pPr>
            <a:r>
              <a:rPr lang="en-US" sz="750" i="1" dirty="0">
                <a:solidFill>
                  <a:srgbClr val="333333"/>
                </a:solidFill>
                <a:latin typeface="Arial" panose="020B0604020202020204" pitchFamily="34" charset="0"/>
                <a:ea typeface="Inter" pitchFamily="34" charset="-122"/>
                <a:cs typeface="Arial" panose="020B0604020202020204" pitchFamily="34" charset="0"/>
              </a:rPr>
              <a:t>Nom, Prénom, Email + Consentement (Opt-in) pour offres via</a:t>
            </a:r>
            <a:endParaRPr lang="en-US" sz="750" dirty="0">
              <a:latin typeface="Arial" panose="020B0604020202020204" pitchFamily="34" charset="0"/>
              <a:cs typeface="Arial" panose="020B0604020202020204" pitchFamily="34" charset="0"/>
            </a:endParaRPr>
          </a:p>
        </p:txBody>
      </p:sp>
      <p:sp>
        <p:nvSpPr>
          <p:cNvPr id="68" name="Text 15"/>
          <p:cNvSpPr/>
          <p:nvPr/>
        </p:nvSpPr>
        <p:spPr>
          <a:xfrm>
            <a:off x="7513143" y="2571500"/>
            <a:ext cx="713337" cy="115416"/>
          </a:xfrm>
          <a:prstGeom prst="rect">
            <a:avLst/>
          </a:prstGeom>
          <a:noFill/>
          <a:ln/>
        </p:spPr>
        <p:txBody>
          <a:bodyPr wrap="none" lIns="0" tIns="0" rIns="0" bIns="0" rtlCol="0" anchor="t">
            <a:spAutoFit/>
          </a:bodyPr>
          <a:lstStyle/>
          <a:p>
            <a:pPr marL="0" indent="0" algn="ctr">
              <a:buNone/>
            </a:pPr>
            <a:r>
              <a:rPr lang="en-US" sz="750" b="1" i="1" dirty="0">
                <a:solidFill>
                  <a:srgbClr val="333333"/>
                </a:solidFill>
                <a:latin typeface="Arial" panose="020B0604020202020204" pitchFamily="34" charset="0"/>
                <a:ea typeface="Inter Bold" pitchFamily="34" charset="-122"/>
                <a:cs typeface="Arial" panose="020B0604020202020204" pitchFamily="34" charset="0"/>
              </a:rPr>
              <a:t>Tel, Email, SMS</a:t>
            </a:r>
            <a:endParaRPr lang="en-US" sz="750" dirty="0">
              <a:latin typeface="Arial" panose="020B0604020202020204" pitchFamily="34" charset="0"/>
              <a:cs typeface="Arial" panose="020B0604020202020204" pitchFamily="34" charset="0"/>
            </a:endParaRPr>
          </a:p>
        </p:txBody>
      </p:sp>
      <p:sp>
        <p:nvSpPr>
          <p:cNvPr id="70" name="Text 17"/>
          <p:cNvSpPr/>
          <p:nvPr/>
        </p:nvSpPr>
        <p:spPr>
          <a:xfrm>
            <a:off x="3337600" y="2828535"/>
            <a:ext cx="1189749" cy="287258"/>
          </a:xfrm>
          <a:prstGeom prst="rect">
            <a:avLst/>
          </a:prstGeom>
          <a:noFill/>
          <a:ln/>
        </p:spPr>
        <p:txBody>
          <a:bodyPr wrap="none" lIns="85090" tIns="85090" rIns="85090" bIns="85090" rtlCol="0" anchor="t">
            <a:spAutoFit/>
          </a:bodyPr>
          <a:lstStyle/>
          <a:p>
            <a:r>
              <a:rPr lang="en-US" sz="750" b="1" dirty="0">
                <a:solidFill>
                  <a:srgbClr val="0070C0"/>
                </a:solidFill>
                <a:latin typeface="Arial" panose="020B0604020202020204" pitchFamily="34" charset="0"/>
                <a:ea typeface="Inter Bold" pitchFamily="34" charset="-122"/>
                <a:cs typeface="Arial" panose="020B0604020202020204" pitchFamily="34" charset="0"/>
              </a:rPr>
              <a:t>MOFU : </a:t>
            </a:r>
            <a:r>
              <a:rPr lang="en-US" sz="750" b="1" dirty="0" err="1">
                <a:solidFill>
                  <a:srgbClr val="0070C0"/>
                </a:solidFill>
                <a:latin typeface="Arial" panose="020B0604020202020204" pitchFamily="34" charset="0"/>
                <a:ea typeface="Inter Bold" pitchFamily="34" charset="-122"/>
                <a:cs typeface="Arial" panose="020B0604020202020204" pitchFamily="34" charset="0"/>
              </a:rPr>
              <a:t>Considération</a:t>
            </a:r>
            <a:endParaRPr lang="en-US" sz="750" b="1" dirty="0">
              <a:solidFill>
                <a:srgbClr val="0070C0"/>
              </a:solidFill>
              <a:latin typeface="Arial" panose="020B0604020202020204" pitchFamily="34" charset="0"/>
              <a:ea typeface="Inter Bold" pitchFamily="34" charset="-122"/>
              <a:cs typeface="Arial" panose="020B0604020202020204" pitchFamily="34" charset="0"/>
            </a:endParaRPr>
          </a:p>
        </p:txBody>
      </p:sp>
      <p:sp>
        <p:nvSpPr>
          <p:cNvPr id="71" name="Text 18"/>
          <p:cNvSpPr/>
          <p:nvPr/>
        </p:nvSpPr>
        <p:spPr>
          <a:xfrm>
            <a:off x="4797731" y="2903544"/>
            <a:ext cx="2044871" cy="115416"/>
          </a:xfrm>
          <a:prstGeom prst="rect">
            <a:avLst/>
          </a:prstGeom>
          <a:noFill/>
          <a:ln/>
        </p:spPr>
        <p:txBody>
          <a:bodyPr wrap="square" lIns="127508" tIns="0" rIns="0" bIns="0" rtlCol="0" anchor="t">
            <a:spAutoFit/>
          </a:bodyPr>
          <a:lstStyle/>
          <a:p>
            <a:pPr marL="0" indent="0" algn="l">
              <a:buNone/>
            </a:pPr>
            <a:r>
              <a:rPr lang="en-US" sz="750" dirty="0">
                <a:solidFill>
                  <a:srgbClr val="333333"/>
                </a:solidFill>
                <a:latin typeface="Arial" panose="020B0604020202020204" pitchFamily="34" charset="0"/>
                <a:ea typeface="Inter" pitchFamily="34" charset="-122"/>
                <a:cs typeface="Arial" panose="020B0604020202020204" pitchFamily="34" charset="0"/>
              </a:rPr>
              <a:t>Processus </a:t>
            </a:r>
            <a:r>
              <a:rPr lang="en-US" sz="750" b="1" dirty="0">
                <a:solidFill>
                  <a:srgbClr val="333333"/>
                </a:solidFill>
                <a:latin typeface="Arial" panose="020B0604020202020204" pitchFamily="34" charset="0"/>
                <a:ea typeface="Inter Bold" pitchFamily="34" charset="-122"/>
                <a:cs typeface="Arial" panose="020B0604020202020204" pitchFamily="34" charset="0"/>
              </a:rPr>
              <a:t>facile et évident</a:t>
            </a:r>
            <a:r>
              <a:rPr lang="en-US" sz="750" dirty="0">
                <a:solidFill>
                  <a:srgbClr val="333333"/>
                </a:solidFill>
                <a:latin typeface="Arial" panose="020B0604020202020204" pitchFamily="34" charset="0"/>
                <a:ea typeface="Inter"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72" name="Text 19"/>
          <p:cNvSpPr/>
          <p:nvPr/>
        </p:nvSpPr>
        <p:spPr>
          <a:xfrm>
            <a:off x="4797731" y="3044633"/>
            <a:ext cx="2044871" cy="115416"/>
          </a:xfrm>
          <a:prstGeom prst="rect">
            <a:avLst/>
          </a:prstGeom>
          <a:noFill/>
          <a:ln/>
        </p:spPr>
        <p:txBody>
          <a:bodyPr wrap="square" lIns="127508" tIns="0" rIns="0" bIns="0" rtlCol="0" anchor="t">
            <a:spAutoFit/>
          </a:bodyPr>
          <a:lstStyle/>
          <a:p>
            <a:pPr marL="0" indent="0" algn="l">
              <a:buNone/>
            </a:pPr>
            <a:r>
              <a:rPr lang="en-US" sz="750" dirty="0">
                <a:solidFill>
                  <a:srgbClr val="333333"/>
                </a:solidFill>
                <a:latin typeface="Arial" panose="020B0604020202020204" pitchFamily="34" charset="0"/>
                <a:ea typeface="Inter" pitchFamily="34" charset="-122"/>
                <a:cs typeface="Arial" panose="020B0604020202020204" pitchFamily="34" charset="0"/>
              </a:rPr>
              <a:t>Choix minimum ou logique.</a:t>
            </a:r>
            <a:endParaRPr lang="en-US" sz="750" dirty="0">
              <a:latin typeface="Arial" panose="020B0604020202020204" pitchFamily="34" charset="0"/>
              <a:cs typeface="Arial" panose="020B0604020202020204" pitchFamily="34" charset="0"/>
            </a:endParaRPr>
          </a:p>
        </p:txBody>
      </p:sp>
      <p:sp>
        <p:nvSpPr>
          <p:cNvPr id="73" name="Text 20"/>
          <p:cNvSpPr/>
          <p:nvPr/>
        </p:nvSpPr>
        <p:spPr>
          <a:xfrm>
            <a:off x="4797731" y="3185722"/>
            <a:ext cx="2044871" cy="115416"/>
          </a:xfrm>
          <a:prstGeom prst="rect">
            <a:avLst/>
          </a:prstGeom>
          <a:noFill/>
          <a:ln/>
        </p:spPr>
        <p:txBody>
          <a:bodyPr wrap="square" lIns="127508" tIns="0" rIns="0" bIns="0" rtlCol="0" anchor="t">
            <a:spAutoFit/>
          </a:bodyPr>
          <a:lstStyle/>
          <a:p>
            <a:pPr marL="0" indent="0" algn="l">
              <a:buNone/>
            </a:pPr>
            <a:r>
              <a:rPr lang="en-US" sz="750" dirty="0">
                <a:solidFill>
                  <a:srgbClr val="333333"/>
                </a:solidFill>
                <a:latin typeface="Arial" panose="020B0604020202020204" pitchFamily="34" charset="0"/>
                <a:ea typeface="Inter" pitchFamily="34" charset="-122"/>
                <a:cs typeface="Arial" panose="020B0604020202020204" pitchFamily="34" charset="0"/>
              </a:rPr>
              <a:t>Données de configuration simples.</a:t>
            </a:r>
            <a:endParaRPr lang="en-US" sz="750" dirty="0">
              <a:latin typeface="Arial" panose="020B0604020202020204" pitchFamily="34" charset="0"/>
              <a:cs typeface="Arial" panose="020B0604020202020204" pitchFamily="34" charset="0"/>
            </a:endParaRPr>
          </a:p>
        </p:txBody>
      </p:sp>
      <p:sp>
        <p:nvSpPr>
          <p:cNvPr id="74" name="Text 21"/>
          <p:cNvSpPr/>
          <p:nvPr/>
        </p:nvSpPr>
        <p:spPr>
          <a:xfrm>
            <a:off x="4797731" y="2903544"/>
            <a:ext cx="33664" cy="115416"/>
          </a:xfrm>
          <a:prstGeom prst="rect">
            <a:avLst/>
          </a:prstGeom>
          <a:noFill/>
          <a:ln/>
        </p:spPr>
        <p:txBody>
          <a:bodyPr wrap="non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75" name="Text 22"/>
          <p:cNvSpPr/>
          <p:nvPr/>
        </p:nvSpPr>
        <p:spPr>
          <a:xfrm>
            <a:off x="4797731" y="3044633"/>
            <a:ext cx="33664" cy="115416"/>
          </a:xfrm>
          <a:prstGeom prst="rect">
            <a:avLst/>
          </a:prstGeom>
          <a:noFill/>
          <a:ln/>
        </p:spPr>
        <p:txBody>
          <a:bodyPr wrap="non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76" name="Text 23"/>
          <p:cNvSpPr/>
          <p:nvPr/>
        </p:nvSpPr>
        <p:spPr>
          <a:xfrm>
            <a:off x="4797731" y="3185722"/>
            <a:ext cx="33664" cy="115416"/>
          </a:xfrm>
          <a:prstGeom prst="rect">
            <a:avLst/>
          </a:prstGeom>
          <a:noFill/>
          <a:ln/>
        </p:spPr>
        <p:txBody>
          <a:bodyPr wrap="non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77" name="Text 24"/>
          <p:cNvSpPr/>
          <p:nvPr/>
        </p:nvSpPr>
        <p:spPr>
          <a:xfrm>
            <a:off x="6782276" y="2903544"/>
            <a:ext cx="2044898" cy="115416"/>
          </a:xfrm>
          <a:prstGeom prst="rect">
            <a:avLst/>
          </a:prstGeom>
          <a:noFill/>
          <a:ln/>
        </p:spPr>
        <p:txBody>
          <a:bodyPr wrap="square" lIns="127508" tIns="0" rIns="0" bIns="0" rtlCol="0" anchor="t">
            <a:spAutoFit/>
          </a:bodyPr>
          <a:lstStyle/>
          <a:p>
            <a:pPr marL="0" indent="0" algn="l">
              <a:buNone/>
            </a:pPr>
            <a:r>
              <a:rPr lang="en-US" sz="750" dirty="0">
                <a:solidFill>
                  <a:srgbClr val="333333"/>
                </a:solidFill>
                <a:latin typeface="Arial" panose="020B0604020202020204" pitchFamily="34" charset="0"/>
                <a:ea typeface="Inter" pitchFamily="34" charset="-122"/>
                <a:cs typeface="Arial" panose="020B0604020202020204" pitchFamily="34" charset="0"/>
              </a:rPr>
              <a:t>Expérience </a:t>
            </a:r>
            <a:r>
              <a:rPr lang="en-US" sz="750" b="1" dirty="0">
                <a:solidFill>
                  <a:srgbClr val="333333"/>
                </a:solidFill>
                <a:latin typeface="Arial" panose="020B0604020202020204" pitchFamily="34" charset="0"/>
                <a:ea typeface="Inter Bold" pitchFamily="34" charset="-122"/>
                <a:cs typeface="Arial" panose="020B0604020202020204" pitchFamily="34" charset="0"/>
              </a:rPr>
              <a:t>ultra-personnalisée</a:t>
            </a:r>
            <a:r>
              <a:rPr lang="en-US" sz="750" dirty="0">
                <a:solidFill>
                  <a:srgbClr val="333333"/>
                </a:solidFill>
                <a:latin typeface="Arial" panose="020B0604020202020204" pitchFamily="34" charset="0"/>
                <a:ea typeface="Inter"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78" name="Text 25"/>
          <p:cNvSpPr/>
          <p:nvPr/>
        </p:nvSpPr>
        <p:spPr>
          <a:xfrm>
            <a:off x="6782276" y="3044633"/>
            <a:ext cx="2044898" cy="115416"/>
          </a:xfrm>
          <a:prstGeom prst="rect">
            <a:avLst/>
          </a:prstGeom>
          <a:noFill/>
          <a:ln/>
        </p:spPr>
        <p:txBody>
          <a:bodyPr wrap="square" lIns="127508" tIns="0" rIns="0" bIns="0" rtlCol="0" anchor="t">
            <a:spAutoFit/>
          </a:bodyPr>
          <a:lstStyle/>
          <a:p>
            <a:pPr marL="0" indent="0" algn="l">
              <a:buNone/>
            </a:pPr>
            <a:r>
              <a:rPr lang="en-US" sz="750" dirty="0">
                <a:solidFill>
                  <a:srgbClr val="333333"/>
                </a:solidFill>
                <a:latin typeface="Arial" panose="020B0604020202020204" pitchFamily="34" charset="0"/>
                <a:ea typeface="Inter" pitchFamily="34" charset="-122"/>
                <a:cs typeface="Arial" panose="020B0604020202020204" pitchFamily="34" charset="0"/>
              </a:rPr>
              <a:t>Nombreuses options et styles.</a:t>
            </a:r>
            <a:endParaRPr lang="en-US" sz="750" dirty="0">
              <a:latin typeface="Arial" panose="020B0604020202020204" pitchFamily="34" charset="0"/>
              <a:cs typeface="Arial" panose="020B0604020202020204" pitchFamily="34" charset="0"/>
            </a:endParaRPr>
          </a:p>
        </p:txBody>
      </p:sp>
      <p:sp>
        <p:nvSpPr>
          <p:cNvPr id="79" name="Text 26"/>
          <p:cNvSpPr/>
          <p:nvPr/>
        </p:nvSpPr>
        <p:spPr>
          <a:xfrm>
            <a:off x="6782276" y="3185722"/>
            <a:ext cx="2044898" cy="115416"/>
          </a:xfrm>
          <a:prstGeom prst="rect">
            <a:avLst/>
          </a:prstGeom>
          <a:noFill/>
          <a:ln/>
        </p:spPr>
        <p:txBody>
          <a:bodyPr wrap="square" lIns="127508" tIns="0" rIns="0" bIns="0" rtlCol="0" anchor="t">
            <a:spAutoFit/>
          </a:bodyPr>
          <a:lstStyle/>
          <a:p>
            <a:pPr marL="0" indent="0" algn="l">
              <a:buNone/>
            </a:pPr>
            <a:r>
              <a:rPr lang="en-US" sz="750" dirty="0">
                <a:solidFill>
                  <a:srgbClr val="333333"/>
                </a:solidFill>
                <a:latin typeface="Arial" panose="020B0604020202020204" pitchFamily="34" charset="0"/>
                <a:ea typeface="Inter" pitchFamily="34" charset="-122"/>
                <a:cs typeface="Arial" panose="020B0604020202020204" pitchFamily="34" charset="0"/>
              </a:rPr>
              <a:t>Données de préférences riches.</a:t>
            </a:r>
            <a:endParaRPr lang="en-US" sz="750" dirty="0">
              <a:latin typeface="Arial" panose="020B0604020202020204" pitchFamily="34" charset="0"/>
              <a:cs typeface="Arial" panose="020B0604020202020204" pitchFamily="34" charset="0"/>
            </a:endParaRPr>
          </a:p>
        </p:txBody>
      </p:sp>
      <p:sp>
        <p:nvSpPr>
          <p:cNvPr id="80" name="Text 27"/>
          <p:cNvSpPr/>
          <p:nvPr/>
        </p:nvSpPr>
        <p:spPr>
          <a:xfrm>
            <a:off x="6782276" y="2903544"/>
            <a:ext cx="33664" cy="115416"/>
          </a:xfrm>
          <a:prstGeom prst="rect">
            <a:avLst/>
          </a:prstGeom>
          <a:noFill/>
          <a:ln/>
        </p:spPr>
        <p:txBody>
          <a:bodyPr wrap="non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81" name="Text 28"/>
          <p:cNvSpPr/>
          <p:nvPr/>
        </p:nvSpPr>
        <p:spPr>
          <a:xfrm>
            <a:off x="6782276" y="3044633"/>
            <a:ext cx="33664" cy="115416"/>
          </a:xfrm>
          <a:prstGeom prst="rect">
            <a:avLst/>
          </a:prstGeom>
          <a:noFill/>
          <a:ln/>
        </p:spPr>
        <p:txBody>
          <a:bodyPr wrap="non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82" name="Text 29"/>
          <p:cNvSpPr/>
          <p:nvPr/>
        </p:nvSpPr>
        <p:spPr>
          <a:xfrm>
            <a:off x="6782276" y="3185722"/>
            <a:ext cx="33664" cy="115416"/>
          </a:xfrm>
          <a:prstGeom prst="rect">
            <a:avLst/>
          </a:prstGeom>
          <a:noFill/>
          <a:ln/>
        </p:spPr>
        <p:txBody>
          <a:bodyPr wrap="non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84" name="ZoneTexte 83">
            <a:extLst>
              <a:ext uri="{FF2B5EF4-FFF2-40B4-BE49-F238E27FC236}">
                <a16:creationId xmlns:a16="http://schemas.microsoft.com/office/drawing/2014/main" id="{C924B0AB-1B9F-A328-4C1F-D204F4744066}"/>
              </a:ext>
            </a:extLst>
          </p:cNvPr>
          <p:cNvSpPr txBox="1"/>
          <p:nvPr/>
        </p:nvSpPr>
        <p:spPr>
          <a:xfrm>
            <a:off x="4844425" y="3353185"/>
            <a:ext cx="1382918" cy="207749"/>
          </a:xfrm>
          <a:prstGeom prst="rect">
            <a:avLst/>
          </a:prstGeom>
          <a:noFill/>
        </p:spPr>
        <p:txBody>
          <a:bodyPr wrap="square">
            <a:spAutoFit/>
          </a:bodyPr>
          <a:lstStyle/>
          <a:p>
            <a:pPr marL="0" indent="0" algn="l">
              <a:buNone/>
            </a:pPr>
            <a:r>
              <a:rPr lang="en-US" sz="750" dirty="0">
                <a:solidFill>
                  <a:srgbClr val="333333"/>
                </a:solidFill>
                <a:latin typeface="Inter" pitchFamily="34" charset="0"/>
                <a:ea typeface="Inter" pitchFamily="34" charset="-122"/>
                <a:cs typeface="Inter" pitchFamily="34" charset="-120"/>
              </a:rPr>
              <a:t>Choix du </a:t>
            </a:r>
            <a:r>
              <a:rPr lang="en-US" sz="750" dirty="0" err="1">
                <a:solidFill>
                  <a:srgbClr val="333333"/>
                </a:solidFill>
                <a:latin typeface="Inter" pitchFamily="34" charset="0"/>
                <a:ea typeface="Inter" pitchFamily="34" charset="-122"/>
                <a:cs typeface="Inter" pitchFamily="34" charset="-120"/>
              </a:rPr>
              <a:t>concessionnaire</a:t>
            </a:r>
            <a:r>
              <a:rPr lang="en-US" sz="750" dirty="0">
                <a:solidFill>
                  <a:srgbClr val="333333"/>
                </a:solidFill>
                <a:latin typeface="Inter" pitchFamily="34" charset="0"/>
                <a:ea typeface="Inter" pitchFamily="34" charset="-122"/>
                <a:cs typeface="Inter" pitchFamily="34" charset="-120"/>
              </a:rPr>
              <a:t>.</a:t>
            </a:r>
            <a:endParaRPr lang="en-US" sz="750" dirty="0"/>
          </a:p>
        </p:txBody>
      </p:sp>
      <p:sp>
        <p:nvSpPr>
          <p:cNvPr id="85" name="ZoneTexte 84">
            <a:extLst>
              <a:ext uri="{FF2B5EF4-FFF2-40B4-BE49-F238E27FC236}">
                <a16:creationId xmlns:a16="http://schemas.microsoft.com/office/drawing/2014/main" id="{1A0BDDA7-78A7-9B67-75B8-3C89821C7987}"/>
              </a:ext>
            </a:extLst>
          </p:cNvPr>
          <p:cNvSpPr txBox="1"/>
          <p:nvPr/>
        </p:nvSpPr>
        <p:spPr>
          <a:xfrm>
            <a:off x="6820480" y="3369562"/>
            <a:ext cx="1532031" cy="207749"/>
          </a:xfrm>
          <a:prstGeom prst="rect">
            <a:avLst/>
          </a:prstGeom>
          <a:noFill/>
        </p:spPr>
        <p:txBody>
          <a:bodyPr wrap="square">
            <a:spAutoFit/>
          </a:bodyPr>
          <a:lstStyle/>
          <a:p>
            <a:pPr marL="0" indent="0" algn="l">
              <a:buNone/>
            </a:pPr>
            <a:r>
              <a:rPr lang="en-US" sz="750" dirty="0">
                <a:solidFill>
                  <a:srgbClr val="333333"/>
                </a:solidFill>
                <a:latin typeface="Inter" pitchFamily="34" charset="0"/>
                <a:ea typeface="Inter" pitchFamily="34" charset="-122"/>
                <a:cs typeface="Inter" pitchFamily="34" charset="-120"/>
              </a:rPr>
              <a:t>Choix du </a:t>
            </a:r>
            <a:r>
              <a:rPr lang="en-US" sz="750" dirty="0" err="1">
                <a:solidFill>
                  <a:srgbClr val="333333"/>
                </a:solidFill>
                <a:latin typeface="Inter" pitchFamily="34" charset="0"/>
                <a:ea typeface="Inter" pitchFamily="34" charset="-122"/>
                <a:cs typeface="Inter" pitchFamily="34" charset="-120"/>
              </a:rPr>
              <a:t>concessionnaire</a:t>
            </a:r>
            <a:r>
              <a:rPr lang="en-US" sz="750" dirty="0">
                <a:solidFill>
                  <a:srgbClr val="333333"/>
                </a:solidFill>
                <a:latin typeface="Inter" pitchFamily="34" charset="0"/>
                <a:ea typeface="Inter" pitchFamily="34" charset="-122"/>
                <a:cs typeface="Inter" pitchFamily="34" charset="-120"/>
              </a:rPr>
              <a:t>.</a:t>
            </a:r>
            <a:endParaRPr lang="en-US" sz="750" dirty="0"/>
          </a:p>
        </p:txBody>
      </p:sp>
      <p:sp>
        <p:nvSpPr>
          <p:cNvPr id="87" name="Text 45">
            <a:extLst>
              <a:ext uri="{FF2B5EF4-FFF2-40B4-BE49-F238E27FC236}">
                <a16:creationId xmlns:a16="http://schemas.microsoft.com/office/drawing/2014/main" id="{121C39BE-0E78-BAAE-6431-BD835DD82481}"/>
              </a:ext>
            </a:extLst>
          </p:cNvPr>
          <p:cNvSpPr/>
          <p:nvPr/>
        </p:nvSpPr>
        <p:spPr>
          <a:xfrm>
            <a:off x="6792293" y="3423423"/>
            <a:ext cx="33664" cy="115416"/>
          </a:xfrm>
          <a:prstGeom prst="rect">
            <a:avLst/>
          </a:prstGeom>
          <a:noFill/>
          <a:ln/>
        </p:spPr>
        <p:txBody>
          <a:bodyPr wrap="non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88" name="Text 45">
            <a:extLst>
              <a:ext uri="{FF2B5EF4-FFF2-40B4-BE49-F238E27FC236}">
                <a16:creationId xmlns:a16="http://schemas.microsoft.com/office/drawing/2014/main" id="{5F123677-7288-4D3A-229C-1EEA62F506C4}"/>
              </a:ext>
            </a:extLst>
          </p:cNvPr>
          <p:cNvSpPr/>
          <p:nvPr/>
        </p:nvSpPr>
        <p:spPr>
          <a:xfrm>
            <a:off x="4818601" y="3413251"/>
            <a:ext cx="32060" cy="115416"/>
          </a:xfrm>
          <a:prstGeom prst="rect">
            <a:avLst/>
          </a:prstGeom>
          <a:noFill/>
          <a:ln/>
        </p:spPr>
        <p:txBody>
          <a:bodyPr wrap="square" lIns="0" tIns="0" rIns="0" bIns="0" rtlCol="0" anchor="t">
            <a:spAutoFit/>
          </a:bodyPr>
          <a:lstStyle/>
          <a:p>
            <a:pPr marL="0" indent="0" algn="l">
              <a:buNone/>
            </a:pPr>
            <a:r>
              <a:rPr lang="en-US" sz="750" b="1" dirty="0">
                <a:solidFill>
                  <a:srgbClr val="FFC000"/>
                </a:solidFill>
                <a:latin typeface="Arial" panose="020B0604020202020204" pitchFamily="34" charset="0"/>
                <a:ea typeface="Inter Bold" pitchFamily="34" charset="-122"/>
                <a:cs typeface="Arial" panose="020B0604020202020204" pitchFamily="34" charset="0"/>
              </a:rPr>
              <a:t>•</a:t>
            </a:r>
            <a:endParaRPr lang="en-US" sz="750" dirty="0">
              <a:latin typeface="Arial" panose="020B0604020202020204" pitchFamily="34" charset="0"/>
              <a:cs typeface="Arial" panose="020B0604020202020204" pitchFamily="34" charset="0"/>
            </a:endParaRPr>
          </a:p>
        </p:txBody>
      </p:sp>
      <p:sp>
        <p:nvSpPr>
          <p:cNvPr id="89" name="Text 0">
            <a:extLst>
              <a:ext uri="{FF2B5EF4-FFF2-40B4-BE49-F238E27FC236}">
                <a16:creationId xmlns:a16="http://schemas.microsoft.com/office/drawing/2014/main" id="{56A85E75-97D5-BEE7-F74C-C03C611E5587}"/>
              </a:ext>
            </a:extLst>
          </p:cNvPr>
          <p:cNvSpPr/>
          <p:nvPr/>
        </p:nvSpPr>
        <p:spPr>
          <a:xfrm>
            <a:off x="26712" y="143460"/>
            <a:ext cx="6918402" cy="246221"/>
          </a:xfrm>
          <a:prstGeom prst="rect">
            <a:avLst/>
          </a:prstGeom>
          <a:noFill/>
          <a:ln/>
        </p:spPr>
        <p:txBody>
          <a:bodyPr wrap="square" lIns="0" tIns="0" rIns="0" bIns="0" rtlCol="0" anchor="t">
            <a:spAutoFit/>
          </a:bodyPr>
          <a:lstStyle/>
          <a:p>
            <a:pPr algn="ctr"/>
            <a:r>
              <a:rPr lang="fr-FR" sz="1600" b="1" dirty="0">
                <a:solidFill>
                  <a:srgbClr val="002060"/>
                </a:solidFill>
                <a:latin typeface="Arial" panose="020B0604020202020204" pitchFamily="34" charset="0"/>
                <a:cs typeface="Arial" panose="020B0604020202020204" pitchFamily="34" charset="0"/>
              </a:rPr>
              <a:t>3. </a:t>
            </a:r>
            <a:r>
              <a:rPr lang="fr-FR" sz="1600" b="1" dirty="0">
                <a:solidFill>
                  <a:srgbClr val="002060"/>
                </a:solidFill>
                <a:latin typeface="Arial" panose="020B0604020202020204" pitchFamily="34" charset="0"/>
                <a:ea typeface="Space Grotesk Bold" pitchFamily="34" charset="-122"/>
                <a:cs typeface="Arial" panose="020B0604020202020204" pitchFamily="34" charset="0"/>
              </a:rPr>
              <a:t>Données collectées et analyse du parcours client : Renault vs BMW</a:t>
            </a:r>
            <a:endParaRPr lang="en-US" sz="1600" b="1" dirty="0">
              <a:solidFill>
                <a:srgbClr val="002060"/>
              </a:solidFill>
              <a:latin typeface="Arial" panose="020B0604020202020204" pitchFamily="34" charset="0"/>
              <a:ea typeface="Space Grotesk Bold" pitchFamily="34" charset="-122"/>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4" name="Text 0"/>
          <p:cNvSpPr/>
          <p:nvPr/>
        </p:nvSpPr>
        <p:spPr>
          <a:xfrm>
            <a:off x="1" y="145726"/>
            <a:ext cx="3995530" cy="246221"/>
          </a:xfrm>
          <a:prstGeom prst="rect">
            <a:avLst/>
          </a:prstGeom>
          <a:noFill/>
          <a:ln/>
        </p:spPr>
        <p:txBody>
          <a:bodyPr wrap="square" lIns="0" tIns="0" rIns="0" bIns="0" rtlCol="0" anchor="t">
            <a:spAutoFit/>
          </a:bodyPr>
          <a:lstStyle/>
          <a:p>
            <a:pPr marL="0" indent="0" algn="ctr">
              <a:buNone/>
            </a:pPr>
            <a:r>
              <a:rPr lang="en-US" sz="1600" b="1" dirty="0">
                <a:solidFill>
                  <a:srgbClr val="002060"/>
                </a:solidFill>
                <a:latin typeface="Arial" panose="020B0604020202020204" pitchFamily="34" charset="0"/>
                <a:ea typeface="Space Grotesk Bold" pitchFamily="34" charset="-122"/>
                <a:cs typeface="Arial" panose="020B0604020202020204" pitchFamily="34" charset="0"/>
              </a:rPr>
              <a:t>4. RGPD : Transparence et Confiance</a:t>
            </a:r>
            <a:endParaRPr lang="en-US" sz="1600" dirty="0">
              <a:latin typeface="Arial" panose="020B0604020202020204" pitchFamily="34" charset="0"/>
              <a:cs typeface="Arial" panose="020B0604020202020204" pitchFamily="34" charset="0"/>
            </a:endParaRPr>
          </a:p>
        </p:txBody>
      </p:sp>
      <p:pic>
        <p:nvPicPr>
          <p:cNvPr id="5" name="Image 1" descr="preencoded.png"/>
          <p:cNvPicPr>
            <a:picLocks noChangeAspect="1"/>
          </p:cNvPicPr>
          <p:nvPr/>
        </p:nvPicPr>
        <p:blipFill>
          <a:blip r:embed="rId3"/>
          <a:stretch>
            <a:fillRect/>
          </a:stretch>
        </p:blipFill>
        <p:spPr>
          <a:xfrm>
            <a:off x="1307306" y="862608"/>
            <a:ext cx="357188" cy="285750"/>
          </a:xfrm>
          <a:prstGeom prst="rect">
            <a:avLst/>
          </a:prstGeom>
        </p:spPr>
      </p:pic>
      <p:sp>
        <p:nvSpPr>
          <p:cNvPr id="6" name="Text 1"/>
          <p:cNvSpPr/>
          <p:nvPr/>
        </p:nvSpPr>
        <p:spPr>
          <a:xfrm>
            <a:off x="771525" y="1255514"/>
            <a:ext cx="1428750" cy="138499"/>
          </a:xfrm>
          <a:prstGeom prst="rect">
            <a:avLst/>
          </a:prstGeom>
          <a:noFill/>
          <a:ln/>
        </p:spPr>
        <p:txBody>
          <a:bodyPr wrap="square" lIns="0" tIns="0" rIns="0" bIns="0" rtlCol="0" anchor="t">
            <a:spAutoFit/>
          </a:bodyPr>
          <a:lstStyle/>
          <a:p>
            <a:pPr marL="0" indent="0" algn="ctr">
              <a:buNone/>
            </a:pPr>
            <a:r>
              <a:rPr lang="en-US" sz="900" b="1" dirty="0">
                <a:solidFill>
                  <a:srgbClr val="333333"/>
                </a:solidFill>
                <a:latin typeface="Arial" panose="020B0604020202020204" pitchFamily="34" charset="0"/>
                <a:ea typeface="Inter Bold" pitchFamily="34" charset="-122"/>
                <a:cs typeface="Arial" panose="020B0604020202020204" pitchFamily="34" charset="0"/>
              </a:rPr>
              <a:t>Consentement explicite</a:t>
            </a:r>
            <a:endParaRPr lang="en-US" sz="900" dirty="0">
              <a:latin typeface="Arial" panose="020B0604020202020204" pitchFamily="34" charset="0"/>
              <a:cs typeface="Arial" panose="020B0604020202020204" pitchFamily="34" charset="0"/>
            </a:endParaRPr>
          </a:p>
        </p:txBody>
      </p:sp>
      <p:pic>
        <p:nvPicPr>
          <p:cNvPr id="7" name="Image 2" descr="preencoded.png"/>
          <p:cNvPicPr>
            <a:picLocks noChangeAspect="1"/>
          </p:cNvPicPr>
          <p:nvPr/>
        </p:nvPicPr>
        <p:blipFill>
          <a:blip r:embed="rId4"/>
          <a:stretch>
            <a:fillRect/>
          </a:stretch>
        </p:blipFill>
        <p:spPr>
          <a:xfrm>
            <a:off x="3400425" y="862608"/>
            <a:ext cx="285750" cy="285750"/>
          </a:xfrm>
          <a:prstGeom prst="rect">
            <a:avLst/>
          </a:prstGeom>
        </p:spPr>
      </p:pic>
      <p:sp>
        <p:nvSpPr>
          <p:cNvPr id="8" name="Text 2"/>
          <p:cNvSpPr/>
          <p:nvPr/>
        </p:nvSpPr>
        <p:spPr>
          <a:xfrm>
            <a:off x="2828925" y="1255514"/>
            <a:ext cx="1428750" cy="138499"/>
          </a:xfrm>
          <a:prstGeom prst="rect">
            <a:avLst/>
          </a:prstGeom>
          <a:noFill/>
          <a:ln/>
        </p:spPr>
        <p:txBody>
          <a:bodyPr wrap="square" lIns="0" tIns="0" rIns="0" bIns="0" rtlCol="0" anchor="t">
            <a:spAutoFit/>
          </a:bodyPr>
          <a:lstStyle/>
          <a:p>
            <a:pPr marL="0" indent="0" algn="ctr">
              <a:buNone/>
            </a:pPr>
            <a:r>
              <a:rPr lang="en-US" sz="900" b="1" dirty="0">
                <a:solidFill>
                  <a:srgbClr val="333333"/>
                </a:solidFill>
                <a:latin typeface="Arial" panose="020B0604020202020204" pitchFamily="34" charset="0"/>
                <a:ea typeface="Inter Bold" pitchFamily="34" charset="-122"/>
                <a:cs typeface="Arial" panose="020B0604020202020204" pitchFamily="34" charset="0"/>
              </a:rPr>
              <a:t>Droit à l'oubli</a:t>
            </a:r>
            <a:endParaRPr lang="en-US" sz="900" dirty="0">
              <a:latin typeface="Arial" panose="020B0604020202020204" pitchFamily="34" charset="0"/>
              <a:cs typeface="Arial" panose="020B0604020202020204" pitchFamily="34" charset="0"/>
            </a:endParaRPr>
          </a:p>
        </p:txBody>
      </p:sp>
      <p:pic>
        <p:nvPicPr>
          <p:cNvPr id="9" name="Image 3" descr="preencoded.png"/>
          <p:cNvPicPr>
            <a:picLocks noChangeAspect="1"/>
          </p:cNvPicPr>
          <p:nvPr/>
        </p:nvPicPr>
        <p:blipFill>
          <a:blip r:embed="rId5"/>
          <a:stretch>
            <a:fillRect/>
          </a:stretch>
        </p:blipFill>
        <p:spPr>
          <a:xfrm>
            <a:off x="5439966" y="862608"/>
            <a:ext cx="321469" cy="285750"/>
          </a:xfrm>
          <a:prstGeom prst="rect">
            <a:avLst/>
          </a:prstGeom>
        </p:spPr>
      </p:pic>
      <p:sp>
        <p:nvSpPr>
          <p:cNvPr id="10" name="Text 3"/>
          <p:cNvSpPr/>
          <p:nvPr/>
        </p:nvSpPr>
        <p:spPr>
          <a:xfrm>
            <a:off x="4886325" y="1255514"/>
            <a:ext cx="1428750" cy="138499"/>
          </a:xfrm>
          <a:prstGeom prst="rect">
            <a:avLst/>
          </a:prstGeom>
          <a:noFill/>
          <a:ln/>
        </p:spPr>
        <p:txBody>
          <a:bodyPr wrap="square" lIns="0" tIns="0" rIns="0" bIns="0" rtlCol="0" anchor="t">
            <a:spAutoFit/>
          </a:bodyPr>
          <a:lstStyle/>
          <a:p>
            <a:pPr marL="0" indent="0" algn="ctr">
              <a:buNone/>
            </a:pPr>
            <a:r>
              <a:rPr lang="en-US" sz="900" b="1" dirty="0">
                <a:solidFill>
                  <a:srgbClr val="333333"/>
                </a:solidFill>
                <a:latin typeface="Arial" panose="020B0604020202020204" pitchFamily="34" charset="0"/>
                <a:ea typeface="Inter Bold" pitchFamily="34" charset="-122"/>
                <a:cs typeface="Arial" panose="020B0604020202020204" pitchFamily="34" charset="0"/>
              </a:rPr>
              <a:t>Portabilité</a:t>
            </a:r>
            <a:endParaRPr lang="en-US" sz="900" dirty="0">
              <a:latin typeface="Arial" panose="020B0604020202020204" pitchFamily="34" charset="0"/>
              <a:cs typeface="Arial" panose="020B0604020202020204" pitchFamily="34" charset="0"/>
            </a:endParaRPr>
          </a:p>
        </p:txBody>
      </p:sp>
      <p:pic>
        <p:nvPicPr>
          <p:cNvPr id="11" name="Image 4" descr="preencoded.png"/>
          <p:cNvPicPr>
            <a:picLocks noChangeAspect="1"/>
          </p:cNvPicPr>
          <p:nvPr/>
        </p:nvPicPr>
        <p:blipFill>
          <a:blip r:embed="rId6"/>
          <a:stretch>
            <a:fillRect/>
          </a:stretch>
        </p:blipFill>
        <p:spPr>
          <a:xfrm>
            <a:off x="7515225" y="862608"/>
            <a:ext cx="285750" cy="285750"/>
          </a:xfrm>
          <a:prstGeom prst="rect">
            <a:avLst/>
          </a:prstGeom>
        </p:spPr>
      </p:pic>
      <p:sp>
        <p:nvSpPr>
          <p:cNvPr id="12" name="Text 4"/>
          <p:cNvSpPr/>
          <p:nvPr/>
        </p:nvSpPr>
        <p:spPr>
          <a:xfrm>
            <a:off x="6943725" y="1255514"/>
            <a:ext cx="1428750" cy="138499"/>
          </a:xfrm>
          <a:prstGeom prst="rect">
            <a:avLst/>
          </a:prstGeom>
          <a:noFill/>
          <a:ln/>
        </p:spPr>
        <p:txBody>
          <a:bodyPr wrap="square" lIns="0" tIns="0" rIns="0" bIns="0" rtlCol="0" anchor="t">
            <a:spAutoFit/>
          </a:bodyPr>
          <a:lstStyle/>
          <a:p>
            <a:pPr marL="0" indent="0" algn="ctr">
              <a:buNone/>
            </a:pPr>
            <a:r>
              <a:rPr lang="en-US" sz="900" b="1" dirty="0">
                <a:solidFill>
                  <a:srgbClr val="333333"/>
                </a:solidFill>
                <a:latin typeface="Arial" panose="020B0604020202020204" pitchFamily="34" charset="0"/>
                <a:ea typeface="Inter Bold" pitchFamily="34" charset="-122"/>
                <a:cs typeface="Arial" panose="020B0604020202020204" pitchFamily="34" charset="0"/>
              </a:rPr>
              <a:t>Minimisation</a:t>
            </a:r>
            <a:endParaRPr lang="en-US" sz="900" dirty="0">
              <a:latin typeface="Arial" panose="020B0604020202020204" pitchFamily="34" charset="0"/>
              <a:cs typeface="Arial" panose="020B0604020202020204" pitchFamily="34" charset="0"/>
            </a:endParaRPr>
          </a:p>
        </p:txBody>
      </p:sp>
      <p:pic>
        <p:nvPicPr>
          <p:cNvPr id="13" name="Image 5" descr="preencoded.png"/>
          <p:cNvPicPr>
            <a:picLocks noChangeAspect="1"/>
          </p:cNvPicPr>
          <p:nvPr/>
        </p:nvPicPr>
        <p:blipFill>
          <a:blip r:embed="rId7"/>
          <a:stretch>
            <a:fillRect/>
          </a:stretch>
        </p:blipFill>
        <p:spPr>
          <a:xfrm>
            <a:off x="642938" y="2118122"/>
            <a:ext cx="171450" cy="171450"/>
          </a:xfrm>
          <a:prstGeom prst="rect">
            <a:avLst/>
          </a:prstGeom>
        </p:spPr>
      </p:pic>
      <p:sp>
        <p:nvSpPr>
          <p:cNvPr id="14" name="Text 5"/>
          <p:cNvSpPr/>
          <p:nvPr/>
        </p:nvSpPr>
        <p:spPr>
          <a:xfrm>
            <a:off x="885825" y="2094905"/>
            <a:ext cx="564257" cy="184666"/>
          </a:xfrm>
          <a:prstGeom prst="rect">
            <a:avLst/>
          </a:prstGeom>
          <a:noFill/>
          <a:ln/>
        </p:spPr>
        <p:txBody>
          <a:bodyPr wrap="none" lIns="0" tIns="0" rIns="0" bIns="0" rtlCol="0" anchor="t">
            <a:spAutoFit/>
          </a:bodyPr>
          <a:lstStyle/>
          <a:p>
            <a:pPr marL="0" indent="0" algn="l">
              <a:buNone/>
            </a:pPr>
            <a:r>
              <a:rPr lang="en-US" sz="1200" b="1" dirty="0">
                <a:solidFill>
                  <a:srgbClr val="002060"/>
                </a:solidFill>
                <a:latin typeface="Arial" panose="020B0604020202020204" pitchFamily="34" charset="0"/>
                <a:ea typeface="Space Grotesk Bold" pitchFamily="34" charset="-122"/>
                <a:cs typeface="Arial" panose="020B0604020202020204" pitchFamily="34" charset="0"/>
              </a:rPr>
              <a:t>Renault</a:t>
            </a:r>
            <a:endParaRPr lang="en-US" sz="1200" dirty="0">
              <a:latin typeface="Arial" panose="020B0604020202020204" pitchFamily="34" charset="0"/>
              <a:cs typeface="Arial" panose="020B0604020202020204" pitchFamily="34" charset="0"/>
            </a:endParaRPr>
          </a:p>
        </p:txBody>
      </p:sp>
      <p:sp>
        <p:nvSpPr>
          <p:cNvPr id="15" name="Text 6"/>
          <p:cNvSpPr/>
          <p:nvPr/>
        </p:nvSpPr>
        <p:spPr>
          <a:xfrm>
            <a:off x="642938" y="2419945"/>
            <a:ext cx="3175421" cy="168123"/>
          </a:xfrm>
          <a:prstGeom prst="rect">
            <a:avLst/>
          </a:prstGeom>
          <a:noFill/>
          <a:ln/>
        </p:spPr>
        <p:txBody>
          <a:bodyPr wrap="none" lIns="212598" tIns="0" rIns="0" bIns="0" rtlCol="0" anchor="t">
            <a:spAutoFit/>
          </a:bodyPr>
          <a:lstStyle/>
          <a:p>
            <a:pPr marL="0" indent="0" algn="l">
              <a:lnSpc>
                <a:spcPct val="128000"/>
              </a:lnSpc>
              <a:buNone/>
            </a:pPr>
            <a:r>
              <a:rPr lang="en-US" sz="950" dirty="0">
                <a:solidFill>
                  <a:srgbClr val="333333"/>
                </a:solidFill>
                <a:latin typeface="Arial" panose="020B0604020202020204" pitchFamily="34" charset="0"/>
                <a:ea typeface="Inter" pitchFamily="34" charset="-122"/>
                <a:cs typeface="Arial" panose="020B0604020202020204" pitchFamily="34" charset="0"/>
              </a:rPr>
              <a:t>Communication claire sur la politique de confidentialité.</a:t>
            </a:r>
            <a:endParaRPr lang="en-US" sz="950" dirty="0">
              <a:latin typeface="Arial" panose="020B0604020202020204" pitchFamily="34" charset="0"/>
              <a:cs typeface="Arial" panose="020B0604020202020204" pitchFamily="34" charset="0"/>
            </a:endParaRPr>
          </a:p>
        </p:txBody>
      </p:sp>
      <p:sp>
        <p:nvSpPr>
          <p:cNvPr id="16" name="Text 7"/>
          <p:cNvSpPr/>
          <p:nvPr/>
        </p:nvSpPr>
        <p:spPr>
          <a:xfrm>
            <a:off x="642938" y="2697100"/>
            <a:ext cx="2553456" cy="168123"/>
          </a:xfrm>
          <a:prstGeom prst="rect">
            <a:avLst/>
          </a:prstGeom>
          <a:noFill/>
          <a:ln/>
        </p:spPr>
        <p:txBody>
          <a:bodyPr wrap="none" lIns="212598" tIns="0" rIns="0" bIns="0" rtlCol="0" anchor="t">
            <a:spAutoFit/>
          </a:bodyPr>
          <a:lstStyle/>
          <a:p>
            <a:pPr marL="0" indent="0" algn="l">
              <a:lnSpc>
                <a:spcPct val="128000"/>
              </a:lnSpc>
              <a:buNone/>
            </a:pPr>
            <a:r>
              <a:rPr lang="en-US" sz="950" dirty="0">
                <a:solidFill>
                  <a:srgbClr val="333333"/>
                </a:solidFill>
                <a:latin typeface="Arial" panose="020B0604020202020204" pitchFamily="34" charset="0"/>
                <a:ea typeface="Inter" pitchFamily="34" charset="-122"/>
                <a:cs typeface="Arial" panose="020B0604020202020204" pitchFamily="34" charset="0"/>
              </a:rPr>
              <a:t>Gestion rigoureuse des cookies et traceurs.</a:t>
            </a:r>
            <a:endParaRPr lang="en-US" sz="950" dirty="0">
              <a:latin typeface="Arial" panose="020B0604020202020204" pitchFamily="34" charset="0"/>
              <a:cs typeface="Arial" panose="020B0604020202020204" pitchFamily="34" charset="0"/>
            </a:endParaRPr>
          </a:p>
        </p:txBody>
      </p:sp>
      <p:sp>
        <p:nvSpPr>
          <p:cNvPr id="17" name="Text 8"/>
          <p:cNvSpPr/>
          <p:nvPr/>
        </p:nvSpPr>
        <p:spPr>
          <a:xfrm>
            <a:off x="642938" y="2974256"/>
            <a:ext cx="2220031" cy="168123"/>
          </a:xfrm>
          <a:prstGeom prst="rect">
            <a:avLst/>
          </a:prstGeom>
          <a:noFill/>
          <a:ln/>
        </p:spPr>
        <p:txBody>
          <a:bodyPr wrap="none" lIns="212598" tIns="0" rIns="0" bIns="0" rtlCol="0" anchor="t">
            <a:spAutoFit/>
          </a:bodyPr>
          <a:lstStyle/>
          <a:p>
            <a:pPr marL="0" indent="0" algn="l">
              <a:lnSpc>
                <a:spcPct val="128000"/>
              </a:lnSpc>
              <a:buNone/>
            </a:pPr>
            <a:r>
              <a:rPr lang="en-US" sz="950" dirty="0">
                <a:solidFill>
                  <a:srgbClr val="333333"/>
                </a:solidFill>
                <a:latin typeface="Arial" panose="020B0604020202020204" pitchFamily="34" charset="0"/>
                <a:ea typeface="Inter" pitchFamily="34" charset="-122"/>
                <a:cs typeface="Arial" panose="020B0604020202020204" pitchFamily="34" charset="0"/>
              </a:rPr>
              <a:t>Système d'opt-in/opt-out standardisé.</a:t>
            </a:r>
            <a:endParaRPr lang="en-US" sz="950" dirty="0">
              <a:latin typeface="Arial" panose="020B0604020202020204" pitchFamily="34" charset="0"/>
              <a:cs typeface="Arial" panose="020B0604020202020204" pitchFamily="34" charset="0"/>
            </a:endParaRPr>
          </a:p>
        </p:txBody>
      </p:sp>
      <p:pic>
        <p:nvPicPr>
          <p:cNvPr id="18" name="Image 6" descr="preencoded.png"/>
          <p:cNvPicPr>
            <a:picLocks noChangeAspect="1"/>
          </p:cNvPicPr>
          <p:nvPr/>
        </p:nvPicPr>
        <p:blipFill>
          <a:blip r:embed="rId8"/>
          <a:stretch>
            <a:fillRect/>
          </a:stretch>
        </p:blipFill>
        <p:spPr>
          <a:xfrm>
            <a:off x="642938" y="2419945"/>
            <a:ext cx="128588" cy="205718"/>
          </a:xfrm>
          <a:prstGeom prst="rect">
            <a:avLst/>
          </a:prstGeom>
        </p:spPr>
      </p:pic>
      <p:pic>
        <p:nvPicPr>
          <p:cNvPr id="19" name="Image 7" descr="preencoded.png"/>
          <p:cNvPicPr>
            <a:picLocks noChangeAspect="1"/>
          </p:cNvPicPr>
          <p:nvPr/>
        </p:nvPicPr>
        <p:blipFill>
          <a:blip r:embed="rId9"/>
          <a:stretch>
            <a:fillRect/>
          </a:stretch>
        </p:blipFill>
        <p:spPr>
          <a:xfrm>
            <a:off x="642938" y="2697100"/>
            <a:ext cx="128588" cy="205718"/>
          </a:xfrm>
          <a:prstGeom prst="rect">
            <a:avLst/>
          </a:prstGeom>
        </p:spPr>
      </p:pic>
      <p:pic>
        <p:nvPicPr>
          <p:cNvPr id="20" name="Image 8" descr="preencoded.png"/>
          <p:cNvPicPr>
            <a:picLocks noChangeAspect="1"/>
          </p:cNvPicPr>
          <p:nvPr/>
        </p:nvPicPr>
        <p:blipFill>
          <a:blip r:embed="rId10"/>
          <a:stretch>
            <a:fillRect/>
          </a:stretch>
        </p:blipFill>
        <p:spPr>
          <a:xfrm>
            <a:off x="642938" y="2974256"/>
            <a:ext cx="128588" cy="205718"/>
          </a:xfrm>
          <a:prstGeom prst="rect">
            <a:avLst/>
          </a:prstGeom>
        </p:spPr>
      </p:pic>
      <p:pic>
        <p:nvPicPr>
          <p:cNvPr id="21" name="Image 9" descr="preencoded.png"/>
          <p:cNvPicPr>
            <a:picLocks noChangeAspect="1"/>
          </p:cNvPicPr>
          <p:nvPr/>
        </p:nvPicPr>
        <p:blipFill>
          <a:blip r:embed="rId11"/>
          <a:stretch>
            <a:fillRect/>
          </a:stretch>
        </p:blipFill>
        <p:spPr>
          <a:xfrm>
            <a:off x="4714875" y="2118122"/>
            <a:ext cx="171450" cy="171450"/>
          </a:xfrm>
          <a:prstGeom prst="rect">
            <a:avLst/>
          </a:prstGeom>
        </p:spPr>
      </p:pic>
      <p:sp>
        <p:nvSpPr>
          <p:cNvPr id="22" name="Text 9"/>
          <p:cNvSpPr/>
          <p:nvPr/>
        </p:nvSpPr>
        <p:spPr>
          <a:xfrm>
            <a:off x="4957763" y="2094905"/>
            <a:ext cx="384721" cy="184666"/>
          </a:xfrm>
          <a:prstGeom prst="rect">
            <a:avLst/>
          </a:prstGeom>
          <a:noFill/>
          <a:ln/>
        </p:spPr>
        <p:txBody>
          <a:bodyPr wrap="none" lIns="0" tIns="0" rIns="0" bIns="0" rtlCol="0" anchor="t">
            <a:spAutoFit/>
          </a:bodyPr>
          <a:lstStyle/>
          <a:p>
            <a:pPr marL="0" indent="0" algn="l">
              <a:buNone/>
            </a:pPr>
            <a:r>
              <a:rPr lang="en-US" sz="1200" b="1" dirty="0">
                <a:solidFill>
                  <a:srgbClr val="002060"/>
                </a:solidFill>
                <a:latin typeface="Arial" panose="020B0604020202020204" pitchFamily="34" charset="0"/>
                <a:ea typeface="Space Grotesk Bold" pitchFamily="34" charset="-122"/>
                <a:cs typeface="Arial" panose="020B0604020202020204" pitchFamily="34" charset="0"/>
              </a:rPr>
              <a:t>BMW</a:t>
            </a:r>
            <a:endParaRPr lang="en-US" sz="1200" dirty="0">
              <a:latin typeface="Arial" panose="020B0604020202020204" pitchFamily="34" charset="0"/>
              <a:cs typeface="Arial" panose="020B0604020202020204" pitchFamily="34" charset="0"/>
            </a:endParaRPr>
          </a:p>
        </p:txBody>
      </p:sp>
      <p:sp>
        <p:nvSpPr>
          <p:cNvPr id="23" name="Text 10"/>
          <p:cNvSpPr/>
          <p:nvPr/>
        </p:nvSpPr>
        <p:spPr>
          <a:xfrm>
            <a:off x="4714875" y="2419945"/>
            <a:ext cx="3242747" cy="168123"/>
          </a:xfrm>
          <a:prstGeom prst="rect">
            <a:avLst/>
          </a:prstGeom>
          <a:noFill/>
          <a:ln/>
        </p:spPr>
        <p:txBody>
          <a:bodyPr wrap="none" lIns="212598" tIns="0" rIns="0" bIns="0" rtlCol="0" anchor="t">
            <a:spAutoFit/>
          </a:bodyPr>
          <a:lstStyle/>
          <a:p>
            <a:pPr marL="0" indent="0" algn="l">
              <a:lnSpc>
                <a:spcPct val="128000"/>
              </a:lnSpc>
              <a:buNone/>
            </a:pPr>
            <a:r>
              <a:rPr lang="en-US" sz="950" dirty="0">
                <a:solidFill>
                  <a:srgbClr val="333333"/>
                </a:solidFill>
                <a:latin typeface="Arial" panose="020B0604020202020204" pitchFamily="34" charset="0"/>
                <a:ea typeface="Inter" pitchFamily="34" charset="-122"/>
                <a:cs typeface="Arial" panose="020B0604020202020204" pitchFamily="34" charset="0"/>
              </a:rPr>
              <a:t>Gestion complexe des données de véhicules connectés.</a:t>
            </a:r>
            <a:endParaRPr lang="en-US" sz="950" dirty="0">
              <a:latin typeface="Arial" panose="020B0604020202020204" pitchFamily="34" charset="0"/>
              <a:cs typeface="Arial" panose="020B0604020202020204" pitchFamily="34" charset="0"/>
            </a:endParaRPr>
          </a:p>
        </p:txBody>
      </p:sp>
      <p:sp>
        <p:nvSpPr>
          <p:cNvPr id="24" name="Text 11"/>
          <p:cNvSpPr/>
          <p:nvPr/>
        </p:nvSpPr>
        <p:spPr>
          <a:xfrm>
            <a:off x="4714875" y="2697100"/>
            <a:ext cx="3051989" cy="168123"/>
          </a:xfrm>
          <a:prstGeom prst="rect">
            <a:avLst/>
          </a:prstGeom>
          <a:noFill/>
          <a:ln/>
        </p:spPr>
        <p:txBody>
          <a:bodyPr wrap="none" lIns="212598" tIns="0" rIns="0" bIns="0" rtlCol="0" anchor="t">
            <a:spAutoFit/>
          </a:bodyPr>
          <a:lstStyle/>
          <a:p>
            <a:pPr marL="0" indent="0" algn="l">
              <a:lnSpc>
                <a:spcPct val="128000"/>
              </a:lnSpc>
              <a:buNone/>
            </a:pPr>
            <a:r>
              <a:rPr lang="en-US" sz="950" dirty="0">
                <a:solidFill>
                  <a:srgbClr val="333333"/>
                </a:solidFill>
                <a:latin typeface="Arial" panose="020B0604020202020204" pitchFamily="34" charset="0"/>
                <a:ea typeface="Inter" pitchFamily="34" charset="-122"/>
                <a:cs typeface="Arial" panose="020B0604020202020204" pitchFamily="34" charset="0"/>
              </a:rPr>
              <a:t>Consentement renforcé pour services personnalisés.</a:t>
            </a:r>
            <a:endParaRPr lang="en-US" sz="950" dirty="0">
              <a:latin typeface="Arial" panose="020B0604020202020204" pitchFamily="34" charset="0"/>
              <a:cs typeface="Arial" panose="020B0604020202020204" pitchFamily="34" charset="0"/>
            </a:endParaRPr>
          </a:p>
        </p:txBody>
      </p:sp>
      <p:sp>
        <p:nvSpPr>
          <p:cNvPr id="25" name="Text 12"/>
          <p:cNvSpPr/>
          <p:nvPr/>
        </p:nvSpPr>
        <p:spPr>
          <a:xfrm>
            <a:off x="4714875" y="2974256"/>
            <a:ext cx="2420406" cy="168123"/>
          </a:xfrm>
          <a:prstGeom prst="rect">
            <a:avLst/>
          </a:prstGeom>
          <a:noFill/>
          <a:ln/>
        </p:spPr>
        <p:txBody>
          <a:bodyPr wrap="none" lIns="212598" tIns="0" rIns="0" bIns="0" rtlCol="0" anchor="t">
            <a:spAutoFit/>
          </a:bodyPr>
          <a:lstStyle/>
          <a:p>
            <a:pPr marL="0" indent="0" algn="l">
              <a:lnSpc>
                <a:spcPct val="128000"/>
              </a:lnSpc>
              <a:buNone/>
            </a:pPr>
            <a:r>
              <a:rPr lang="en-US" sz="950" dirty="0">
                <a:solidFill>
                  <a:srgbClr val="333333"/>
                </a:solidFill>
                <a:latin typeface="Arial" panose="020B0604020202020204" pitchFamily="34" charset="0"/>
                <a:ea typeface="Inter" pitchFamily="34" charset="-122"/>
                <a:cs typeface="Arial" panose="020B0604020202020204" pitchFamily="34" charset="0"/>
              </a:rPr>
              <a:t>Politique de confidentialité ultra-détaillée.</a:t>
            </a:r>
            <a:endParaRPr lang="en-US" sz="950" dirty="0">
              <a:latin typeface="Arial" panose="020B0604020202020204" pitchFamily="34" charset="0"/>
              <a:cs typeface="Arial" panose="020B0604020202020204" pitchFamily="34" charset="0"/>
            </a:endParaRPr>
          </a:p>
        </p:txBody>
      </p:sp>
      <p:sp>
        <p:nvSpPr>
          <p:cNvPr id="26" name="Shape 13"/>
          <p:cNvSpPr/>
          <p:nvPr/>
        </p:nvSpPr>
        <p:spPr>
          <a:xfrm>
            <a:off x="314325" y="4314277"/>
            <a:ext cx="8515350" cy="632222"/>
          </a:xfrm>
          <a:prstGeom prst="rect">
            <a:avLst/>
          </a:prstGeom>
          <a:solidFill>
            <a:srgbClr val="F4F7F9"/>
          </a:solidFill>
          <a:ln/>
        </p:spPr>
      </p:sp>
      <p:sp>
        <p:nvSpPr>
          <p:cNvPr id="27" name="Text 14"/>
          <p:cNvSpPr/>
          <p:nvPr/>
        </p:nvSpPr>
        <p:spPr>
          <a:xfrm>
            <a:off x="314325" y="4314277"/>
            <a:ext cx="8515350" cy="666593"/>
          </a:xfrm>
          <a:prstGeom prst="rect">
            <a:avLst/>
          </a:prstGeom>
          <a:noFill/>
          <a:ln/>
        </p:spPr>
        <p:txBody>
          <a:bodyPr wrap="square" lIns="170053" tIns="170053" rIns="170053" bIns="170053" rtlCol="0" anchor="t">
            <a:spAutoFit/>
          </a:bodyPr>
          <a:lstStyle/>
          <a:p>
            <a:pPr marL="0" indent="0" algn="ctr">
              <a:buNone/>
            </a:pPr>
            <a:r>
              <a:rPr lang="en-US" sz="1050" i="1" dirty="0">
                <a:solidFill>
                  <a:srgbClr val="002060"/>
                </a:solidFill>
                <a:latin typeface="Arial" panose="020B0604020202020204" pitchFamily="34" charset="0"/>
                <a:ea typeface="Inter" pitchFamily="34" charset="-122"/>
                <a:cs typeface="Arial" panose="020B0604020202020204" pitchFamily="34" charset="0"/>
              </a:rPr>
              <a:t>"L'enjeu stratégique : Équilibrer l'hyper-personnalisation de l'expérience client avec le respect strict de la vie privée pour transformer la </a:t>
            </a:r>
            <a:r>
              <a:rPr lang="en-US" sz="1050" i="1" dirty="0" err="1">
                <a:solidFill>
                  <a:srgbClr val="002060"/>
                </a:solidFill>
                <a:latin typeface="Arial" panose="020B0604020202020204" pitchFamily="34" charset="0"/>
                <a:ea typeface="Inter" pitchFamily="34" charset="-122"/>
                <a:cs typeface="Arial" panose="020B0604020202020204" pitchFamily="34" charset="0"/>
              </a:rPr>
              <a:t>conformité</a:t>
            </a:r>
            <a:r>
              <a:rPr lang="en-US" sz="1050" i="1" dirty="0">
                <a:solidFill>
                  <a:srgbClr val="002060"/>
                </a:solidFill>
                <a:latin typeface="Arial" panose="020B0604020202020204" pitchFamily="34" charset="0"/>
                <a:ea typeface="Inter" pitchFamily="34" charset="-122"/>
                <a:cs typeface="Arial" panose="020B0604020202020204" pitchFamily="34" charset="0"/>
              </a:rPr>
              <a:t> </a:t>
            </a:r>
            <a:r>
              <a:rPr lang="en-US" sz="1050" i="1" dirty="0" err="1">
                <a:solidFill>
                  <a:srgbClr val="002060"/>
                </a:solidFill>
                <a:latin typeface="Arial" panose="020B0604020202020204" pitchFamily="34" charset="0"/>
                <a:ea typeface="Inter" pitchFamily="34" charset="-122"/>
                <a:cs typeface="Arial" panose="020B0604020202020204" pitchFamily="34" charset="0"/>
              </a:rPr>
              <a:t>en</a:t>
            </a:r>
            <a:r>
              <a:rPr lang="en-US" sz="1050" i="1" dirty="0">
                <a:solidFill>
                  <a:srgbClr val="002060"/>
                </a:solidFill>
                <a:latin typeface="Arial" panose="020B0604020202020204" pitchFamily="34" charset="0"/>
                <a:ea typeface="Inter" pitchFamily="34" charset="-122"/>
                <a:cs typeface="Arial" panose="020B0604020202020204" pitchFamily="34" charset="0"/>
              </a:rPr>
              <a:t> avantage concurrentiel."</a:t>
            </a:r>
            <a:endParaRPr lang="en-US" sz="1050" dirty="0">
              <a:latin typeface="Arial" panose="020B0604020202020204" pitchFamily="34" charset="0"/>
              <a:cs typeface="Arial" panose="020B0604020202020204" pitchFamily="34" charset="0"/>
            </a:endParaRPr>
          </a:p>
        </p:txBody>
      </p:sp>
      <p:pic>
        <p:nvPicPr>
          <p:cNvPr id="28" name="Image 10" descr="preencoded.png"/>
          <p:cNvPicPr>
            <a:picLocks noChangeAspect="1"/>
          </p:cNvPicPr>
          <p:nvPr/>
        </p:nvPicPr>
        <p:blipFill>
          <a:blip r:embed="rId8"/>
          <a:stretch>
            <a:fillRect/>
          </a:stretch>
        </p:blipFill>
        <p:spPr>
          <a:xfrm>
            <a:off x="4714875" y="2419945"/>
            <a:ext cx="128588" cy="205718"/>
          </a:xfrm>
          <a:prstGeom prst="rect">
            <a:avLst/>
          </a:prstGeom>
        </p:spPr>
      </p:pic>
      <p:pic>
        <p:nvPicPr>
          <p:cNvPr id="29" name="Image 11" descr="preencoded.png"/>
          <p:cNvPicPr>
            <a:picLocks noChangeAspect="1"/>
          </p:cNvPicPr>
          <p:nvPr/>
        </p:nvPicPr>
        <p:blipFill>
          <a:blip r:embed="rId9"/>
          <a:stretch>
            <a:fillRect/>
          </a:stretch>
        </p:blipFill>
        <p:spPr>
          <a:xfrm>
            <a:off x="4714875" y="2697100"/>
            <a:ext cx="128588" cy="205718"/>
          </a:xfrm>
          <a:prstGeom prst="rect">
            <a:avLst/>
          </a:prstGeom>
        </p:spPr>
      </p:pic>
      <p:pic>
        <p:nvPicPr>
          <p:cNvPr id="30" name="Image 12" descr="preencoded.png"/>
          <p:cNvPicPr>
            <a:picLocks noChangeAspect="1"/>
          </p:cNvPicPr>
          <p:nvPr/>
        </p:nvPicPr>
        <p:blipFill>
          <a:blip r:embed="rId10"/>
          <a:stretch>
            <a:fillRect/>
          </a:stretch>
        </p:blipFill>
        <p:spPr>
          <a:xfrm>
            <a:off x="4714875" y="2974256"/>
            <a:ext cx="128588" cy="205718"/>
          </a:xfrm>
          <a:prstGeom prst="rect">
            <a:avLst/>
          </a:prstGeom>
        </p:spPr>
      </p:pic>
      <p:sp>
        <p:nvSpPr>
          <p:cNvPr id="31" name="ZoneTexte 30">
            <a:extLst>
              <a:ext uri="{FF2B5EF4-FFF2-40B4-BE49-F238E27FC236}">
                <a16:creationId xmlns:a16="http://schemas.microsoft.com/office/drawing/2014/main" id="{6BB2DCA9-6878-533E-EB3D-C750D96AD7CA}"/>
              </a:ext>
            </a:extLst>
          </p:cNvPr>
          <p:cNvSpPr txBox="1"/>
          <p:nvPr/>
        </p:nvSpPr>
        <p:spPr>
          <a:xfrm>
            <a:off x="742329" y="3181839"/>
            <a:ext cx="3095845" cy="384721"/>
          </a:xfrm>
          <a:prstGeom prst="rect">
            <a:avLst/>
          </a:prstGeom>
          <a:noFill/>
        </p:spPr>
        <p:txBody>
          <a:bodyPr wrap="square">
            <a:spAutoFit/>
          </a:bodyPr>
          <a:lstStyle/>
          <a:p>
            <a:r>
              <a:rPr lang="en-GB" sz="950" b="1" dirty="0" err="1">
                <a:solidFill>
                  <a:srgbClr val="333333"/>
                </a:solidFill>
                <a:latin typeface="Arial" panose="020B0604020202020204" pitchFamily="34" charset="0"/>
                <a:ea typeface="Inter" pitchFamily="34" charset="-122"/>
                <a:cs typeface="Arial" panose="020B0604020202020204" pitchFamily="34" charset="0"/>
              </a:rPr>
              <a:t>Approche</a:t>
            </a:r>
            <a:r>
              <a:rPr lang="en-GB" sz="950" b="1" dirty="0">
                <a:solidFill>
                  <a:srgbClr val="333333"/>
                </a:solidFill>
                <a:latin typeface="Arial" panose="020B0604020202020204" pitchFamily="34" charset="0"/>
                <a:ea typeface="Inter" pitchFamily="34" charset="-122"/>
                <a:cs typeface="Arial" panose="020B0604020202020204" pitchFamily="34" charset="0"/>
              </a:rPr>
              <a:t> </a:t>
            </a:r>
            <a:r>
              <a:rPr lang="en-GB" sz="950" b="1" dirty="0" err="1">
                <a:solidFill>
                  <a:srgbClr val="333333"/>
                </a:solidFill>
                <a:latin typeface="Arial" panose="020B0604020202020204" pitchFamily="34" charset="0"/>
                <a:ea typeface="Inter" pitchFamily="34" charset="-122"/>
                <a:cs typeface="Arial" panose="020B0604020202020204" pitchFamily="34" charset="0"/>
              </a:rPr>
              <a:t>standardisée</a:t>
            </a:r>
            <a:r>
              <a:rPr lang="en-GB" sz="950" dirty="0">
                <a:solidFill>
                  <a:srgbClr val="333333"/>
                </a:solidFill>
                <a:latin typeface="Arial" panose="020B0604020202020204" pitchFamily="34" charset="0"/>
                <a:ea typeface="Inter" pitchFamily="34" charset="-122"/>
                <a:cs typeface="Arial" panose="020B0604020202020204" pitchFamily="34" charset="0"/>
              </a:rPr>
              <a:t>, </a:t>
            </a:r>
            <a:r>
              <a:rPr lang="en-GB" sz="950" dirty="0" err="1">
                <a:solidFill>
                  <a:srgbClr val="333333"/>
                </a:solidFill>
                <a:latin typeface="Arial" panose="020B0604020202020204" pitchFamily="34" charset="0"/>
                <a:ea typeface="Inter" pitchFamily="34" charset="-122"/>
                <a:cs typeface="Arial" panose="020B0604020202020204" pitchFamily="34" charset="0"/>
              </a:rPr>
              <a:t>intégrée</a:t>
            </a:r>
            <a:r>
              <a:rPr lang="en-GB" sz="950" dirty="0">
                <a:solidFill>
                  <a:srgbClr val="333333"/>
                </a:solidFill>
                <a:latin typeface="Arial" panose="020B0604020202020204" pitchFamily="34" charset="0"/>
                <a:ea typeface="Inter" pitchFamily="34" charset="-122"/>
                <a:cs typeface="Arial" panose="020B0604020202020204" pitchFamily="34" charset="0"/>
              </a:rPr>
              <a:t> de manière </a:t>
            </a:r>
            <a:r>
              <a:rPr lang="en-GB" sz="950" dirty="0" err="1">
                <a:solidFill>
                  <a:srgbClr val="333333"/>
                </a:solidFill>
                <a:latin typeface="Arial" panose="020B0604020202020204" pitchFamily="34" charset="0"/>
                <a:ea typeface="Inter" pitchFamily="34" charset="-122"/>
                <a:cs typeface="Arial" panose="020B0604020202020204" pitchFamily="34" charset="0"/>
              </a:rPr>
              <a:t>fluide</a:t>
            </a:r>
            <a:r>
              <a:rPr lang="en-GB" sz="950" dirty="0">
                <a:solidFill>
                  <a:srgbClr val="333333"/>
                </a:solidFill>
                <a:latin typeface="Arial" panose="020B0604020202020204" pitchFamily="34" charset="0"/>
                <a:ea typeface="Inter" pitchFamily="34" charset="-122"/>
                <a:cs typeface="Arial" panose="020B0604020202020204" pitchFamily="34" charset="0"/>
              </a:rPr>
              <a:t> aux </a:t>
            </a:r>
            <a:r>
              <a:rPr lang="en-GB" sz="950" dirty="0" err="1">
                <a:solidFill>
                  <a:srgbClr val="333333"/>
                </a:solidFill>
                <a:latin typeface="Arial" panose="020B0604020202020204" pitchFamily="34" charset="0"/>
                <a:ea typeface="Inter" pitchFamily="34" charset="-122"/>
                <a:cs typeface="Arial" panose="020B0604020202020204" pitchFamily="34" charset="0"/>
              </a:rPr>
              <a:t>formulaires</a:t>
            </a:r>
            <a:r>
              <a:rPr lang="en-GB" sz="950" dirty="0">
                <a:solidFill>
                  <a:srgbClr val="333333"/>
                </a:solidFill>
                <a:latin typeface="Arial" panose="020B0604020202020204" pitchFamily="34" charset="0"/>
                <a:ea typeface="Inter" pitchFamily="34" charset="-122"/>
                <a:cs typeface="Arial" panose="020B0604020202020204" pitchFamily="34" charset="0"/>
              </a:rPr>
              <a:t> de contact.</a:t>
            </a:r>
          </a:p>
        </p:txBody>
      </p:sp>
      <p:pic>
        <p:nvPicPr>
          <p:cNvPr id="32" name="Image 8" descr="preencoded.png">
            <a:extLst>
              <a:ext uri="{FF2B5EF4-FFF2-40B4-BE49-F238E27FC236}">
                <a16:creationId xmlns:a16="http://schemas.microsoft.com/office/drawing/2014/main" id="{1A5BA65B-F130-89FC-D862-98ACB3F1B410}"/>
              </a:ext>
            </a:extLst>
          </p:cNvPr>
          <p:cNvPicPr>
            <a:picLocks noChangeAspect="1"/>
          </p:cNvPicPr>
          <p:nvPr/>
        </p:nvPicPr>
        <p:blipFill>
          <a:blip r:embed="rId10"/>
          <a:stretch>
            <a:fillRect/>
          </a:stretch>
        </p:blipFill>
        <p:spPr>
          <a:xfrm>
            <a:off x="642938" y="3243755"/>
            <a:ext cx="128588" cy="205718"/>
          </a:xfrm>
          <a:prstGeom prst="rect">
            <a:avLst/>
          </a:prstGeom>
        </p:spPr>
      </p:pic>
      <p:sp>
        <p:nvSpPr>
          <p:cNvPr id="33" name="ZoneTexte 32">
            <a:extLst>
              <a:ext uri="{FF2B5EF4-FFF2-40B4-BE49-F238E27FC236}">
                <a16:creationId xmlns:a16="http://schemas.microsoft.com/office/drawing/2014/main" id="{0FB57E33-8A64-64C5-C625-11E16D8D4544}"/>
              </a:ext>
            </a:extLst>
          </p:cNvPr>
          <p:cNvSpPr txBox="1"/>
          <p:nvPr/>
        </p:nvSpPr>
        <p:spPr>
          <a:xfrm>
            <a:off x="4807200" y="3191573"/>
            <a:ext cx="3436687" cy="384721"/>
          </a:xfrm>
          <a:prstGeom prst="rect">
            <a:avLst/>
          </a:prstGeom>
          <a:noFill/>
        </p:spPr>
        <p:txBody>
          <a:bodyPr wrap="square">
            <a:spAutoFit/>
          </a:bodyPr>
          <a:lstStyle/>
          <a:p>
            <a:r>
              <a:rPr lang="fr-FR" sz="950" b="1" dirty="0">
                <a:solidFill>
                  <a:srgbClr val="333333"/>
                </a:solidFill>
                <a:latin typeface="Arial" panose="020B0604020202020204" pitchFamily="34" charset="0"/>
                <a:ea typeface="Inter" pitchFamily="34" charset="-122"/>
                <a:cs typeface="Arial" panose="020B0604020202020204" pitchFamily="34" charset="0"/>
              </a:rPr>
              <a:t>Approche explicite</a:t>
            </a:r>
            <a:r>
              <a:rPr lang="fr-FR" sz="950" dirty="0">
                <a:solidFill>
                  <a:srgbClr val="333333"/>
                </a:solidFill>
                <a:latin typeface="Arial" panose="020B0604020202020204" pitchFamily="34" charset="0"/>
                <a:ea typeface="Inter" pitchFamily="34" charset="-122"/>
                <a:cs typeface="Arial" panose="020B0604020202020204" pitchFamily="34" charset="0"/>
              </a:rPr>
              <a:t>, valorisant la création d'un</a:t>
            </a:r>
          </a:p>
          <a:p>
            <a:r>
              <a:rPr lang="fr-FR" sz="950" dirty="0">
                <a:solidFill>
                  <a:srgbClr val="333333"/>
                </a:solidFill>
                <a:latin typeface="Arial" panose="020B0604020202020204" pitchFamily="34" charset="0"/>
                <a:ea typeface="Inter" pitchFamily="34" charset="-122"/>
                <a:cs typeface="Arial" panose="020B0604020202020204" pitchFamily="34" charset="0"/>
              </a:rPr>
              <a:t>"Profil Client" pour une expérience ultra-personnalisée.</a:t>
            </a:r>
          </a:p>
        </p:txBody>
      </p:sp>
      <p:pic>
        <p:nvPicPr>
          <p:cNvPr id="34" name="Image 8" descr="preencoded.png">
            <a:extLst>
              <a:ext uri="{FF2B5EF4-FFF2-40B4-BE49-F238E27FC236}">
                <a16:creationId xmlns:a16="http://schemas.microsoft.com/office/drawing/2014/main" id="{0102C379-ED1F-E09B-A06F-7D5E48CD76A5}"/>
              </a:ext>
            </a:extLst>
          </p:cNvPr>
          <p:cNvPicPr>
            <a:picLocks noChangeAspect="1"/>
          </p:cNvPicPr>
          <p:nvPr/>
        </p:nvPicPr>
        <p:blipFill>
          <a:blip r:embed="rId10"/>
          <a:stretch>
            <a:fillRect/>
          </a:stretch>
        </p:blipFill>
        <p:spPr>
          <a:xfrm>
            <a:off x="4697870" y="3243550"/>
            <a:ext cx="128588" cy="2057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4" name="Text 0"/>
          <p:cNvSpPr/>
          <p:nvPr/>
        </p:nvSpPr>
        <p:spPr>
          <a:xfrm>
            <a:off x="0" y="119176"/>
            <a:ext cx="5706070" cy="246221"/>
          </a:xfrm>
          <a:prstGeom prst="rect">
            <a:avLst/>
          </a:prstGeom>
          <a:noFill/>
          <a:ln/>
        </p:spPr>
        <p:txBody>
          <a:bodyPr wrap="square" lIns="0" tIns="0" rIns="0" bIns="0" rtlCol="0" anchor="t">
            <a:spAutoFit/>
          </a:bodyPr>
          <a:lstStyle/>
          <a:p>
            <a:pPr marL="0" indent="0" algn="ctr">
              <a:buNone/>
            </a:pPr>
            <a:r>
              <a:rPr lang="en-US" sz="1600" b="1" dirty="0">
                <a:solidFill>
                  <a:srgbClr val="002060"/>
                </a:solidFill>
                <a:latin typeface="Arial" panose="020B0604020202020204" pitchFamily="34" charset="0"/>
                <a:ea typeface="Space Grotesk Bold" pitchFamily="34" charset="-122"/>
                <a:cs typeface="Arial" panose="020B0604020202020204" pitchFamily="34" charset="0"/>
              </a:rPr>
              <a:t>5. </a:t>
            </a:r>
            <a:r>
              <a:rPr lang="en-US" sz="1600" b="1" dirty="0" err="1">
                <a:solidFill>
                  <a:srgbClr val="002060"/>
                </a:solidFill>
                <a:latin typeface="Arial" panose="020B0604020202020204" pitchFamily="34" charset="0"/>
                <a:ea typeface="Space Grotesk Bold" pitchFamily="34" charset="-122"/>
                <a:cs typeface="Arial" panose="020B0604020202020204" pitchFamily="34" charset="0"/>
              </a:rPr>
              <a:t>Piloter</a:t>
            </a:r>
            <a:r>
              <a:rPr lang="en-US" sz="1600" b="1" dirty="0">
                <a:solidFill>
                  <a:srgbClr val="002060"/>
                </a:solidFill>
                <a:latin typeface="Arial" panose="020B0604020202020204" pitchFamily="34" charset="0"/>
                <a:ea typeface="Space Grotesk Bold" pitchFamily="34" charset="-122"/>
                <a:cs typeface="Arial" panose="020B0604020202020204" pitchFamily="34" charset="0"/>
              </a:rPr>
              <a:t> la Stratégie Data : Les Indicateurs Clés (KPIs)</a:t>
            </a:r>
            <a:endParaRPr lang="en-US" sz="1600" dirty="0">
              <a:latin typeface="Arial" panose="020B0604020202020204" pitchFamily="34" charset="0"/>
              <a:cs typeface="Arial" panose="020B0604020202020204" pitchFamily="34" charset="0"/>
            </a:endParaRPr>
          </a:p>
        </p:txBody>
      </p:sp>
      <p:sp>
        <p:nvSpPr>
          <p:cNvPr id="5" name="Shape 1"/>
          <p:cNvSpPr/>
          <p:nvPr/>
        </p:nvSpPr>
        <p:spPr>
          <a:xfrm>
            <a:off x="642938" y="1076920"/>
            <a:ext cx="2476509" cy="387548"/>
          </a:xfrm>
          <a:prstGeom prst="rect">
            <a:avLst/>
          </a:prstGeom>
          <a:solidFill>
            <a:srgbClr val="002060"/>
          </a:solidFill>
          <a:ln/>
        </p:spPr>
      </p:sp>
      <p:sp>
        <p:nvSpPr>
          <p:cNvPr id="6" name="Text 2"/>
          <p:cNvSpPr/>
          <p:nvPr/>
        </p:nvSpPr>
        <p:spPr>
          <a:xfrm>
            <a:off x="642938" y="1076920"/>
            <a:ext cx="2476509" cy="387548"/>
          </a:xfrm>
          <a:prstGeom prst="rect">
            <a:avLst/>
          </a:prstGeom>
          <a:noFill/>
          <a:ln/>
        </p:spPr>
        <p:txBody>
          <a:bodyPr wrap="square" lIns="0" tIns="127508" rIns="0" bIns="127508" rtlCol="0" anchor="t">
            <a:spAutoFit/>
          </a:bodyPr>
          <a:lstStyle/>
          <a:p>
            <a:pPr marL="0" indent="0" algn="ctr">
              <a:buNone/>
            </a:pPr>
            <a:r>
              <a:rPr lang="en-US" sz="1000" b="1" dirty="0">
                <a:solidFill>
                  <a:srgbClr val="FFFFFF"/>
                </a:solidFill>
                <a:latin typeface="Inter Bold" pitchFamily="34" charset="0"/>
                <a:ea typeface="Inter Bold" pitchFamily="34" charset="-122"/>
                <a:cs typeface="Inter Bold" pitchFamily="34" charset="-120"/>
              </a:rPr>
              <a:t>TOFU : Visibilité</a:t>
            </a:r>
            <a:endParaRPr lang="en-US" sz="1000" dirty="0"/>
          </a:p>
        </p:txBody>
      </p:sp>
      <p:pic>
        <p:nvPicPr>
          <p:cNvPr id="7" name="Image 1" descr="preencoded.png"/>
          <p:cNvPicPr>
            <a:picLocks noChangeAspect="1"/>
          </p:cNvPicPr>
          <p:nvPr/>
        </p:nvPicPr>
        <p:blipFill>
          <a:blip r:embed="rId3"/>
          <a:stretch>
            <a:fillRect/>
          </a:stretch>
        </p:blipFill>
        <p:spPr>
          <a:xfrm>
            <a:off x="642938" y="1607344"/>
            <a:ext cx="178594" cy="164306"/>
          </a:xfrm>
          <a:prstGeom prst="rect">
            <a:avLst/>
          </a:prstGeom>
        </p:spPr>
      </p:pic>
      <p:sp>
        <p:nvSpPr>
          <p:cNvPr id="8" name="Text 3"/>
          <p:cNvSpPr/>
          <p:nvPr/>
        </p:nvSpPr>
        <p:spPr>
          <a:xfrm>
            <a:off x="928688" y="1607344"/>
            <a:ext cx="870431" cy="126766"/>
          </a:xfrm>
          <a:prstGeom prst="rect">
            <a:avLst/>
          </a:prstGeom>
          <a:noFill/>
          <a:ln/>
        </p:spPr>
        <p:txBody>
          <a:bodyPr wrap="none" lIns="0" tIns="0" rIns="0" bIns="0" rtlCol="0" anchor="t">
            <a:spAutoFit/>
          </a:bodyPr>
          <a:lstStyle/>
          <a:p>
            <a:pPr marL="0" indent="0" algn="l">
              <a:lnSpc>
                <a:spcPct val="112000"/>
              </a:lnSpc>
              <a:buNone/>
            </a:pPr>
            <a:r>
              <a:rPr lang="en-US" sz="800" b="1" dirty="0">
                <a:solidFill>
                  <a:srgbClr val="002060"/>
                </a:solidFill>
                <a:latin typeface="Arial" panose="020B0604020202020204" pitchFamily="34" charset="0"/>
                <a:ea typeface="Inter Bold" pitchFamily="34" charset="-122"/>
                <a:cs typeface="Arial" panose="020B0604020202020204" pitchFamily="34" charset="0"/>
              </a:rPr>
              <a:t>Visiteurs Uniques</a:t>
            </a:r>
            <a:endParaRPr lang="en-US" sz="800" dirty="0">
              <a:latin typeface="Arial" panose="020B0604020202020204" pitchFamily="34" charset="0"/>
              <a:cs typeface="Arial" panose="020B0604020202020204" pitchFamily="34" charset="0"/>
            </a:endParaRPr>
          </a:p>
        </p:txBody>
      </p:sp>
      <p:sp>
        <p:nvSpPr>
          <p:cNvPr id="9" name="Text 4"/>
          <p:cNvSpPr/>
          <p:nvPr/>
        </p:nvSpPr>
        <p:spPr>
          <a:xfrm>
            <a:off x="928688" y="1792356"/>
            <a:ext cx="1338508" cy="118879"/>
          </a:xfrm>
          <a:prstGeom prst="rect">
            <a:avLst/>
          </a:prstGeom>
          <a:noFill/>
          <a:ln/>
        </p:spPr>
        <p:txBody>
          <a:bodyPr wrap="none" lIns="0" tIns="0" rIns="0" bIns="0" rtlCol="0" anchor="t">
            <a:spAutoFit/>
          </a:bodyPr>
          <a:lstStyle/>
          <a:p>
            <a:pPr marL="0" indent="0" algn="l">
              <a:lnSpc>
                <a:spcPct val="112000"/>
              </a:lnSpc>
              <a:buNone/>
            </a:pPr>
            <a:r>
              <a:rPr lang="en-US" sz="750" dirty="0">
                <a:solidFill>
                  <a:srgbClr val="666666"/>
                </a:solidFill>
                <a:latin typeface="Arial" panose="020B0604020202020204" pitchFamily="34" charset="0"/>
                <a:ea typeface="Inter" pitchFamily="34" charset="-122"/>
                <a:cs typeface="Arial" panose="020B0604020202020204" pitchFamily="34" charset="0"/>
              </a:rPr>
              <a:t>Popularité et attractivité du site.</a:t>
            </a:r>
            <a:endParaRPr lang="en-US" sz="750" dirty="0">
              <a:latin typeface="Arial" panose="020B0604020202020204" pitchFamily="34" charset="0"/>
              <a:cs typeface="Arial" panose="020B0604020202020204" pitchFamily="34" charset="0"/>
            </a:endParaRPr>
          </a:p>
        </p:txBody>
      </p:sp>
      <p:pic>
        <p:nvPicPr>
          <p:cNvPr id="10" name="Image 2" descr="preencoded.png"/>
          <p:cNvPicPr>
            <a:picLocks noChangeAspect="1"/>
          </p:cNvPicPr>
          <p:nvPr/>
        </p:nvPicPr>
        <p:blipFill>
          <a:blip r:embed="rId4"/>
          <a:stretch>
            <a:fillRect/>
          </a:stretch>
        </p:blipFill>
        <p:spPr>
          <a:xfrm>
            <a:off x="642938" y="2070236"/>
            <a:ext cx="178594" cy="164306"/>
          </a:xfrm>
          <a:prstGeom prst="rect">
            <a:avLst/>
          </a:prstGeom>
        </p:spPr>
      </p:pic>
      <p:sp>
        <p:nvSpPr>
          <p:cNvPr id="11" name="Text 5"/>
          <p:cNvSpPr/>
          <p:nvPr/>
        </p:nvSpPr>
        <p:spPr>
          <a:xfrm>
            <a:off x="928688" y="2070236"/>
            <a:ext cx="973023" cy="126766"/>
          </a:xfrm>
          <a:prstGeom prst="rect">
            <a:avLst/>
          </a:prstGeom>
          <a:noFill/>
          <a:ln/>
        </p:spPr>
        <p:txBody>
          <a:bodyPr wrap="none" lIns="0" tIns="0" rIns="0" bIns="0" rtlCol="0" anchor="t">
            <a:spAutoFit/>
          </a:bodyPr>
          <a:lstStyle/>
          <a:p>
            <a:pPr marL="0" indent="0" algn="l">
              <a:lnSpc>
                <a:spcPct val="112000"/>
              </a:lnSpc>
              <a:buNone/>
            </a:pPr>
            <a:r>
              <a:rPr lang="en-US" sz="800" b="1" dirty="0">
                <a:solidFill>
                  <a:srgbClr val="002060"/>
                </a:solidFill>
                <a:latin typeface="Arial" panose="020B0604020202020204" pitchFamily="34" charset="0"/>
                <a:ea typeface="Inter Bold" pitchFamily="34" charset="-122"/>
                <a:cs typeface="Arial" panose="020B0604020202020204" pitchFamily="34" charset="0"/>
              </a:rPr>
              <a:t>Taux d'Engagement</a:t>
            </a:r>
            <a:endParaRPr lang="en-US" sz="800" dirty="0">
              <a:latin typeface="Arial" panose="020B0604020202020204" pitchFamily="34" charset="0"/>
              <a:cs typeface="Arial" panose="020B0604020202020204" pitchFamily="34" charset="0"/>
            </a:endParaRPr>
          </a:p>
        </p:txBody>
      </p:sp>
      <p:sp>
        <p:nvSpPr>
          <p:cNvPr id="12" name="Text 6"/>
          <p:cNvSpPr/>
          <p:nvPr/>
        </p:nvSpPr>
        <p:spPr>
          <a:xfrm>
            <a:off x="928688" y="2255248"/>
            <a:ext cx="1550104" cy="118879"/>
          </a:xfrm>
          <a:prstGeom prst="rect">
            <a:avLst/>
          </a:prstGeom>
          <a:noFill/>
          <a:ln/>
        </p:spPr>
        <p:txBody>
          <a:bodyPr wrap="none" lIns="0" tIns="0" rIns="0" bIns="0" rtlCol="0" anchor="t">
            <a:spAutoFit/>
          </a:bodyPr>
          <a:lstStyle/>
          <a:p>
            <a:pPr marL="0" indent="0" algn="l">
              <a:lnSpc>
                <a:spcPct val="112000"/>
              </a:lnSpc>
              <a:buNone/>
            </a:pPr>
            <a:r>
              <a:rPr lang="en-US" sz="750" dirty="0">
                <a:solidFill>
                  <a:srgbClr val="666666"/>
                </a:solidFill>
                <a:latin typeface="Arial" panose="020B0604020202020204" pitchFamily="34" charset="0"/>
                <a:ea typeface="Inter" pitchFamily="34" charset="-122"/>
                <a:cs typeface="Arial" panose="020B0604020202020204" pitchFamily="34" charset="0"/>
              </a:rPr>
              <a:t>Interactions sur les réseaux sociaux.</a:t>
            </a:r>
            <a:endParaRPr lang="en-US" sz="750" dirty="0">
              <a:latin typeface="Arial" panose="020B0604020202020204" pitchFamily="34" charset="0"/>
              <a:cs typeface="Arial" panose="020B0604020202020204" pitchFamily="34" charset="0"/>
            </a:endParaRPr>
          </a:p>
        </p:txBody>
      </p:sp>
      <p:pic>
        <p:nvPicPr>
          <p:cNvPr id="13" name="Image 3" descr="preencoded.png"/>
          <p:cNvPicPr>
            <a:picLocks noChangeAspect="1"/>
          </p:cNvPicPr>
          <p:nvPr/>
        </p:nvPicPr>
        <p:blipFill>
          <a:blip r:embed="rId5"/>
          <a:stretch>
            <a:fillRect/>
          </a:stretch>
        </p:blipFill>
        <p:spPr>
          <a:xfrm>
            <a:off x="642938" y="2533129"/>
            <a:ext cx="178594" cy="164306"/>
          </a:xfrm>
          <a:prstGeom prst="rect">
            <a:avLst/>
          </a:prstGeom>
        </p:spPr>
      </p:pic>
      <p:sp>
        <p:nvSpPr>
          <p:cNvPr id="14" name="Text 7"/>
          <p:cNvSpPr/>
          <p:nvPr/>
        </p:nvSpPr>
        <p:spPr>
          <a:xfrm>
            <a:off x="928688" y="2533129"/>
            <a:ext cx="530594" cy="126766"/>
          </a:xfrm>
          <a:prstGeom prst="rect">
            <a:avLst/>
          </a:prstGeom>
          <a:noFill/>
          <a:ln/>
        </p:spPr>
        <p:txBody>
          <a:bodyPr wrap="none" lIns="0" tIns="0" rIns="0" bIns="0" rtlCol="0" anchor="t">
            <a:spAutoFit/>
          </a:bodyPr>
          <a:lstStyle/>
          <a:p>
            <a:pPr marL="0" indent="0" algn="l">
              <a:lnSpc>
                <a:spcPct val="112000"/>
              </a:lnSpc>
              <a:buNone/>
            </a:pPr>
            <a:r>
              <a:rPr lang="en-US" sz="800" b="1" dirty="0">
                <a:solidFill>
                  <a:srgbClr val="002060"/>
                </a:solidFill>
                <a:latin typeface="Arial" panose="020B0604020202020204" pitchFamily="34" charset="0"/>
                <a:ea typeface="Inter Bold" pitchFamily="34" charset="-122"/>
                <a:cs typeface="Arial" panose="020B0604020202020204" pitchFamily="34" charset="0"/>
              </a:rPr>
              <a:t>CPC / CPM</a:t>
            </a:r>
            <a:endParaRPr lang="en-US" sz="800" dirty="0">
              <a:latin typeface="Arial" panose="020B0604020202020204" pitchFamily="34" charset="0"/>
              <a:cs typeface="Arial" panose="020B0604020202020204" pitchFamily="34" charset="0"/>
            </a:endParaRPr>
          </a:p>
        </p:txBody>
      </p:sp>
      <p:sp>
        <p:nvSpPr>
          <p:cNvPr id="15" name="Text 8"/>
          <p:cNvSpPr/>
          <p:nvPr/>
        </p:nvSpPr>
        <p:spPr>
          <a:xfrm>
            <a:off x="928688" y="2718141"/>
            <a:ext cx="1534074" cy="118879"/>
          </a:xfrm>
          <a:prstGeom prst="rect">
            <a:avLst/>
          </a:prstGeom>
          <a:noFill/>
          <a:ln/>
        </p:spPr>
        <p:txBody>
          <a:bodyPr wrap="none" lIns="0" tIns="0" rIns="0" bIns="0" rtlCol="0" anchor="t">
            <a:spAutoFit/>
          </a:bodyPr>
          <a:lstStyle/>
          <a:p>
            <a:pPr marL="0" indent="0" algn="l">
              <a:lnSpc>
                <a:spcPct val="112000"/>
              </a:lnSpc>
              <a:buNone/>
            </a:pPr>
            <a:r>
              <a:rPr lang="en-US" sz="750" dirty="0">
                <a:solidFill>
                  <a:srgbClr val="666666"/>
                </a:solidFill>
                <a:latin typeface="Arial" panose="020B0604020202020204" pitchFamily="34" charset="0"/>
                <a:ea typeface="Inter" pitchFamily="34" charset="-122"/>
                <a:cs typeface="Arial" panose="020B0604020202020204" pitchFamily="34" charset="0"/>
              </a:rPr>
              <a:t>Efficacité des campagnes payantes.</a:t>
            </a:r>
            <a:endParaRPr lang="en-US" sz="750" dirty="0">
              <a:latin typeface="Arial" panose="020B0604020202020204" pitchFamily="34" charset="0"/>
              <a:cs typeface="Arial" panose="020B0604020202020204" pitchFamily="34" charset="0"/>
            </a:endParaRPr>
          </a:p>
        </p:txBody>
      </p:sp>
      <p:sp>
        <p:nvSpPr>
          <p:cNvPr id="16" name="Shape 9"/>
          <p:cNvSpPr/>
          <p:nvPr/>
        </p:nvSpPr>
        <p:spPr>
          <a:xfrm>
            <a:off x="3333759" y="1076920"/>
            <a:ext cx="2476509" cy="387548"/>
          </a:xfrm>
          <a:prstGeom prst="rect">
            <a:avLst/>
          </a:prstGeom>
          <a:solidFill>
            <a:srgbClr val="002060"/>
          </a:solidFill>
          <a:ln/>
        </p:spPr>
      </p:sp>
      <p:sp>
        <p:nvSpPr>
          <p:cNvPr id="17" name="Text 10"/>
          <p:cNvSpPr/>
          <p:nvPr/>
        </p:nvSpPr>
        <p:spPr>
          <a:xfrm>
            <a:off x="3333759" y="1076920"/>
            <a:ext cx="2476509" cy="411395"/>
          </a:xfrm>
          <a:prstGeom prst="rect">
            <a:avLst/>
          </a:prstGeom>
          <a:noFill/>
          <a:ln/>
        </p:spPr>
        <p:txBody>
          <a:bodyPr wrap="square" lIns="0" tIns="127508" rIns="0" bIns="127508" rtlCol="0" anchor="t">
            <a:spAutoFit/>
          </a:bodyPr>
          <a:lstStyle/>
          <a:p>
            <a:pPr marL="0" indent="0" algn="ctr">
              <a:buNone/>
            </a:pPr>
            <a:r>
              <a:rPr lang="en-US" sz="1000" b="1" dirty="0">
                <a:solidFill>
                  <a:srgbClr val="FFFFFF"/>
                </a:solidFill>
                <a:latin typeface="Arial" panose="020B0604020202020204" pitchFamily="34" charset="0"/>
                <a:ea typeface="Inter Bold" pitchFamily="34" charset="-122"/>
                <a:cs typeface="Arial" panose="020B0604020202020204" pitchFamily="34" charset="0"/>
              </a:rPr>
              <a:t>MOFU : Considération</a:t>
            </a:r>
            <a:endParaRPr lang="en-US" sz="1000" dirty="0">
              <a:latin typeface="Arial" panose="020B0604020202020204" pitchFamily="34" charset="0"/>
              <a:cs typeface="Arial" panose="020B0604020202020204" pitchFamily="34" charset="0"/>
            </a:endParaRPr>
          </a:p>
        </p:txBody>
      </p:sp>
      <p:pic>
        <p:nvPicPr>
          <p:cNvPr id="18" name="Image 4" descr="preencoded.png"/>
          <p:cNvPicPr>
            <a:picLocks noChangeAspect="1"/>
          </p:cNvPicPr>
          <p:nvPr/>
        </p:nvPicPr>
        <p:blipFill>
          <a:blip r:embed="rId6"/>
          <a:stretch>
            <a:fillRect/>
          </a:stretch>
        </p:blipFill>
        <p:spPr>
          <a:xfrm>
            <a:off x="3333759" y="1607344"/>
            <a:ext cx="178594" cy="164306"/>
          </a:xfrm>
          <a:prstGeom prst="rect">
            <a:avLst/>
          </a:prstGeom>
        </p:spPr>
      </p:pic>
      <p:sp>
        <p:nvSpPr>
          <p:cNvPr id="19" name="Text 11"/>
          <p:cNvSpPr/>
          <p:nvPr/>
        </p:nvSpPr>
        <p:spPr>
          <a:xfrm>
            <a:off x="3619509" y="1607344"/>
            <a:ext cx="992259" cy="126766"/>
          </a:xfrm>
          <a:prstGeom prst="rect">
            <a:avLst/>
          </a:prstGeom>
          <a:noFill/>
          <a:ln/>
        </p:spPr>
        <p:txBody>
          <a:bodyPr wrap="none" lIns="0" tIns="0" rIns="0" bIns="0" rtlCol="0" anchor="t">
            <a:spAutoFit/>
          </a:bodyPr>
          <a:lstStyle/>
          <a:p>
            <a:pPr marL="0" indent="0" algn="l">
              <a:lnSpc>
                <a:spcPct val="112000"/>
              </a:lnSpc>
              <a:buNone/>
            </a:pPr>
            <a:r>
              <a:rPr lang="en-US" sz="800" b="1" dirty="0">
                <a:solidFill>
                  <a:srgbClr val="002060"/>
                </a:solidFill>
                <a:latin typeface="Arial" panose="020B0604020202020204" pitchFamily="34" charset="0"/>
                <a:ea typeface="Inter Bold" pitchFamily="34" charset="-122"/>
                <a:cs typeface="Arial" panose="020B0604020202020204" pitchFamily="34" charset="0"/>
              </a:rPr>
              <a:t>Conv. Configurateur</a:t>
            </a:r>
            <a:endParaRPr lang="en-US" sz="800" dirty="0">
              <a:latin typeface="Arial" panose="020B0604020202020204" pitchFamily="34" charset="0"/>
              <a:cs typeface="Arial" panose="020B0604020202020204" pitchFamily="34" charset="0"/>
            </a:endParaRPr>
          </a:p>
        </p:txBody>
      </p:sp>
      <p:sp>
        <p:nvSpPr>
          <p:cNvPr id="20" name="Text 12"/>
          <p:cNvSpPr/>
          <p:nvPr/>
        </p:nvSpPr>
        <p:spPr>
          <a:xfrm>
            <a:off x="3619509" y="1792356"/>
            <a:ext cx="1780937" cy="118879"/>
          </a:xfrm>
          <a:prstGeom prst="rect">
            <a:avLst/>
          </a:prstGeom>
          <a:noFill/>
          <a:ln/>
        </p:spPr>
        <p:txBody>
          <a:bodyPr wrap="none" lIns="0" tIns="0" rIns="0" bIns="0" rtlCol="0" anchor="t">
            <a:spAutoFit/>
          </a:bodyPr>
          <a:lstStyle/>
          <a:p>
            <a:pPr marL="0" indent="0" algn="l">
              <a:lnSpc>
                <a:spcPct val="112000"/>
              </a:lnSpc>
              <a:buNone/>
            </a:pPr>
            <a:r>
              <a:rPr lang="en-US" sz="750" dirty="0">
                <a:solidFill>
                  <a:srgbClr val="666666"/>
                </a:solidFill>
                <a:latin typeface="Arial" panose="020B0604020202020204" pitchFamily="34" charset="0"/>
                <a:ea typeface="Inter" pitchFamily="34" charset="-122"/>
                <a:cs typeface="Arial" panose="020B0604020202020204" pitchFamily="34" charset="0"/>
              </a:rPr>
              <a:t>% de visiteurs personnalisant un véhicule.</a:t>
            </a:r>
            <a:endParaRPr lang="en-US" sz="750" dirty="0">
              <a:latin typeface="Arial" panose="020B0604020202020204" pitchFamily="34" charset="0"/>
              <a:cs typeface="Arial" panose="020B0604020202020204" pitchFamily="34" charset="0"/>
            </a:endParaRPr>
          </a:p>
        </p:txBody>
      </p:sp>
      <p:pic>
        <p:nvPicPr>
          <p:cNvPr id="21" name="Image 5" descr="preencoded.png"/>
          <p:cNvPicPr>
            <a:picLocks noChangeAspect="1"/>
          </p:cNvPicPr>
          <p:nvPr/>
        </p:nvPicPr>
        <p:blipFill>
          <a:blip r:embed="rId7"/>
          <a:stretch>
            <a:fillRect/>
          </a:stretch>
        </p:blipFill>
        <p:spPr>
          <a:xfrm>
            <a:off x="3333759" y="2070236"/>
            <a:ext cx="178594" cy="164306"/>
          </a:xfrm>
          <a:prstGeom prst="rect">
            <a:avLst/>
          </a:prstGeom>
        </p:spPr>
      </p:pic>
      <p:sp>
        <p:nvSpPr>
          <p:cNvPr id="22" name="Text 13"/>
          <p:cNvSpPr/>
          <p:nvPr/>
        </p:nvSpPr>
        <p:spPr>
          <a:xfrm>
            <a:off x="3619509" y="2070236"/>
            <a:ext cx="847989" cy="126766"/>
          </a:xfrm>
          <a:prstGeom prst="rect">
            <a:avLst/>
          </a:prstGeom>
          <a:noFill/>
          <a:ln/>
        </p:spPr>
        <p:txBody>
          <a:bodyPr wrap="none" lIns="0" tIns="0" rIns="0" bIns="0" rtlCol="0" anchor="t">
            <a:spAutoFit/>
          </a:bodyPr>
          <a:lstStyle/>
          <a:p>
            <a:pPr marL="0" indent="0" algn="l">
              <a:lnSpc>
                <a:spcPct val="112000"/>
              </a:lnSpc>
              <a:buNone/>
            </a:pPr>
            <a:r>
              <a:rPr lang="en-US" sz="800" b="1" dirty="0">
                <a:solidFill>
                  <a:srgbClr val="002060"/>
                </a:solidFill>
                <a:latin typeface="Arial" panose="020B0604020202020204" pitchFamily="34" charset="0"/>
                <a:ea typeface="Inter Bold" pitchFamily="34" charset="-122"/>
                <a:cs typeface="Arial" panose="020B0604020202020204" pitchFamily="34" charset="0"/>
              </a:rPr>
              <a:t>Volume de Leads</a:t>
            </a:r>
            <a:endParaRPr lang="en-US" sz="800" dirty="0">
              <a:latin typeface="Arial" panose="020B0604020202020204" pitchFamily="34" charset="0"/>
              <a:cs typeface="Arial" panose="020B0604020202020204" pitchFamily="34" charset="0"/>
            </a:endParaRPr>
          </a:p>
        </p:txBody>
      </p:sp>
      <p:sp>
        <p:nvSpPr>
          <p:cNvPr id="23" name="Text 14"/>
          <p:cNvSpPr/>
          <p:nvPr/>
        </p:nvSpPr>
        <p:spPr>
          <a:xfrm>
            <a:off x="3619509" y="2255248"/>
            <a:ext cx="1550104" cy="118879"/>
          </a:xfrm>
          <a:prstGeom prst="rect">
            <a:avLst/>
          </a:prstGeom>
          <a:noFill/>
          <a:ln/>
        </p:spPr>
        <p:txBody>
          <a:bodyPr wrap="none" lIns="0" tIns="0" rIns="0" bIns="0" rtlCol="0" anchor="t">
            <a:spAutoFit/>
          </a:bodyPr>
          <a:lstStyle/>
          <a:p>
            <a:pPr marL="0" indent="0" algn="l">
              <a:lnSpc>
                <a:spcPct val="112000"/>
              </a:lnSpc>
              <a:buNone/>
            </a:pPr>
            <a:r>
              <a:rPr lang="en-US" sz="750" dirty="0">
                <a:solidFill>
                  <a:srgbClr val="666666"/>
                </a:solidFill>
                <a:latin typeface="Arial" panose="020B0604020202020204" pitchFamily="34" charset="0"/>
                <a:ea typeface="Inter" pitchFamily="34" charset="-122"/>
                <a:cs typeface="Arial" panose="020B0604020202020204" pitchFamily="34" charset="0"/>
              </a:rPr>
              <a:t>Demandes d'essais et de brochures.</a:t>
            </a:r>
            <a:endParaRPr lang="en-US" sz="750" dirty="0">
              <a:latin typeface="Arial" panose="020B0604020202020204" pitchFamily="34" charset="0"/>
              <a:cs typeface="Arial" panose="020B0604020202020204" pitchFamily="34" charset="0"/>
            </a:endParaRPr>
          </a:p>
        </p:txBody>
      </p:sp>
      <p:pic>
        <p:nvPicPr>
          <p:cNvPr id="24" name="Image 6" descr="preencoded.png"/>
          <p:cNvPicPr>
            <a:picLocks noChangeAspect="1"/>
          </p:cNvPicPr>
          <p:nvPr/>
        </p:nvPicPr>
        <p:blipFill>
          <a:blip r:embed="rId8"/>
          <a:stretch>
            <a:fillRect/>
          </a:stretch>
        </p:blipFill>
        <p:spPr>
          <a:xfrm>
            <a:off x="3333759" y="2533129"/>
            <a:ext cx="178594" cy="164306"/>
          </a:xfrm>
          <a:prstGeom prst="rect">
            <a:avLst/>
          </a:prstGeom>
        </p:spPr>
      </p:pic>
      <p:sp>
        <p:nvSpPr>
          <p:cNvPr id="25" name="Text 15"/>
          <p:cNvSpPr/>
          <p:nvPr/>
        </p:nvSpPr>
        <p:spPr>
          <a:xfrm>
            <a:off x="3619509" y="2533129"/>
            <a:ext cx="1003480" cy="126766"/>
          </a:xfrm>
          <a:prstGeom prst="rect">
            <a:avLst/>
          </a:prstGeom>
          <a:noFill/>
          <a:ln/>
        </p:spPr>
        <p:txBody>
          <a:bodyPr wrap="none" lIns="0" tIns="0" rIns="0" bIns="0" rtlCol="0" anchor="t">
            <a:spAutoFit/>
          </a:bodyPr>
          <a:lstStyle/>
          <a:p>
            <a:pPr marL="0" indent="0" algn="l">
              <a:lnSpc>
                <a:spcPct val="112000"/>
              </a:lnSpc>
              <a:buNone/>
            </a:pPr>
            <a:r>
              <a:rPr lang="en-US" sz="800" b="1" dirty="0">
                <a:solidFill>
                  <a:srgbClr val="002060"/>
                </a:solidFill>
                <a:latin typeface="Arial" panose="020B0604020202020204" pitchFamily="34" charset="0"/>
                <a:ea typeface="Inter Bold" pitchFamily="34" charset="-122"/>
                <a:cs typeface="Arial" panose="020B0604020202020204" pitchFamily="34" charset="0"/>
              </a:rPr>
              <a:t>Taux de Clic E-mails</a:t>
            </a:r>
            <a:endParaRPr lang="en-US" sz="800" dirty="0">
              <a:latin typeface="Arial" panose="020B0604020202020204" pitchFamily="34" charset="0"/>
              <a:cs typeface="Arial" panose="020B0604020202020204" pitchFamily="34" charset="0"/>
            </a:endParaRPr>
          </a:p>
        </p:txBody>
      </p:sp>
      <p:sp>
        <p:nvSpPr>
          <p:cNvPr id="26" name="Text 16"/>
          <p:cNvSpPr/>
          <p:nvPr/>
        </p:nvSpPr>
        <p:spPr>
          <a:xfrm>
            <a:off x="3619509" y="2718141"/>
            <a:ext cx="953787" cy="118879"/>
          </a:xfrm>
          <a:prstGeom prst="rect">
            <a:avLst/>
          </a:prstGeom>
          <a:noFill/>
          <a:ln/>
        </p:spPr>
        <p:txBody>
          <a:bodyPr wrap="none" lIns="0" tIns="0" rIns="0" bIns="0" rtlCol="0" anchor="t">
            <a:spAutoFit/>
          </a:bodyPr>
          <a:lstStyle/>
          <a:p>
            <a:pPr marL="0" indent="0" algn="l">
              <a:lnSpc>
                <a:spcPct val="112000"/>
              </a:lnSpc>
              <a:buNone/>
            </a:pPr>
            <a:r>
              <a:rPr lang="en-US" sz="750" dirty="0">
                <a:solidFill>
                  <a:srgbClr val="666666"/>
                </a:solidFill>
                <a:latin typeface="Arial" panose="020B0604020202020204" pitchFamily="34" charset="0"/>
                <a:ea typeface="Inter" pitchFamily="34" charset="-122"/>
                <a:cs typeface="Arial" panose="020B0604020202020204" pitchFamily="34" charset="0"/>
              </a:rPr>
              <a:t>Efficacité du nurturing.</a:t>
            </a:r>
            <a:endParaRPr lang="en-US" sz="750" dirty="0">
              <a:latin typeface="Arial" panose="020B0604020202020204" pitchFamily="34" charset="0"/>
              <a:cs typeface="Arial" panose="020B0604020202020204" pitchFamily="34" charset="0"/>
            </a:endParaRPr>
          </a:p>
        </p:txBody>
      </p:sp>
      <p:sp>
        <p:nvSpPr>
          <p:cNvPr id="27" name="Shape 17"/>
          <p:cNvSpPr/>
          <p:nvPr/>
        </p:nvSpPr>
        <p:spPr>
          <a:xfrm>
            <a:off x="6024581" y="1076920"/>
            <a:ext cx="2476509" cy="387548"/>
          </a:xfrm>
          <a:prstGeom prst="rect">
            <a:avLst/>
          </a:prstGeom>
          <a:solidFill>
            <a:srgbClr val="002060"/>
          </a:solidFill>
          <a:ln/>
        </p:spPr>
      </p:sp>
      <p:sp>
        <p:nvSpPr>
          <p:cNvPr id="28" name="Text 18"/>
          <p:cNvSpPr/>
          <p:nvPr/>
        </p:nvSpPr>
        <p:spPr>
          <a:xfrm>
            <a:off x="6024581" y="1076920"/>
            <a:ext cx="2476509" cy="411395"/>
          </a:xfrm>
          <a:prstGeom prst="rect">
            <a:avLst/>
          </a:prstGeom>
          <a:noFill/>
          <a:ln/>
        </p:spPr>
        <p:txBody>
          <a:bodyPr wrap="square" lIns="0" tIns="127508" rIns="0" bIns="127508" rtlCol="0" anchor="t">
            <a:spAutoFit/>
          </a:bodyPr>
          <a:lstStyle/>
          <a:p>
            <a:pPr marL="0" indent="0" algn="ctr">
              <a:buNone/>
            </a:pPr>
            <a:r>
              <a:rPr lang="en-US" sz="1000" b="1" dirty="0">
                <a:solidFill>
                  <a:srgbClr val="FFFFFF"/>
                </a:solidFill>
                <a:latin typeface="Arial" panose="020B0604020202020204" pitchFamily="34" charset="0"/>
                <a:ea typeface="Inter Bold" pitchFamily="34" charset="-122"/>
                <a:cs typeface="Arial" panose="020B0604020202020204" pitchFamily="34" charset="0"/>
              </a:rPr>
              <a:t>BOFU : Conversion</a:t>
            </a:r>
            <a:endParaRPr lang="en-US" sz="1000" dirty="0">
              <a:latin typeface="Arial" panose="020B0604020202020204" pitchFamily="34" charset="0"/>
              <a:cs typeface="Arial" panose="020B0604020202020204" pitchFamily="34" charset="0"/>
            </a:endParaRPr>
          </a:p>
        </p:txBody>
      </p:sp>
      <p:pic>
        <p:nvPicPr>
          <p:cNvPr id="29" name="Image 7" descr="preencoded.png"/>
          <p:cNvPicPr>
            <a:picLocks noChangeAspect="1"/>
          </p:cNvPicPr>
          <p:nvPr/>
        </p:nvPicPr>
        <p:blipFill>
          <a:blip r:embed="rId9"/>
          <a:stretch>
            <a:fillRect/>
          </a:stretch>
        </p:blipFill>
        <p:spPr>
          <a:xfrm>
            <a:off x="6024581" y="1607344"/>
            <a:ext cx="178594" cy="164306"/>
          </a:xfrm>
          <a:prstGeom prst="rect">
            <a:avLst/>
          </a:prstGeom>
        </p:spPr>
      </p:pic>
      <p:sp>
        <p:nvSpPr>
          <p:cNvPr id="30" name="Text 19"/>
          <p:cNvSpPr/>
          <p:nvPr/>
        </p:nvSpPr>
        <p:spPr>
          <a:xfrm>
            <a:off x="6310331" y="1607344"/>
            <a:ext cx="1171796" cy="126766"/>
          </a:xfrm>
          <a:prstGeom prst="rect">
            <a:avLst/>
          </a:prstGeom>
          <a:noFill/>
          <a:ln/>
        </p:spPr>
        <p:txBody>
          <a:bodyPr wrap="none" lIns="0" tIns="0" rIns="0" bIns="0" rtlCol="0" anchor="t">
            <a:spAutoFit/>
          </a:bodyPr>
          <a:lstStyle/>
          <a:p>
            <a:pPr marL="0" indent="0" algn="l">
              <a:lnSpc>
                <a:spcPct val="112000"/>
              </a:lnSpc>
              <a:buNone/>
            </a:pPr>
            <a:r>
              <a:rPr lang="en-US" sz="800" b="1" dirty="0">
                <a:solidFill>
                  <a:srgbClr val="002060"/>
                </a:solidFill>
                <a:latin typeface="Arial" panose="020B0604020202020204" pitchFamily="34" charset="0"/>
                <a:ea typeface="Inter Bold" pitchFamily="34" charset="-122"/>
                <a:cs typeface="Arial" panose="020B0604020202020204" pitchFamily="34" charset="0"/>
              </a:rPr>
              <a:t>Taux de Transformation</a:t>
            </a:r>
            <a:endParaRPr lang="en-US" sz="800" dirty="0">
              <a:latin typeface="Arial" panose="020B0604020202020204" pitchFamily="34" charset="0"/>
              <a:cs typeface="Arial" panose="020B0604020202020204" pitchFamily="34" charset="0"/>
            </a:endParaRPr>
          </a:p>
        </p:txBody>
      </p:sp>
      <p:sp>
        <p:nvSpPr>
          <p:cNvPr id="31" name="Text 20"/>
          <p:cNvSpPr/>
          <p:nvPr/>
        </p:nvSpPr>
        <p:spPr>
          <a:xfrm>
            <a:off x="6310331" y="1792356"/>
            <a:ext cx="1094852" cy="118879"/>
          </a:xfrm>
          <a:prstGeom prst="rect">
            <a:avLst/>
          </a:prstGeom>
          <a:noFill/>
          <a:ln/>
        </p:spPr>
        <p:txBody>
          <a:bodyPr wrap="none" lIns="0" tIns="0" rIns="0" bIns="0" rtlCol="0" anchor="t">
            <a:spAutoFit/>
          </a:bodyPr>
          <a:lstStyle/>
          <a:p>
            <a:pPr marL="0" indent="0" algn="l">
              <a:lnSpc>
                <a:spcPct val="112000"/>
              </a:lnSpc>
              <a:buNone/>
            </a:pPr>
            <a:r>
              <a:rPr lang="en-US" sz="750" dirty="0">
                <a:solidFill>
                  <a:srgbClr val="666666"/>
                </a:solidFill>
                <a:latin typeface="Arial" panose="020B0604020202020204" pitchFamily="34" charset="0"/>
                <a:ea typeface="Inter" pitchFamily="34" charset="-122"/>
                <a:cs typeface="Arial" panose="020B0604020202020204" pitchFamily="34" charset="0"/>
              </a:rPr>
              <a:t>(Achats / Visiteurs) x 100.</a:t>
            </a:r>
            <a:endParaRPr lang="en-US" sz="750" dirty="0">
              <a:latin typeface="Arial" panose="020B0604020202020204" pitchFamily="34" charset="0"/>
              <a:cs typeface="Arial" panose="020B0604020202020204" pitchFamily="34" charset="0"/>
            </a:endParaRPr>
          </a:p>
        </p:txBody>
      </p:sp>
      <p:pic>
        <p:nvPicPr>
          <p:cNvPr id="32" name="Image 8" descr="preencoded.png"/>
          <p:cNvPicPr>
            <a:picLocks noChangeAspect="1"/>
          </p:cNvPicPr>
          <p:nvPr/>
        </p:nvPicPr>
        <p:blipFill>
          <a:blip r:embed="rId10"/>
          <a:stretch>
            <a:fillRect/>
          </a:stretch>
        </p:blipFill>
        <p:spPr>
          <a:xfrm>
            <a:off x="6024581" y="2070236"/>
            <a:ext cx="178594" cy="164306"/>
          </a:xfrm>
          <a:prstGeom prst="rect">
            <a:avLst/>
          </a:prstGeom>
        </p:spPr>
      </p:pic>
      <p:sp>
        <p:nvSpPr>
          <p:cNvPr id="33" name="Text 21"/>
          <p:cNvSpPr/>
          <p:nvPr/>
        </p:nvSpPr>
        <p:spPr>
          <a:xfrm>
            <a:off x="6310331" y="2070236"/>
            <a:ext cx="501740" cy="126766"/>
          </a:xfrm>
          <a:prstGeom prst="rect">
            <a:avLst/>
          </a:prstGeom>
          <a:noFill/>
          <a:ln/>
        </p:spPr>
        <p:txBody>
          <a:bodyPr wrap="none" lIns="0" tIns="0" rIns="0" bIns="0" rtlCol="0" anchor="t">
            <a:spAutoFit/>
          </a:bodyPr>
          <a:lstStyle/>
          <a:p>
            <a:pPr marL="0" indent="0" algn="l">
              <a:lnSpc>
                <a:spcPct val="112000"/>
              </a:lnSpc>
              <a:buNone/>
            </a:pPr>
            <a:r>
              <a:rPr lang="en-US" sz="800" b="1" dirty="0">
                <a:solidFill>
                  <a:srgbClr val="002060"/>
                </a:solidFill>
                <a:latin typeface="Arial" panose="020B0604020202020204" pitchFamily="34" charset="0"/>
                <a:ea typeface="Inter Bold" pitchFamily="34" charset="-122"/>
                <a:cs typeface="Arial" panose="020B0604020202020204" pitchFamily="34" charset="0"/>
              </a:rPr>
              <a:t>CAC / LTV</a:t>
            </a:r>
            <a:endParaRPr lang="en-US" sz="800" dirty="0">
              <a:latin typeface="Arial" panose="020B0604020202020204" pitchFamily="34" charset="0"/>
              <a:cs typeface="Arial" panose="020B0604020202020204" pitchFamily="34" charset="0"/>
            </a:endParaRPr>
          </a:p>
        </p:txBody>
      </p:sp>
      <p:sp>
        <p:nvSpPr>
          <p:cNvPr id="34" name="Text 22"/>
          <p:cNvSpPr/>
          <p:nvPr/>
        </p:nvSpPr>
        <p:spPr>
          <a:xfrm>
            <a:off x="6310331" y="2255248"/>
            <a:ext cx="1271182" cy="118879"/>
          </a:xfrm>
          <a:prstGeom prst="rect">
            <a:avLst/>
          </a:prstGeom>
          <a:noFill/>
          <a:ln/>
        </p:spPr>
        <p:txBody>
          <a:bodyPr wrap="none" lIns="0" tIns="0" rIns="0" bIns="0" rtlCol="0" anchor="t">
            <a:spAutoFit/>
          </a:bodyPr>
          <a:lstStyle/>
          <a:p>
            <a:pPr marL="0" indent="0" algn="l">
              <a:lnSpc>
                <a:spcPct val="112000"/>
              </a:lnSpc>
              <a:buNone/>
            </a:pPr>
            <a:r>
              <a:rPr lang="en-US" sz="750" dirty="0">
                <a:solidFill>
                  <a:srgbClr val="666666"/>
                </a:solidFill>
                <a:latin typeface="Arial" panose="020B0604020202020204" pitchFamily="34" charset="0"/>
                <a:ea typeface="Inter" pitchFamily="34" charset="-122"/>
                <a:cs typeface="Arial" panose="020B0604020202020204" pitchFamily="34" charset="0"/>
              </a:rPr>
              <a:t>Rentabilité et valeur vie client.</a:t>
            </a:r>
            <a:endParaRPr lang="en-US" sz="750" dirty="0">
              <a:latin typeface="Arial" panose="020B0604020202020204" pitchFamily="34" charset="0"/>
              <a:cs typeface="Arial" panose="020B0604020202020204" pitchFamily="34" charset="0"/>
            </a:endParaRPr>
          </a:p>
        </p:txBody>
      </p:sp>
      <p:pic>
        <p:nvPicPr>
          <p:cNvPr id="35" name="Image 9" descr="preencoded.png"/>
          <p:cNvPicPr>
            <a:picLocks noChangeAspect="1"/>
          </p:cNvPicPr>
          <p:nvPr/>
        </p:nvPicPr>
        <p:blipFill>
          <a:blip r:embed="rId11"/>
          <a:stretch>
            <a:fillRect/>
          </a:stretch>
        </p:blipFill>
        <p:spPr>
          <a:xfrm>
            <a:off x="6024581" y="2533129"/>
            <a:ext cx="178594" cy="164306"/>
          </a:xfrm>
          <a:prstGeom prst="rect">
            <a:avLst/>
          </a:prstGeom>
        </p:spPr>
      </p:pic>
      <p:sp>
        <p:nvSpPr>
          <p:cNvPr id="36" name="Text 23"/>
          <p:cNvSpPr/>
          <p:nvPr/>
        </p:nvSpPr>
        <p:spPr>
          <a:xfrm>
            <a:off x="6310331" y="2533129"/>
            <a:ext cx="891270" cy="126766"/>
          </a:xfrm>
          <a:prstGeom prst="rect">
            <a:avLst/>
          </a:prstGeom>
          <a:noFill/>
          <a:ln/>
        </p:spPr>
        <p:txBody>
          <a:bodyPr wrap="none" lIns="0" tIns="0" rIns="0" bIns="0" rtlCol="0" anchor="t">
            <a:spAutoFit/>
          </a:bodyPr>
          <a:lstStyle/>
          <a:p>
            <a:pPr marL="0" indent="0" algn="l">
              <a:lnSpc>
                <a:spcPct val="112000"/>
              </a:lnSpc>
              <a:buNone/>
            </a:pPr>
            <a:r>
              <a:rPr lang="en-US" sz="800" b="1" dirty="0">
                <a:solidFill>
                  <a:srgbClr val="002060"/>
                </a:solidFill>
                <a:latin typeface="Arial" panose="020B0604020202020204" pitchFamily="34" charset="0"/>
                <a:ea typeface="Inter Bold" pitchFamily="34" charset="-122"/>
                <a:cs typeface="Arial" panose="020B0604020202020204" pitchFamily="34" charset="0"/>
              </a:rPr>
              <a:t>Taux de Rétention</a:t>
            </a:r>
            <a:endParaRPr lang="en-US" sz="800" dirty="0">
              <a:latin typeface="Arial" panose="020B0604020202020204" pitchFamily="34" charset="0"/>
              <a:cs typeface="Arial" panose="020B0604020202020204" pitchFamily="34" charset="0"/>
            </a:endParaRPr>
          </a:p>
        </p:txBody>
      </p:sp>
      <p:sp>
        <p:nvSpPr>
          <p:cNvPr id="37" name="Text 24"/>
          <p:cNvSpPr/>
          <p:nvPr/>
        </p:nvSpPr>
        <p:spPr>
          <a:xfrm>
            <a:off x="6310331" y="2718141"/>
            <a:ext cx="1128514" cy="118879"/>
          </a:xfrm>
          <a:prstGeom prst="rect">
            <a:avLst/>
          </a:prstGeom>
          <a:noFill/>
          <a:ln/>
        </p:spPr>
        <p:txBody>
          <a:bodyPr wrap="none" lIns="0" tIns="0" rIns="0" bIns="0" rtlCol="0" anchor="t">
            <a:spAutoFit/>
          </a:bodyPr>
          <a:lstStyle/>
          <a:p>
            <a:pPr marL="0" indent="0" algn="l">
              <a:lnSpc>
                <a:spcPct val="112000"/>
              </a:lnSpc>
              <a:buNone/>
            </a:pPr>
            <a:r>
              <a:rPr lang="en-US" sz="750" dirty="0">
                <a:solidFill>
                  <a:srgbClr val="666666"/>
                </a:solidFill>
                <a:latin typeface="Arial" panose="020B0604020202020204" pitchFamily="34" charset="0"/>
                <a:ea typeface="Inter" pitchFamily="34" charset="-122"/>
                <a:cs typeface="Arial" panose="020B0604020202020204" pitchFamily="34" charset="0"/>
              </a:rPr>
              <a:t>Fidélité et risque de churn.</a:t>
            </a:r>
            <a:endParaRPr lang="en-US" sz="750"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4" name="Text 0"/>
          <p:cNvSpPr/>
          <p:nvPr/>
        </p:nvSpPr>
        <p:spPr>
          <a:xfrm>
            <a:off x="69535" y="94421"/>
            <a:ext cx="4773927" cy="492443"/>
          </a:xfrm>
          <a:prstGeom prst="rect">
            <a:avLst/>
          </a:prstGeom>
          <a:noFill/>
          <a:ln/>
        </p:spPr>
        <p:txBody>
          <a:bodyPr wrap="square" lIns="0" tIns="0" rIns="0" bIns="0" rtlCol="0" anchor="t">
            <a:spAutoFit/>
          </a:bodyPr>
          <a:lstStyle/>
          <a:p>
            <a:pPr marL="0" indent="0" algn="ctr">
              <a:buNone/>
            </a:pPr>
            <a:r>
              <a:rPr lang="en-US" sz="1600" b="1" dirty="0">
                <a:solidFill>
                  <a:srgbClr val="002060"/>
                </a:solidFill>
                <a:latin typeface="Arial" panose="020B0604020202020204" pitchFamily="34" charset="0"/>
                <a:ea typeface="Space Grotesk Bold" pitchFamily="34" charset="-122"/>
                <a:cs typeface="Arial" panose="020B0604020202020204" pitchFamily="34" charset="0"/>
              </a:rPr>
              <a:t>6. </a:t>
            </a:r>
            <a:r>
              <a:rPr lang="en-US" sz="1600" b="1" dirty="0" err="1">
                <a:solidFill>
                  <a:srgbClr val="002060"/>
                </a:solidFill>
                <a:latin typeface="Arial" panose="020B0604020202020204" pitchFamily="34" charset="0"/>
                <a:ea typeface="Space Grotesk Bold" pitchFamily="34" charset="-122"/>
                <a:cs typeface="Arial" panose="020B0604020202020204" pitchFamily="34" charset="0"/>
              </a:rPr>
              <a:t>Enrichir</a:t>
            </a:r>
            <a:r>
              <a:rPr lang="en-US" sz="1600" b="1" dirty="0">
                <a:solidFill>
                  <a:srgbClr val="002060"/>
                </a:solidFill>
                <a:latin typeface="Arial" panose="020B0604020202020204" pitchFamily="34" charset="0"/>
                <a:ea typeface="Space Grotesk Bold" pitchFamily="34" charset="-122"/>
                <a:cs typeface="Arial" panose="020B0604020202020204" pitchFamily="34" charset="0"/>
              </a:rPr>
              <a:t> la Connaissance Client : Internes &amp; Externes</a:t>
            </a:r>
            <a:endParaRPr lang="en-US" sz="1600" dirty="0">
              <a:latin typeface="Arial" panose="020B0604020202020204" pitchFamily="34" charset="0"/>
              <a:cs typeface="Arial" panose="020B0604020202020204" pitchFamily="34" charset="0"/>
            </a:endParaRPr>
          </a:p>
        </p:txBody>
      </p:sp>
      <p:pic>
        <p:nvPicPr>
          <p:cNvPr id="5" name="Image 1" descr="preencoded.png"/>
          <p:cNvPicPr>
            <a:picLocks noChangeAspect="1"/>
          </p:cNvPicPr>
          <p:nvPr/>
        </p:nvPicPr>
        <p:blipFill>
          <a:blip r:embed="rId3"/>
          <a:stretch>
            <a:fillRect/>
          </a:stretch>
        </p:blipFill>
        <p:spPr>
          <a:xfrm>
            <a:off x="1630356" y="324717"/>
            <a:ext cx="5636436" cy="3172273"/>
          </a:xfrm>
          <a:prstGeom prst="rect">
            <a:avLst/>
          </a:prstGeom>
        </p:spPr>
      </p:pic>
      <p:sp>
        <p:nvSpPr>
          <p:cNvPr id="6" name="Text 1"/>
          <p:cNvSpPr/>
          <p:nvPr/>
        </p:nvSpPr>
        <p:spPr>
          <a:xfrm>
            <a:off x="527540" y="3321401"/>
            <a:ext cx="3771900" cy="212238"/>
          </a:xfrm>
          <a:prstGeom prst="rect">
            <a:avLst/>
          </a:prstGeom>
          <a:noFill/>
          <a:ln/>
        </p:spPr>
        <p:txBody>
          <a:bodyPr wrap="square" lIns="0" tIns="0" rIns="0" bIns="42545" rtlCol="0" anchor="t">
            <a:spAutoFit/>
          </a:bodyPr>
          <a:lstStyle/>
          <a:p>
            <a:pPr marL="0" indent="0" algn="l">
              <a:buNone/>
            </a:pPr>
            <a:r>
              <a:rPr lang="en-US" sz="1100" b="1" dirty="0">
                <a:solidFill>
                  <a:srgbClr val="0070C0"/>
                </a:solidFill>
                <a:latin typeface="Arial" panose="020B0604020202020204" pitchFamily="34" charset="0"/>
                <a:ea typeface="Space Grotesk Bold" pitchFamily="34" charset="-122"/>
                <a:cs typeface="Arial" panose="020B0604020202020204" pitchFamily="34" charset="0"/>
              </a:rPr>
              <a:t>Sources Internes</a:t>
            </a:r>
            <a:endParaRPr lang="en-US" sz="1100" dirty="0">
              <a:latin typeface="Arial" panose="020B0604020202020204" pitchFamily="34" charset="0"/>
              <a:cs typeface="Arial" panose="020B0604020202020204" pitchFamily="34" charset="0"/>
            </a:endParaRPr>
          </a:p>
        </p:txBody>
      </p:sp>
      <p:sp>
        <p:nvSpPr>
          <p:cNvPr id="7" name="Text 2"/>
          <p:cNvSpPr/>
          <p:nvPr/>
        </p:nvSpPr>
        <p:spPr>
          <a:xfrm>
            <a:off x="527540" y="3629405"/>
            <a:ext cx="3771900" cy="146194"/>
          </a:xfrm>
          <a:prstGeom prst="rect">
            <a:avLst/>
          </a:prstGeom>
          <a:noFill/>
          <a:ln/>
        </p:spPr>
        <p:txBody>
          <a:bodyPr wrap="square" lIns="212598" tIns="0" rIns="0" bIns="0" rtlCol="0" anchor="t">
            <a:spAutoFit/>
          </a:bodyPr>
          <a:lstStyle/>
          <a:p>
            <a:pPr marL="0" indent="0" algn="l">
              <a:buNone/>
            </a:pPr>
            <a:r>
              <a:rPr lang="en-US" sz="900" b="1" dirty="0">
                <a:solidFill>
                  <a:srgbClr val="002060"/>
                </a:solidFill>
                <a:latin typeface="Arial" panose="020B0604020202020204" pitchFamily="34" charset="0"/>
                <a:ea typeface="Inter Bold" pitchFamily="34" charset="-122"/>
                <a:cs typeface="Arial" panose="020B0604020202020204" pitchFamily="34" charset="0"/>
              </a:rPr>
              <a:t>CRM/DMP :</a:t>
            </a:r>
            <a:r>
              <a:rPr lang="en-US" sz="950" dirty="0">
                <a:solidFill>
                  <a:srgbClr val="333333"/>
                </a:solidFill>
                <a:latin typeface="Arial" panose="020B0604020202020204" pitchFamily="34" charset="0"/>
                <a:ea typeface="Inter" pitchFamily="34" charset="-122"/>
                <a:cs typeface="Arial" panose="020B0604020202020204" pitchFamily="34" charset="0"/>
              </a:rPr>
              <a:t> Historique d'achat, SAV, préférences.</a:t>
            </a:r>
            <a:endParaRPr lang="en-US" sz="900" dirty="0">
              <a:latin typeface="Arial" panose="020B0604020202020204" pitchFamily="34" charset="0"/>
              <a:cs typeface="Arial" panose="020B0604020202020204" pitchFamily="34" charset="0"/>
            </a:endParaRPr>
          </a:p>
        </p:txBody>
      </p:sp>
      <p:sp>
        <p:nvSpPr>
          <p:cNvPr id="8" name="Text 3"/>
          <p:cNvSpPr/>
          <p:nvPr/>
        </p:nvSpPr>
        <p:spPr>
          <a:xfrm>
            <a:off x="527540" y="3856219"/>
            <a:ext cx="3771900" cy="146194"/>
          </a:xfrm>
          <a:prstGeom prst="rect">
            <a:avLst/>
          </a:prstGeom>
          <a:noFill/>
          <a:ln/>
        </p:spPr>
        <p:txBody>
          <a:bodyPr wrap="square" lIns="212598" tIns="0" rIns="0" bIns="0" rtlCol="0" anchor="t">
            <a:spAutoFit/>
          </a:bodyPr>
          <a:lstStyle/>
          <a:p>
            <a:pPr marL="0" indent="0" algn="l">
              <a:buNone/>
            </a:pPr>
            <a:r>
              <a:rPr lang="en-US" sz="900" b="1" dirty="0">
                <a:solidFill>
                  <a:srgbClr val="002060"/>
                </a:solidFill>
                <a:latin typeface="Arial" panose="020B0604020202020204" pitchFamily="34" charset="0"/>
                <a:ea typeface="Inter Bold" pitchFamily="34" charset="-122"/>
                <a:cs typeface="Arial" panose="020B0604020202020204" pitchFamily="34" charset="0"/>
              </a:rPr>
              <a:t>Sites web/Apps :</a:t>
            </a:r>
            <a:r>
              <a:rPr lang="en-US" sz="950" dirty="0">
                <a:solidFill>
                  <a:srgbClr val="333333"/>
                </a:solidFill>
                <a:latin typeface="Arial" panose="020B0604020202020204" pitchFamily="34" charset="0"/>
                <a:ea typeface="Inter" pitchFamily="34" charset="-122"/>
                <a:cs typeface="Arial" panose="020B0604020202020204" pitchFamily="34" charset="0"/>
              </a:rPr>
              <a:t> Navigation, configurateur, téléchargements.</a:t>
            </a:r>
            <a:endParaRPr lang="en-US" sz="900" dirty="0">
              <a:latin typeface="Arial" panose="020B0604020202020204" pitchFamily="34" charset="0"/>
              <a:cs typeface="Arial" panose="020B0604020202020204" pitchFamily="34" charset="0"/>
            </a:endParaRPr>
          </a:p>
        </p:txBody>
      </p:sp>
      <p:sp>
        <p:nvSpPr>
          <p:cNvPr id="9" name="Text 4"/>
          <p:cNvSpPr/>
          <p:nvPr/>
        </p:nvSpPr>
        <p:spPr>
          <a:xfrm>
            <a:off x="527540" y="4049568"/>
            <a:ext cx="3771900" cy="146194"/>
          </a:xfrm>
          <a:prstGeom prst="rect">
            <a:avLst/>
          </a:prstGeom>
          <a:noFill/>
          <a:ln/>
        </p:spPr>
        <p:txBody>
          <a:bodyPr wrap="square" lIns="212598" tIns="0" rIns="0" bIns="0" rtlCol="0" anchor="t">
            <a:spAutoFit/>
          </a:bodyPr>
          <a:lstStyle/>
          <a:p>
            <a:pPr marL="0" indent="0" algn="l">
              <a:buNone/>
            </a:pPr>
            <a:r>
              <a:rPr lang="en-US" sz="900" b="1" dirty="0">
                <a:solidFill>
                  <a:srgbClr val="002060"/>
                </a:solidFill>
                <a:latin typeface="Arial" panose="020B0604020202020204" pitchFamily="34" charset="0"/>
                <a:ea typeface="Inter Bold" pitchFamily="34" charset="-122"/>
                <a:cs typeface="Arial" panose="020B0604020202020204" pitchFamily="34" charset="0"/>
              </a:rPr>
              <a:t>Concessions :</a:t>
            </a:r>
            <a:r>
              <a:rPr lang="en-US" sz="950" dirty="0">
                <a:solidFill>
                  <a:srgbClr val="333333"/>
                </a:solidFill>
                <a:latin typeface="Arial" panose="020B0604020202020204" pitchFamily="34" charset="0"/>
                <a:ea typeface="Inter" pitchFamily="34" charset="-122"/>
                <a:cs typeface="Arial" panose="020B0604020202020204" pitchFamily="34" charset="0"/>
              </a:rPr>
              <a:t> Test drive, interactions commerciales.</a:t>
            </a:r>
            <a:endParaRPr lang="en-US" sz="900" dirty="0">
              <a:latin typeface="Arial" panose="020B0604020202020204" pitchFamily="34" charset="0"/>
              <a:cs typeface="Arial" panose="020B0604020202020204" pitchFamily="34" charset="0"/>
            </a:endParaRPr>
          </a:p>
        </p:txBody>
      </p:sp>
      <p:sp>
        <p:nvSpPr>
          <p:cNvPr id="10" name="Text 5"/>
          <p:cNvSpPr/>
          <p:nvPr/>
        </p:nvSpPr>
        <p:spPr>
          <a:xfrm>
            <a:off x="527540" y="4276383"/>
            <a:ext cx="3771900" cy="146194"/>
          </a:xfrm>
          <a:prstGeom prst="rect">
            <a:avLst/>
          </a:prstGeom>
          <a:noFill/>
          <a:ln/>
        </p:spPr>
        <p:txBody>
          <a:bodyPr wrap="square" lIns="212598" tIns="0" rIns="0" bIns="0" rtlCol="0" anchor="t">
            <a:spAutoFit/>
          </a:bodyPr>
          <a:lstStyle/>
          <a:p>
            <a:pPr marL="0" indent="0" algn="l">
              <a:buNone/>
            </a:pPr>
            <a:r>
              <a:rPr lang="en-US" sz="900" b="1" dirty="0">
                <a:solidFill>
                  <a:srgbClr val="002060"/>
                </a:solidFill>
                <a:latin typeface="Arial" panose="020B0604020202020204" pitchFamily="34" charset="0"/>
                <a:ea typeface="Inter Bold" pitchFamily="34" charset="-122"/>
                <a:cs typeface="Arial" panose="020B0604020202020204" pitchFamily="34" charset="0"/>
              </a:rPr>
              <a:t>Véhicules Connectés :</a:t>
            </a:r>
            <a:r>
              <a:rPr lang="en-US" sz="950" dirty="0">
                <a:solidFill>
                  <a:srgbClr val="333333"/>
                </a:solidFill>
                <a:latin typeface="Arial" panose="020B0604020202020204" pitchFamily="34" charset="0"/>
                <a:ea typeface="Inter" pitchFamily="34" charset="-122"/>
                <a:cs typeface="Arial" panose="020B0604020202020204" pitchFamily="34" charset="0"/>
              </a:rPr>
              <a:t> Données d'usage et télémétrie.</a:t>
            </a:r>
            <a:endParaRPr lang="en-US" sz="900" dirty="0">
              <a:latin typeface="Arial" panose="020B0604020202020204" pitchFamily="34" charset="0"/>
              <a:cs typeface="Arial" panose="020B0604020202020204" pitchFamily="34" charset="0"/>
            </a:endParaRPr>
          </a:p>
        </p:txBody>
      </p:sp>
      <p:pic>
        <p:nvPicPr>
          <p:cNvPr id="11" name="Image 2" descr="preencoded.png"/>
          <p:cNvPicPr>
            <a:picLocks noChangeAspect="1"/>
          </p:cNvPicPr>
          <p:nvPr/>
        </p:nvPicPr>
        <p:blipFill>
          <a:blip r:embed="rId4"/>
          <a:stretch>
            <a:fillRect/>
          </a:stretch>
        </p:blipFill>
        <p:spPr>
          <a:xfrm>
            <a:off x="527540" y="3643692"/>
            <a:ext cx="114300" cy="114300"/>
          </a:xfrm>
          <a:prstGeom prst="rect">
            <a:avLst/>
          </a:prstGeom>
        </p:spPr>
      </p:pic>
      <p:pic>
        <p:nvPicPr>
          <p:cNvPr id="12" name="Image 3" descr="preencoded.png"/>
          <p:cNvPicPr>
            <a:picLocks noChangeAspect="1"/>
          </p:cNvPicPr>
          <p:nvPr/>
        </p:nvPicPr>
        <p:blipFill>
          <a:blip r:embed="rId5"/>
          <a:stretch>
            <a:fillRect/>
          </a:stretch>
        </p:blipFill>
        <p:spPr>
          <a:xfrm>
            <a:off x="527540" y="3870506"/>
            <a:ext cx="114300" cy="114300"/>
          </a:xfrm>
          <a:prstGeom prst="rect">
            <a:avLst/>
          </a:prstGeom>
        </p:spPr>
      </p:pic>
      <p:pic>
        <p:nvPicPr>
          <p:cNvPr id="13" name="Image 4" descr="preencoded.png"/>
          <p:cNvPicPr>
            <a:picLocks noChangeAspect="1"/>
          </p:cNvPicPr>
          <p:nvPr/>
        </p:nvPicPr>
        <p:blipFill>
          <a:blip r:embed="rId6"/>
          <a:stretch>
            <a:fillRect/>
          </a:stretch>
        </p:blipFill>
        <p:spPr>
          <a:xfrm>
            <a:off x="527540" y="4063856"/>
            <a:ext cx="114300" cy="114300"/>
          </a:xfrm>
          <a:prstGeom prst="rect">
            <a:avLst/>
          </a:prstGeom>
        </p:spPr>
      </p:pic>
      <p:pic>
        <p:nvPicPr>
          <p:cNvPr id="14" name="Image 5" descr="preencoded.png"/>
          <p:cNvPicPr>
            <a:picLocks noChangeAspect="1"/>
          </p:cNvPicPr>
          <p:nvPr/>
        </p:nvPicPr>
        <p:blipFill>
          <a:blip r:embed="rId4"/>
          <a:stretch>
            <a:fillRect/>
          </a:stretch>
        </p:blipFill>
        <p:spPr>
          <a:xfrm>
            <a:off x="527540" y="4290670"/>
            <a:ext cx="114300" cy="114300"/>
          </a:xfrm>
          <a:prstGeom prst="rect">
            <a:avLst/>
          </a:prstGeom>
        </p:spPr>
      </p:pic>
      <p:sp>
        <p:nvSpPr>
          <p:cNvPr id="15" name="Text 6"/>
          <p:cNvSpPr/>
          <p:nvPr/>
        </p:nvSpPr>
        <p:spPr>
          <a:xfrm>
            <a:off x="4448574" y="3318192"/>
            <a:ext cx="3771900" cy="212238"/>
          </a:xfrm>
          <a:prstGeom prst="rect">
            <a:avLst/>
          </a:prstGeom>
          <a:noFill/>
          <a:ln/>
        </p:spPr>
        <p:txBody>
          <a:bodyPr wrap="square" lIns="0" tIns="0" rIns="0" bIns="42545" rtlCol="0" anchor="t">
            <a:spAutoFit/>
          </a:bodyPr>
          <a:lstStyle/>
          <a:p>
            <a:pPr marL="0" indent="0" algn="l">
              <a:buNone/>
            </a:pPr>
            <a:r>
              <a:rPr lang="en-US" sz="1100" b="1" dirty="0">
                <a:solidFill>
                  <a:srgbClr val="0070C0"/>
                </a:solidFill>
                <a:latin typeface="Arial" panose="020B0604020202020204" pitchFamily="34" charset="0"/>
                <a:ea typeface="Space Grotesk Bold" pitchFamily="34" charset="-122"/>
                <a:cs typeface="Arial" panose="020B0604020202020204" pitchFamily="34" charset="0"/>
              </a:rPr>
              <a:t>Sources Externes</a:t>
            </a:r>
            <a:endParaRPr lang="en-US" sz="1100" dirty="0">
              <a:latin typeface="Arial" panose="020B0604020202020204" pitchFamily="34" charset="0"/>
              <a:cs typeface="Arial" panose="020B0604020202020204" pitchFamily="34" charset="0"/>
            </a:endParaRPr>
          </a:p>
        </p:txBody>
      </p:sp>
      <p:sp>
        <p:nvSpPr>
          <p:cNvPr id="16" name="Text 7"/>
          <p:cNvSpPr/>
          <p:nvPr/>
        </p:nvSpPr>
        <p:spPr>
          <a:xfrm>
            <a:off x="4448574" y="3622668"/>
            <a:ext cx="3771900" cy="146194"/>
          </a:xfrm>
          <a:prstGeom prst="rect">
            <a:avLst/>
          </a:prstGeom>
          <a:noFill/>
          <a:ln/>
        </p:spPr>
        <p:txBody>
          <a:bodyPr wrap="square" lIns="212598" tIns="0" rIns="0" bIns="0" rtlCol="0" anchor="t">
            <a:spAutoFit/>
          </a:bodyPr>
          <a:lstStyle/>
          <a:p>
            <a:pPr marL="0" indent="0" algn="l">
              <a:buNone/>
            </a:pPr>
            <a:r>
              <a:rPr lang="en-US" sz="900" b="1" dirty="0">
                <a:solidFill>
                  <a:srgbClr val="002060"/>
                </a:solidFill>
                <a:latin typeface="Arial" panose="020B0604020202020204" pitchFamily="34" charset="0"/>
                <a:ea typeface="Inter Bold" pitchFamily="34" charset="-122"/>
                <a:cs typeface="Arial" panose="020B0604020202020204" pitchFamily="34" charset="0"/>
              </a:rPr>
              <a:t>Socio-démographiques :</a:t>
            </a:r>
            <a:r>
              <a:rPr lang="en-US" sz="950" b="1" dirty="0">
                <a:solidFill>
                  <a:srgbClr val="333333"/>
                </a:solidFill>
                <a:latin typeface="Arial" panose="020B0604020202020204" pitchFamily="34" charset="0"/>
                <a:ea typeface="Inter" pitchFamily="34" charset="-122"/>
                <a:cs typeface="Arial" panose="020B0604020202020204" pitchFamily="34" charset="0"/>
              </a:rPr>
              <a:t> INSEE</a:t>
            </a:r>
            <a:r>
              <a:rPr lang="en-US" sz="950" dirty="0">
                <a:solidFill>
                  <a:srgbClr val="333333"/>
                </a:solidFill>
                <a:latin typeface="Arial" panose="020B0604020202020204" pitchFamily="34" charset="0"/>
                <a:ea typeface="Inter" pitchFamily="34" charset="-122"/>
                <a:cs typeface="Arial" panose="020B0604020202020204" pitchFamily="34" charset="0"/>
              </a:rPr>
              <a:t>, études de marché.</a:t>
            </a:r>
            <a:endParaRPr lang="en-US" sz="900" dirty="0">
              <a:latin typeface="Arial" panose="020B0604020202020204" pitchFamily="34" charset="0"/>
              <a:cs typeface="Arial" panose="020B0604020202020204" pitchFamily="34" charset="0"/>
            </a:endParaRPr>
          </a:p>
        </p:txBody>
      </p:sp>
      <p:sp>
        <p:nvSpPr>
          <p:cNvPr id="17" name="Text 8"/>
          <p:cNvSpPr/>
          <p:nvPr/>
        </p:nvSpPr>
        <p:spPr>
          <a:xfrm>
            <a:off x="4458604" y="4094128"/>
            <a:ext cx="4404894" cy="146194"/>
          </a:xfrm>
          <a:prstGeom prst="rect">
            <a:avLst/>
          </a:prstGeom>
          <a:noFill/>
          <a:ln/>
        </p:spPr>
        <p:txBody>
          <a:bodyPr wrap="square" lIns="212598" tIns="0" rIns="0" bIns="0" rtlCol="0" anchor="t">
            <a:spAutoFit/>
          </a:bodyPr>
          <a:lstStyle/>
          <a:p>
            <a:r>
              <a:rPr lang="fr-FR" sz="900" b="1" dirty="0">
                <a:solidFill>
                  <a:srgbClr val="002060"/>
                </a:solidFill>
                <a:latin typeface="Arial" panose="020B0604020202020204" pitchFamily="34" charset="0"/>
                <a:ea typeface="Inter Bold" pitchFamily="34" charset="-122"/>
                <a:cs typeface="Arial" panose="020B0604020202020204" pitchFamily="34" charset="0"/>
              </a:rPr>
              <a:t>Données automobiles et analyses du marché : </a:t>
            </a:r>
            <a:r>
              <a:rPr lang="fr-FR" sz="950" dirty="0">
                <a:solidFill>
                  <a:srgbClr val="333333"/>
                </a:solidFill>
                <a:latin typeface="Arial" panose="020B0604020202020204" pitchFamily="34" charset="0"/>
                <a:ea typeface="Inter" pitchFamily="34" charset="-122"/>
                <a:cs typeface="Arial" panose="020B0604020202020204" pitchFamily="34" charset="0"/>
              </a:rPr>
              <a:t>JATO Dynamics</a:t>
            </a:r>
            <a:endParaRPr lang="en-US" sz="950" dirty="0">
              <a:solidFill>
                <a:srgbClr val="333333"/>
              </a:solidFill>
              <a:latin typeface="Arial" panose="020B0604020202020204" pitchFamily="34" charset="0"/>
              <a:ea typeface="Inter" pitchFamily="34" charset="-122"/>
              <a:cs typeface="Arial" panose="020B0604020202020204" pitchFamily="34" charset="0"/>
            </a:endParaRPr>
          </a:p>
        </p:txBody>
      </p:sp>
      <p:sp>
        <p:nvSpPr>
          <p:cNvPr id="18" name="Text 9"/>
          <p:cNvSpPr/>
          <p:nvPr/>
        </p:nvSpPr>
        <p:spPr>
          <a:xfrm>
            <a:off x="4458602" y="4305552"/>
            <a:ext cx="4685397" cy="138499"/>
          </a:xfrm>
          <a:prstGeom prst="rect">
            <a:avLst/>
          </a:prstGeom>
          <a:noFill/>
          <a:ln/>
        </p:spPr>
        <p:txBody>
          <a:bodyPr wrap="square" lIns="212598" tIns="0" rIns="0" bIns="0" rtlCol="0" anchor="t">
            <a:spAutoFit/>
          </a:bodyPr>
          <a:lstStyle/>
          <a:p>
            <a:r>
              <a:rPr lang="fr-FR" sz="900" b="1" dirty="0">
                <a:solidFill>
                  <a:srgbClr val="002060"/>
                </a:solidFill>
                <a:latin typeface="Arial" panose="020B0604020202020204" pitchFamily="34" charset="0"/>
                <a:ea typeface="Inter Bold" pitchFamily="34" charset="-122"/>
                <a:cs typeface="Arial" panose="020B0604020202020204" pitchFamily="34" charset="0"/>
              </a:rPr>
              <a:t>Données sur les immatriculations et statistiques du secteur automobile: </a:t>
            </a:r>
            <a:r>
              <a:rPr lang="fr-FR" sz="900" dirty="0"/>
              <a:t>CCFA</a:t>
            </a:r>
            <a:endParaRPr lang="en-US" sz="900" dirty="0">
              <a:latin typeface="Arial" panose="020B0604020202020204" pitchFamily="34" charset="0"/>
              <a:cs typeface="Arial" panose="020B0604020202020204" pitchFamily="34" charset="0"/>
            </a:endParaRPr>
          </a:p>
        </p:txBody>
      </p:sp>
      <p:pic>
        <p:nvPicPr>
          <p:cNvPr id="20" name="Image 6" descr="preencoded.png"/>
          <p:cNvPicPr>
            <a:picLocks noChangeAspect="1"/>
          </p:cNvPicPr>
          <p:nvPr/>
        </p:nvPicPr>
        <p:blipFill>
          <a:blip r:embed="rId4"/>
          <a:stretch>
            <a:fillRect/>
          </a:stretch>
        </p:blipFill>
        <p:spPr>
          <a:xfrm>
            <a:off x="4480862" y="3643692"/>
            <a:ext cx="114300" cy="114300"/>
          </a:xfrm>
          <a:prstGeom prst="rect">
            <a:avLst/>
          </a:prstGeom>
        </p:spPr>
      </p:pic>
      <p:pic>
        <p:nvPicPr>
          <p:cNvPr id="21" name="Image 7" descr="preencoded.png"/>
          <p:cNvPicPr>
            <a:picLocks noChangeAspect="1"/>
          </p:cNvPicPr>
          <p:nvPr/>
        </p:nvPicPr>
        <p:blipFill>
          <a:blip r:embed="rId5"/>
          <a:stretch>
            <a:fillRect/>
          </a:stretch>
        </p:blipFill>
        <p:spPr>
          <a:xfrm>
            <a:off x="4458604" y="4099148"/>
            <a:ext cx="114300" cy="114300"/>
          </a:xfrm>
          <a:prstGeom prst="rect">
            <a:avLst/>
          </a:prstGeom>
        </p:spPr>
      </p:pic>
      <p:pic>
        <p:nvPicPr>
          <p:cNvPr id="22" name="Image 8" descr="preencoded.png"/>
          <p:cNvPicPr>
            <a:picLocks noChangeAspect="1"/>
          </p:cNvPicPr>
          <p:nvPr/>
        </p:nvPicPr>
        <p:blipFill>
          <a:blip r:embed="rId7"/>
          <a:stretch>
            <a:fillRect/>
          </a:stretch>
        </p:blipFill>
        <p:spPr>
          <a:xfrm>
            <a:off x="4458604" y="4317652"/>
            <a:ext cx="114300" cy="114300"/>
          </a:xfrm>
          <a:prstGeom prst="rect">
            <a:avLst/>
          </a:prstGeom>
        </p:spPr>
      </p:pic>
      <p:sp>
        <p:nvSpPr>
          <p:cNvPr id="2" name="Text 9">
            <a:extLst>
              <a:ext uri="{FF2B5EF4-FFF2-40B4-BE49-F238E27FC236}">
                <a16:creationId xmlns:a16="http://schemas.microsoft.com/office/drawing/2014/main" id="{696FE4DD-32FB-5FA3-9665-7817136B6049}"/>
              </a:ext>
            </a:extLst>
          </p:cNvPr>
          <p:cNvSpPr/>
          <p:nvPr/>
        </p:nvSpPr>
        <p:spPr>
          <a:xfrm>
            <a:off x="4456981" y="3863246"/>
            <a:ext cx="3771900" cy="146194"/>
          </a:xfrm>
          <a:prstGeom prst="rect">
            <a:avLst/>
          </a:prstGeom>
          <a:noFill/>
          <a:ln/>
        </p:spPr>
        <p:txBody>
          <a:bodyPr wrap="square" lIns="212598" tIns="0" rIns="0" bIns="0" rtlCol="0" anchor="t">
            <a:spAutoFit/>
          </a:bodyPr>
          <a:lstStyle/>
          <a:p>
            <a:pPr marL="0" indent="0" algn="l">
              <a:buNone/>
            </a:pPr>
            <a:r>
              <a:rPr lang="en-US" sz="900" b="1" dirty="0">
                <a:solidFill>
                  <a:srgbClr val="002060"/>
                </a:solidFill>
                <a:latin typeface="Arial" panose="020B0604020202020204" pitchFamily="34" charset="0"/>
                <a:ea typeface="Inter Bold" pitchFamily="34" charset="-122"/>
                <a:cs typeface="Arial" panose="020B0604020202020204" pitchFamily="34" charset="0"/>
              </a:rPr>
              <a:t>Réseaux sociaux :</a:t>
            </a:r>
            <a:r>
              <a:rPr lang="en-US" sz="950" dirty="0">
                <a:solidFill>
                  <a:srgbClr val="333333"/>
                </a:solidFill>
                <a:latin typeface="Arial" panose="020B0604020202020204" pitchFamily="34" charset="0"/>
                <a:ea typeface="Inter" pitchFamily="34" charset="-122"/>
                <a:cs typeface="Arial" panose="020B0604020202020204" pitchFamily="34" charset="0"/>
              </a:rPr>
              <a:t> Sentiment, tendances, influenceurs.</a:t>
            </a:r>
            <a:endParaRPr lang="en-US" sz="900" dirty="0">
              <a:latin typeface="Arial" panose="020B0604020202020204" pitchFamily="34" charset="0"/>
              <a:cs typeface="Arial" panose="020B0604020202020204" pitchFamily="34" charset="0"/>
            </a:endParaRPr>
          </a:p>
        </p:txBody>
      </p:sp>
      <p:pic>
        <p:nvPicPr>
          <p:cNvPr id="24" name="Image 7" descr="preencoded.png">
            <a:extLst>
              <a:ext uri="{FF2B5EF4-FFF2-40B4-BE49-F238E27FC236}">
                <a16:creationId xmlns:a16="http://schemas.microsoft.com/office/drawing/2014/main" id="{6E091FC9-34D6-9AC2-0E27-B91D2C5E4C32}"/>
              </a:ext>
            </a:extLst>
          </p:cNvPr>
          <p:cNvPicPr>
            <a:picLocks noChangeAspect="1"/>
          </p:cNvPicPr>
          <p:nvPr/>
        </p:nvPicPr>
        <p:blipFill>
          <a:blip r:embed="rId5"/>
          <a:stretch>
            <a:fillRect/>
          </a:stretch>
        </p:blipFill>
        <p:spPr>
          <a:xfrm>
            <a:off x="4468528" y="3874574"/>
            <a:ext cx="114300" cy="114300"/>
          </a:xfrm>
          <a:prstGeom prst="rect">
            <a:avLst/>
          </a:prstGeom>
        </p:spPr>
      </p:pic>
      <p:sp>
        <p:nvSpPr>
          <p:cNvPr id="31" name="Rectangle : coins arrondis 30">
            <a:extLst>
              <a:ext uri="{FF2B5EF4-FFF2-40B4-BE49-F238E27FC236}">
                <a16:creationId xmlns:a16="http://schemas.microsoft.com/office/drawing/2014/main" id="{2940F3F7-36CE-710A-C6EA-16129D673969}"/>
              </a:ext>
            </a:extLst>
          </p:cNvPr>
          <p:cNvSpPr/>
          <p:nvPr/>
        </p:nvSpPr>
        <p:spPr>
          <a:xfrm>
            <a:off x="5754797" y="2490092"/>
            <a:ext cx="1278621" cy="505835"/>
          </a:xfrm>
          <a:prstGeom prst="roundRect">
            <a:avLst/>
          </a:prstGeom>
          <a:solidFill>
            <a:srgbClr val="FBFDFD"/>
          </a:solidFill>
          <a:ln>
            <a:solidFill>
              <a:srgbClr val="FBFD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26" name="Groupe 25">
            <a:extLst>
              <a:ext uri="{FF2B5EF4-FFF2-40B4-BE49-F238E27FC236}">
                <a16:creationId xmlns:a16="http://schemas.microsoft.com/office/drawing/2014/main" id="{8798605F-50E9-1647-87F5-C45AD45F9ED6}"/>
              </a:ext>
            </a:extLst>
          </p:cNvPr>
          <p:cNvGrpSpPr/>
          <p:nvPr/>
        </p:nvGrpSpPr>
        <p:grpSpPr>
          <a:xfrm>
            <a:off x="5798450" y="2494497"/>
            <a:ext cx="1351655" cy="534627"/>
            <a:chOff x="6069917" y="2658125"/>
            <a:chExt cx="1351655" cy="534627"/>
          </a:xfrm>
        </p:grpSpPr>
        <p:pic>
          <p:nvPicPr>
            <p:cNvPr id="33" name="Image 32">
              <a:extLst>
                <a:ext uri="{FF2B5EF4-FFF2-40B4-BE49-F238E27FC236}">
                  <a16:creationId xmlns:a16="http://schemas.microsoft.com/office/drawing/2014/main" id="{743B6E43-8C93-46DD-9384-9A98907AE036}"/>
                </a:ext>
              </a:extLst>
            </p:cNvPr>
            <p:cNvPicPr>
              <a:picLocks noChangeAspect="1"/>
            </p:cNvPicPr>
            <p:nvPr/>
          </p:nvPicPr>
          <p:blipFill>
            <a:blip r:embed="rId8"/>
            <a:stretch>
              <a:fillRect/>
            </a:stretch>
          </p:blipFill>
          <p:spPr>
            <a:xfrm>
              <a:off x="6450148" y="2861905"/>
              <a:ext cx="328500" cy="330847"/>
            </a:xfrm>
            <a:prstGeom prst="rect">
              <a:avLst/>
            </a:prstGeom>
          </p:spPr>
        </p:pic>
        <p:pic>
          <p:nvPicPr>
            <p:cNvPr id="34" name="Image 33">
              <a:extLst>
                <a:ext uri="{FF2B5EF4-FFF2-40B4-BE49-F238E27FC236}">
                  <a16:creationId xmlns:a16="http://schemas.microsoft.com/office/drawing/2014/main" id="{9275540E-A5D7-0585-4916-5D5BBA328324}"/>
                </a:ext>
              </a:extLst>
            </p:cNvPr>
            <p:cNvPicPr>
              <a:picLocks noChangeAspect="1"/>
            </p:cNvPicPr>
            <p:nvPr/>
          </p:nvPicPr>
          <p:blipFill>
            <a:blip r:embed="rId9"/>
            <a:stretch>
              <a:fillRect/>
            </a:stretch>
          </p:blipFill>
          <p:spPr>
            <a:xfrm>
              <a:off x="6069917" y="2658125"/>
              <a:ext cx="349101" cy="330846"/>
            </a:xfrm>
            <a:prstGeom prst="rect">
              <a:avLst/>
            </a:prstGeom>
          </p:spPr>
        </p:pic>
        <p:sp>
          <p:nvSpPr>
            <p:cNvPr id="35" name="ZoneTexte 34">
              <a:extLst>
                <a:ext uri="{FF2B5EF4-FFF2-40B4-BE49-F238E27FC236}">
                  <a16:creationId xmlns:a16="http://schemas.microsoft.com/office/drawing/2014/main" id="{DCE03316-6BEA-F992-983E-C5945A8114A4}"/>
                </a:ext>
              </a:extLst>
            </p:cNvPr>
            <p:cNvSpPr txBox="1"/>
            <p:nvPr/>
          </p:nvSpPr>
          <p:spPr>
            <a:xfrm>
              <a:off x="6773959" y="2956989"/>
              <a:ext cx="418857" cy="207749"/>
            </a:xfrm>
            <a:prstGeom prst="rect">
              <a:avLst/>
            </a:prstGeom>
            <a:noFill/>
          </p:spPr>
          <p:txBody>
            <a:bodyPr wrap="square" rtlCol="0">
              <a:spAutoFit/>
            </a:bodyPr>
            <a:lstStyle>
              <a:lvl1pPr>
                <a:defRPr sz="750" b="1">
                  <a:solidFill>
                    <a:srgbClr val="0E376B"/>
                  </a:solidFill>
                  <a:latin typeface="Aptos Display" panose="020B0004020202020204" pitchFamily="34" charset="0"/>
                </a:defRPr>
              </a:lvl1pPr>
            </a:lstStyle>
            <a:p>
              <a:r>
                <a:rPr lang="fr-FR" dirty="0"/>
                <a:t>CCFA</a:t>
              </a:r>
            </a:p>
          </p:txBody>
        </p:sp>
        <p:sp>
          <p:nvSpPr>
            <p:cNvPr id="36" name="ZoneTexte 35">
              <a:extLst>
                <a:ext uri="{FF2B5EF4-FFF2-40B4-BE49-F238E27FC236}">
                  <a16:creationId xmlns:a16="http://schemas.microsoft.com/office/drawing/2014/main" id="{2DBE657B-BBF9-F514-7069-6A6CC591D8B5}"/>
                </a:ext>
              </a:extLst>
            </p:cNvPr>
            <p:cNvSpPr txBox="1"/>
            <p:nvPr/>
          </p:nvSpPr>
          <p:spPr>
            <a:xfrm>
              <a:off x="6394108" y="2688345"/>
              <a:ext cx="1027464" cy="207749"/>
            </a:xfrm>
            <a:prstGeom prst="rect">
              <a:avLst/>
            </a:prstGeom>
            <a:noFill/>
          </p:spPr>
          <p:txBody>
            <a:bodyPr wrap="square" rtlCol="0">
              <a:spAutoFit/>
            </a:bodyPr>
            <a:lstStyle/>
            <a:p>
              <a:r>
                <a:rPr lang="fr-FR" sz="750" b="1" dirty="0">
                  <a:solidFill>
                    <a:srgbClr val="0E376B"/>
                  </a:solidFill>
                  <a:latin typeface="Aptos Display" panose="020B0004020202020204" pitchFamily="34" charset="0"/>
                </a:rPr>
                <a:t>JATO DYNAMICS</a:t>
              </a:r>
            </a:p>
          </p:txBody>
        </p:sp>
      </p:grpSp>
      <p:sp>
        <p:nvSpPr>
          <p:cNvPr id="19" name="ZoneTexte 18">
            <a:extLst>
              <a:ext uri="{FF2B5EF4-FFF2-40B4-BE49-F238E27FC236}">
                <a16:creationId xmlns:a16="http://schemas.microsoft.com/office/drawing/2014/main" id="{688D920C-6EB2-DF64-9A77-312A035CAC88}"/>
              </a:ext>
            </a:extLst>
          </p:cNvPr>
          <p:cNvSpPr txBox="1"/>
          <p:nvPr/>
        </p:nvSpPr>
        <p:spPr>
          <a:xfrm>
            <a:off x="337359" y="4567258"/>
            <a:ext cx="3847780" cy="530915"/>
          </a:xfrm>
          <a:prstGeom prst="rect">
            <a:avLst/>
          </a:prstGeom>
          <a:noFill/>
        </p:spPr>
        <p:txBody>
          <a:bodyPr wrap="square">
            <a:spAutoFit/>
          </a:bodyPr>
          <a:lstStyle/>
          <a:p>
            <a:r>
              <a:rPr lang="en-GB" sz="950" dirty="0">
                <a:solidFill>
                  <a:srgbClr val="333333"/>
                </a:solidFill>
                <a:latin typeface="Arial" panose="020B0604020202020204" pitchFamily="34" charset="0"/>
                <a:ea typeface="Inter" pitchFamily="34" charset="-122"/>
                <a:cs typeface="Arial" panose="020B0604020202020204" pitchFamily="34" charset="0"/>
              </a:rPr>
              <a:t>Acquisition &amp; Personalization</a:t>
            </a:r>
          </a:p>
          <a:p>
            <a:r>
              <a:rPr lang="en-GB" sz="950" dirty="0">
                <a:solidFill>
                  <a:srgbClr val="333333"/>
                </a:solidFill>
                <a:latin typeface="Arial" panose="020B0604020202020204" pitchFamily="34" charset="0"/>
                <a:ea typeface="Inter" pitchFamily="34" charset="-122"/>
                <a:cs typeface="Arial" panose="020B0604020202020204" pitchFamily="34" charset="0"/>
              </a:rPr>
              <a:t>AI-driven scoring reduces CPC by 17% </a:t>
            </a:r>
          </a:p>
          <a:p>
            <a:r>
              <a:rPr lang="en-GB" sz="950" dirty="0">
                <a:solidFill>
                  <a:srgbClr val="333333"/>
                </a:solidFill>
                <a:latin typeface="Arial" panose="020B0604020202020204" pitchFamily="34" charset="0"/>
                <a:ea typeface="Inter" pitchFamily="34" charset="-122"/>
                <a:cs typeface="Arial" panose="020B0604020202020204" pitchFamily="34" charset="0"/>
              </a:rPr>
              <a:t>Increasing performance against competitive pressures (BYD/</a:t>
            </a:r>
            <a:r>
              <a:rPr lang="en-GB" sz="950" dirty="0" err="1">
                <a:solidFill>
                  <a:srgbClr val="333333"/>
                </a:solidFill>
                <a:latin typeface="Arial" panose="020B0604020202020204" pitchFamily="34" charset="0"/>
                <a:ea typeface="Inter" pitchFamily="34" charset="-122"/>
                <a:cs typeface="Arial" panose="020B0604020202020204" pitchFamily="34" charset="0"/>
              </a:rPr>
              <a:t>Xpeng</a:t>
            </a:r>
            <a:r>
              <a:rPr lang="en-GB" sz="950" dirty="0">
                <a:solidFill>
                  <a:srgbClr val="333333"/>
                </a:solidFill>
                <a:latin typeface="Arial" panose="020B0604020202020204" pitchFamily="34" charset="0"/>
                <a:ea typeface="Inter" pitchFamily="34" charset="-122"/>
                <a:cs typeface="Arial" panose="020B0604020202020204" pitchFamily="34" charset="0"/>
              </a:rPr>
              <a:t>).</a:t>
            </a:r>
            <a:endParaRPr lang="en-FR" sz="950" dirty="0">
              <a:solidFill>
                <a:srgbClr val="333333"/>
              </a:solidFill>
              <a:latin typeface="Arial" panose="020B0604020202020204" pitchFamily="34" charset="0"/>
              <a:ea typeface="Inter" pitchFamily="34" charset="-122"/>
              <a:cs typeface="Arial" panose="020B0604020202020204" pitchFamily="34" charset="0"/>
            </a:endParaRPr>
          </a:p>
        </p:txBody>
      </p:sp>
      <p:pic>
        <p:nvPicPr>
          <p:cNvPr id="2050" name="Picture 2" descr="Les stéréogrammes - Le blog de liloo23">
            <a:extLst>
              <a:ext uri="{FF2B5EF4-FFF2-40B4-BE49-F238E27FC236}">
                <a16:creationId xmlns:a16="http://schemas.microsoft.com/office/drawing/2014/main" id="{293254D1-5301-2766-FD08-BF8983567D47}"/>
              </a:ext>
            </a:extLst>
          </p:cNvPr>
          <p:cNvPicPr>
            <a:picLocks noChangeAspect="1" noChangeArrowheads="1"/>
          </p:cNvPicPr>
          <p:nvPr/>
        </p:nvPicPr>
        <p:blipFill>
          <a:blip r:embed="rId10">
            <a:extLst>
              <a:ext uri="{BEBA8EAE-BF5A-486C-A8C5-ECC9F3942E4B}">
                <a14:imgProps xmlns:a14="http://schemas.microsoft.com/office/drawing/2010/main">
                  <a14:imgLayer r:embed="rId11">
                    <a14:imgEffect>
                      <a14:artisticPlasticWrap/>
                    </a14:imgEffect>
                    <a14:imgEffect>
                      <a14:colorTemperature colorTemp="5300"/>
                    </a14:imgEffect>
                  </a14:imgLayer>
                </a14:imgProps>
              </a:ext>
              <a:ext uri="{28A0092B-C50C-407E-A947-70E740481C1C}">
                <a14:useLocalDpi xmlns:a14="http://schemas.microsoft.com/office/drawing/2010/main" val="0"/>
              </a:ext>
            </a:extLst>
          </a:blip>
          <a:srcRect/>
          <a:stretch>
            <a:fillRect/>
          </a:stretch>
        </p:blipFill>
        <p:spPr bwMode="auto">
          <a:xfrm>
            <a:off x="91138" y="4709606"/>
            <a:ext cx="246221" cy="246221"/>
          </a:xfrm>
          <a:prstGeom prst="rect">
            <a:avLst/>
          </a:prstGeom>
          <a:extLst>
            <a:ext uri="{909E8E84-426E-40DD-AFC4-6F175D3DCCD1}">
              <a14:hiddenFill xmlns:a14="http://schemas.microsoft.com/office/drawing/2010/main">
                <a:solidFill>
                  <a:srgbClr val="FFFFFF"/>
                </a:solidFill>
              </a14:hiddenFill>
            </a:ext>
          </a:extLst>
        </p:spPr>
      </p:pic>
      <p:sp>
        <p:nvSpPr>
          <p:cNvPr id="53" name="ZoneTexte 52">
            <a:extLst>
              <a:ext uri="{FF2B5EF4-FFF2-40B4-BE49-F238E27FC236}">
                <a16:creationId xmlns:a16="http://schemas.microsoft.com/office/drawing/2014/main" id="{3C8C6657-8C79-0647-5109-E425016C9F30}"/>
              </a:ext>
            </a:extLst>
          </p:cNvPr>
          <p:cNvSpPr txBox="1"/>
          <p:nvPr/>
        </p:nvSpPr>
        <p:spPr>
          <a:xfrm>
            <a:off x="4571999" y="4553325"/>
            <a:ext cx="4572000" cy="530915"/>
          </a:xfrm>
          <a:prstGeom prst="rect">
            <a:avLst/>
          </a:prstGeom>
          <a:noFill/>
        </p:spPr>
        <p:txBody>
          <a:bodyPr wrap="square">
            <a:spAutoFit/>
          </a:bodyPr>
          <a:lstStyle>
            <a:defPPr>
              <a:defRPr lang="en-US"/>
            </a:defPPr>
            <a:lvl1pPr>
              <a:defRPr sz="950">
                <a:solidFill>
                  <a:srgbClr val="333333"/>
                </a:solidFill>
                <a:latin typeface="Arial" panose="020B0604020202020204" pitchFamily="34" charset="0"/>
                <a:ea typeface="Inter" pitchFamily="34" charset="-122"/>
                <a:cs typeface="Arial" panose="020B0604020202020204" pitchFamily="34" charset="0"/>
              </a:defRPr>
            </a:lvl1pPr>
          </a:lstStyle>
          <a:p>
            <a:r>
              <a:rPr lang="en-GB" dirty="0"/>
              <a:t>Experience &amp; Monetization</a:t>
            </a:r>
          </a:p>
          <a:p>
            <a:r>
              <a:rPr lang="en-GB" dirty="0"/>
              <a:t>5G-enabled 360° client views drive "Next Best Offer" (NBA/NBO) strategies and Post-purchase OTA service monetization.</a:t>
            </a:r>
            <a:endParaRPr lang="en-F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4" name="Text 0"/>
          <p:cNvSpPr/>
          <p:nvPr/>
        </p:nvSpPr>
        <p:spPr>
          <a:xfrm>
            <a:off x="138448" y="97373"/>
            <a:ext cx="5094813" cy="246221"/>
          </a:xfrm>
          <a:prstGeom prst="rect">
            <a:avLst/>
          </a:prstGeom>
          <a:noFill/>
          <a:ln/>
        </p:spPr>
        <p:txBody>
          <a:bodyPr wrap="square" lIns="0" tIns="0" rIns="0" bIns="0" rtlCol="0" anchor="t">
            <a:spAutoFit/>
          </a:bodyPr>
          <a:lstStyle/>
          <a:p>
            <a:pPr marL="0" indent="0" algn="ctr">
              <a:buNone/>
            </a:pPr>
            <a:r>
              <a:rPr lang="en-US" sz="1600" b="1" dirty="0">
                <a:solidFill>
                  <a:srgbClr val="002060"/>
                </a:solidFill>
                <a:latin typeface="Arial" panose="020B0604020202020204" pitchFamily="34" charset="0"/>
                <a:ea typeface="Space Grotesk Bold" pitchFamily="34" charset="-122"/>
                <a:cs typeface="Arial" panose="020B0604020202020204" pitchFamily="34" charset="0"/>
              </a:rPr>
              <a:t>7. Vers une Stratégie Data Optimisée : Actions Clés</a:t>
            </a:r>
            <a:endParaRPr lang="en-US" sz="1600" dirty="0">
              <a:latin typeface="Arial" panose="020B0604020202020204" pitchFamily="34" charset="0"/>
              <a:cs typeface="Arial" panose="020B0604020202020204" pitchFamily="34" charset="0"/>
            </a:endParaRPr>
          </a:p>
        </p:txBody>
      </p:sp>
      <p:pic>
        <p:nvPicPr>
          <p:cNvPr id="5" name="Image 1" descr="preencoded.png"/>
          <p:cNvPicPr>
            <a:picLocks noChangeAspect="1"/>
          </p:cNvPicPr>
          <p:nvPr/>
        </p:nvPicPr>
        <p:blipFill>
          <a:blip r:embed="rId3"/>
          <a:srcRect t="9547"/>
          <a:stretch>
            <a:fillRect/>
          </a:stretch>
        </p:blipFill>
        <p:spPr>
          <a:xfrm>
            <a:off x="1776331" y="427215"/>
            <a:ext cx="5591337" cy="2846451"/>
          </a:xfrm>
          <a:prstGeom prst="rect">
            <a:avLst/>
          </a:prstGeom>
        </p:spPr>
      </p:pic>
      <p:sp>
        <p:nvSpPr>
          <p:cNvPr id="6" name="Text 1"/>
          <p:cNvSpPr/>
          <p:nvPr/>
        </p:nvSpPr>
        <p:spPr>
          <a:xfrm>
            <a:off x="642938" y="3304830"/>
            <a:ext cx="3536156" cy="166071"/>
          </a:xfrm>
          <a:prstGeom prst="rect">
            <a:avLst/>
          </a:prstGeom>
          <a:noFill/>
          <a:ln/>
        </p:spPr>
        <p:txBody>
          <a:bodyPr wrap="square" lIns="0" tIns="0" rIns="0" bIns="42545" rtlCol="0" anchor="t">
            <a:spAutoFit/>
          </a:bodyPr>
          <a:lstStyle/>
          <a:p>
            <a:pPr marL="0" indent="0" algn="l">
              <a:buNone/>
            </a:pPr>
            <a:r>
              <a:rPr lang="en-US" sz="800" b="1" dirty="0">
                <a:solidFill>
                  <a:srgbClr val="002060"/>
                </a:solidFill>
                <a:latin typeface="Arial" panose="020B0604020202020204" pitchFamily="34" charset="0"/>
                <a:ea typeface="Inter"/>
                <a:cs typeface="Arial" panose="020B0604020202020204" pitchFamily="34" charset="0"/>
              </a:rPr>
              <a:t>Pour Renault (Généraliste)</a:t>
            </a:r>
            <a:endParaRPr lang="en-US" sz="800" dirty="0">
              <a:latin typeface="Arial" panose="020B0604020202020204" pitchFamily="34" charset="0"/>
              <a:ea typeface="Inter"/>
              <a:cs typeface="Arial" panose="020B0604020202020204" pitchFamily="34" charset="0"/>
            </a:endParaRPr>
          </a:p>
        </p:txBody>
      </p:sp>
      <p:sp>
        <p:nvSpPr>
          <p:cNvPr id="7" name="Text 2"/>
          <p:cNvSpPr/>
          <p:nvPr/>
        </p:nvSpPr>
        <p:spPr>
          <a:xfrm>
            <a:off x="642938" y="3550752"/>
            <a:ext cx="3536156" cy="264816"/>
          </a:xfrm>
          <a:prstGeom prst="rect">
            <a:avLst/>
          </a:prstGeom>
          <a:noFill/>
          <a:ln/>
        </p:spPr>
        <p:txBody>
          <a:bodyPr wrap="square" lIns="212598" tIns="0" rIns="0" bIns="0" rtlCol="0" anchor="t">
            <a:spAutoFit/>
          </a:bodyPr>
          <a:lstStyle/>
          <a:p>
            <a:pPr>
              <a:lnSpc>
                <a:spcPct val="112000"/>
              </a:lnSpc>
            </a:pPr>
            <a:r>
              <a:rPr lang="en-US" sz="800" b="1" dirty="0">
                <a:solidFill>
                  <a:srgbClr val="333333"/>
                </a:solidFill>
                <a:latin typeface="Arial" panose="020B0604020202020204" pitchFamily="34" charset="0"/>
                <a:ea typeface="Inter"/>
                <a:cs typeface="Arial" panose="020B0604020202020204" pitchFamily="34" charset="0"/>
              </a:rPr>
              <a:t>Scoring Predictive : </a:t>
            </a:r>
            <a:r>
              <a:rPr lang="fr-FR" sz="800" dirty="0">
                <a:solidFill>
                  <a:srgbClr val="333333"/>
                </a:solidFill>
                <a:latin typeface="Arial" panose="020B0604020202020204" pitchFamily="34" charset="0"/>
                <a:ea typeface="Inter"/>
                <a:cs typeface="Arial" panose="020B0604020202020204" pitchFamily="34" charset="0"/>
              </a:rPr>
              <a:t>Utiliser l'IA pour identifier les leads ayant la plus forte probabilité d'achat immédiat</a:t>
            </a:r>
            <a:endParaRPr lang="en-US" sz="800" dirty="0">
              <a:latin typeface="Arial" panose="020B0604020202020204" pitchFamily="34" charset="0"/>
              <a:ea typeface="Inter"/>
              <a:cs typeface="Arial" panose="020B0604020202020204" pitchFamily="34" charset="0"/>
            </a:endParaRPr>
          </a:p>
        </p:txBody>
      </p:sp>
      <p:sp>
        <p:nvSpPr>
          <p:cNvPr id="8" name="Text 3"/>
          <p:cNvSpPr/>
          <p:nvPr/>
        </p:nvSpPr>
        <p:spPr>
          <a:xfrm>
            <a:off x="642938" y="3942207"/>
            <a:ext cx="3536156" cy="264816"/>
          </a:xfrm>
          <a:prstGeom prst="rect">
            <a:avLst/>
          </a:prstGeom>
          <a:noFill/>
          <a:ln/>
        </p:spPr>
        <p:txBody>
          <a:bodyPr wrap="square" lIns="212598" tIns="0" rIns="0" bIns="0" rtlCol="0" anchor="t">
            <a:spAutoFit/>
          </a:bodyPr>
          <a:lstStyle/>
          <a:p>
            <a:pPr marL="0" indent="0" algn="l">
              <a:lnSpc>
                <a:spcPct val="112000"/>
              </a:lnSpc>
              <a:buNone/>
            </a:pPr>
            <a:r>
              <a:rPr lang="en-US" sz="800" b="1" dirty="0">
                <a:solidFill>
                  <a:srgbClr val="333333"/>
                </a:solidFill>
                <a:latin typeface="Arial" panose="020B0604020202020204" pitchFamily="34" charset="0"/>
                <a:ea typeface="Inter"/>
                <a:cs typeface="Arial" panose="020B0604020202020204" pitchFamily="34" charset="0"/>
              </a:rPr>
              <a:t>Optimisation du Funnel :</a:t>
            </a:r>
            <a:r>
              <a:rPr lang="en-US" sz="800" dirty="0">
                <a:solidFill>
                  <a:srgbClr val="333333"/>
                </a:solidFill>
                <a:latin typeface="Arial" panose="020B0604020202020204" pitchFamily="34" charset="0"/>
                <a:ea typeface="Inter"/>
                <a:cs typeface="Arial" panose="020B0604020202020204" pitchFamily="34" charset="0"/>
              </a:rPr>
              <a:t> Analyse comportementale pour lever les points de friction.</a:t>
            </a:r>
            <a:endParaRPr lang="en-US" sz="800" dirty="0">
              <a:latin typeface="Arial" panose="020B0604020202020204" pitchFamily="34" charset="0"/>
              <a:ea typeface="Inter"/>
              <a:cs typeface="Arial" panose="020B0604020202020204" pitchFamily="34" charset="0"/>
            </a:endParaRPr>
          </a:p>
        </p:txBody>
      </p:sp>
      <p:sp>
        <p:nvSpPr>
          <p:cNvPr id="9" name="Text 4"/>
          <p:cNvSpPr/>
          <p:nvPr/>
        </p:nvSpPr>
        <p:spPr>
          <a:xfrm>
            <a:off x="642938" y="4333662"/>
            <a:ext cx="3536156" cy="268407"/>
          </a:xfrm>
          <a:prstGeom prst="rect">
            <a:avLst/>
          </a:prstGeom>
          <a:noFill/>
          <a:ln/>
        </p:spPr>
        <p:txBody>
          <a:bodyPr wrap="square" lIns="212598" tIns="0" rIns="0" bIns="0" rtlCol="0" anchor="t">
            <a:spAutoFit/>
          </a:bodyPr>
          <a:lstStyle/>
          <a:p>
            <a:pPr marL="0" indent="0" algn="l">
              <a:lnSpc>
                <a:spcPct val="112000"/>
              </a:lnSpc>
              <a:buNone/>
            </a:pPr>
            <a:r>
              <a:rPr lang="en-US" sz="800" b="1" dirty="0">
                <a:solidFill>
                  <a:srgbClr val="333333"/>
                </a:solidFill>
                <a:latin typeface="Arial" panose="020B0604020202020204" pitchFamily="34" charset="0"/>
                <a:ea typeface="Inter"/>
                <a:cs typeface="Arial" panose="020B0604020202020204" pitchFamily="34" charset="0"/>
              </a:rPr>
              <a:t>Partenariats Data :</a:t>
            </a:r>
            <a:r>
              <a:rPr lang="en-US" sz="800" dirty="0">
                <a:solidFill>
                  <a:srgbClr val="333333"/>
                </a:solidFill>
                <a:latin typeface="Arial" panose="020B0604020202020204" pitchFamily="34" charset="0"/>
                <a:ea typeface="Inter"/>
                <a:cs typeface="Arial" panose="020B0604020202020204" pitchFamily="34" charset="0"/>
              </a:rPr>
              <a:t> Collaboration avec les acteurs de la mobilité pour enrichir les données.</a:t>
            </a:r>
            <a:endParaRPr lang="en-US" sz="800" dirty="0">
              <a:latin typeface="Arial" panose="020B0604020202020204" pitchFamily="34" charset="0"/>
              <a:ea typeface="Inter"/>
              <a:cs typeface="Arial" panose="020B0604020202020204" pitchFamily="34" charset="0"/>
            </a:endParaRPr>
          </a:p>
        </p:txBody>
      </p:sp>
      <p:pic>
        <p:nvPicPr>
          <p:cNvPr id="10" name="Image 2" descr="preencoded.png"/>
          <p:cNvPicPr>
            <a:picLocks noChangeAspect="1"/>
          </p:cNvPicPr>
          <p:nvPr/>
        </p:nvPicPr>
        <p:blipFill>
          <a:blip r:embed="rId4"/>
          <a:stretch>
            <a:fillRect/>
          </a:stretch>
        </p:blipFill>
        <p:spPr>
          <a:xfrm>
            <a:off x="642938" y="3565040"/>
            <a:ext cx="114300" cy="159981"/>
          </a:xfrm>
          <a:prstGeom prst="rect">
            <a:avLst/>
          </a:prstGeom>
        </p:spPr>
      </p:pic>
      <p:pic>
        <p:nvPicPr>
          <p:cNvPr id="11" name="Image 3" descr="preencoded.png"/>
          <p:cNvPicPr>
            <a:picLocks noChangeAspect="1"/>
          </p:cNvPicPr>
          <p:nvPr/>
        </p:nvPicPr>
        <p:blipFill>
          <a:blip r:embed="rId5"/>
          <a:stretch>
            <a:fillRect/>
          </a:stretch>
        </p:blipFill>
        <p:spPr>
          <a:xfrm>
            <a:off x="642938" y="3956495"/>
            <a:ext cx="114300" cy="159981"/>
          </a:xfrm>
          <a:prstGeom prst="rect">
            <a:avLst/>
          </a:prstGeom>
        </p:spPr>
      </p:pic>
      <p:pic>
        <p:nvPicPr>
          <p:cNvPr id="12" name="Image 4" descr="preencoded.png"/>
          <p:cNvPicPr>
            <a:picLocks noChangeAspect="1"/>
          </p:cNvPicPr>
          <p:nvPr/>
        </p:nvPicPr>
        <p:blipFill>
          <a:blip r:embed="rId6"/>
          <a:stretch>
            <a:fillRect/>
          </a:stretch>
        </p:blipFill>
        <p:spPr>
          <a:xfrm>
            <a:off x="642938" y="4347950"/>
            <a:ext cx="114300" cy="159981"/>
          </a:xfrm>
          <a:prstGeom prst="rect">
            <a:avLst/>
          </a:prstGeom>
        </p:spPr>
      </p:pic>
      <p:sp>
        <p:nvSpPr>
          <p:cNvPr id="13" name="Text 5"/>
          <p:cNvSpPr/>
          <p:nvPr/>
        </p:nvSpPr>
        <p:spPr>
          <a:xfrm>
            <a:off x="4964906" y="3304831"/>
            <a:ext cx="3536156" cy="166071"/>
          </a:xfrm>
          <a:prstGeom prst="rect">
            <a:avLst/>
          </a:prstGeom>
          <a:noFill/>
          <a:ln/>
        </p:spPr>
        <p:txBody>
          <a:bodyPr wrap="square" lIns="0" tIns="0" rIns="0" bIns="42545" rtlCol="0" anchor="t">
            <a:spAutoFit/>
          </a:bodyPr>
          <a:lstStyle/>
          <a:p>
            <a:pPr marL="0" indent="0" algn="l">
              <a:buNone/>
            </a:pPr>
            <a:r>
              <a:rPr lang="en-US" sz="800" b="1" dirty="0">
                <a:solidFill>
                  <a:srgbClr val="002060"/>
                </a:solidFill>
                <a:latin typeface="Arial" panose="020B0604020202020204" pitchFamily="34" charset="0"/>
                <a:ea typeface="Inter"/>
                <a:cs typeface="Arial" panose="020B0604020202020204" pitchFamily="34" charset="0"/>
              </a:rPr>
              <a:t>Pour BMW (Premium)</a:t>
            </a:r>
            <a:endParaRPr lang="en-US" sz="800" dirty="0">
              <a:latin typeface="Arial" panose="020B0604020202020204" pitchFamily="34" charset="0"/>
              <a:ea typeface="Inter"/>
              <a:cs typeface="Arial" panose="020B0604020202020204" pitchFamily="34" charset="0"/>
            </a:endParaRPr>
          </a:p>
        </p:txBody>
      </p:sp>
      <p:sp>
        <p:nvSpPr>
          <p:cNvPr id="14" name="Text 6"/>
          <p:cNvSpPr/>
          <p:nvPr/>
        </p:nvSpPr>
        <p:spPr>
          <a:xfrm>
            <a:off x="4964906" y="3550752"/>
            <a:ext cx="3536156" cy="264816"/>
          </a:xfrm>
          <a:prstGeom prst="rect">
            <a:avLst/>
          </a:prstGeom>
          <a:noFill/>
          <a:ln/>
        </p:spPr>
        <p:txBody>
          <a:bodyPr wrap="square" lIns="212598" tIns="0" rIns="0" bIns="0" rtlCol="0" anchor="t">
            <a:spAutoFit/>
          </a:bodyPr>
          <a:lstStyle/>
          <a:p>
            <a:pPr>
              <a:lnSpc>
                <a:spcPct val="112000"/>
              </a:lnSpc>
            </a:pPr>
            <a:r>
              <a:rPr lang="en-US" sz="800" b="1" dirty="0">
                <a:solidFill>
                  <a:srgbClr val="333333"/>
                </a:solidFill>
                <a:latin typeface="Arial" panose="020B0604020202020204" pitchFamily="34" charset="0"/>
                <a:ea typeface="Inter"/>
                <a:cs typeface="Arial" panose="020B0604020202020204" pitchFamily="34" charset="0"/>
              </a:rPr>
              <a:t>Hyper-</a:t>
            </a:r>
            <a:r>
              <a:rPr lang="en-US" sz="800" b="1" dirty="0" err="1">
                <a:solidFill>
                  <a:srgbClr val="333333"/>
                </a:solidFill>
                <a:latin typeface="Arial" panose="020B0604020202020204" pitchFamily="34" charset="0"/>
                <a:ea typeface="Inter"/>
                <a:cs typeface="Arial" panose="020B0604020202020204" pitchFamily="34" charset="0"/>
              </a:rPr>
              <a:t>personnalisation</a:t>
            </a:r>
            <a:r>
              <a:rPr lang="en-US" sz="800" b="1" dirty="0">
                <a:solidFill>
                  <a:srgbClr val="333333"/>
                </a:solidFill>
                <a:latin typeface="Arial" panose="020B0604020202020204" pitchFamily="34" charset="0"/>
                <a:ea typeface="Inter"/>
                <a:cs typeface="Arial" panose="020B0604020202020204" pitchFamily="34" charset="0"/>
              </a:rPr>
              <a:t> : </a:t>
            </a:r>
            <a:r>
              <a:rPr lang="fr-FR" sz="800" dirty="0">
                <a:solidFill>
                  <a:srgbClr val="333333"/>
                </a:solidFill>
                <a:latin typeface="Arial" panose="020B0604020202020204" pitchFamily="34" charset="0"/>
                <a:ea typeface="Inter"/>
                <a:cs typeface="Arial" panose="020B0604020202020204" pitchFamily="34" charset="0"/>
              </a:rPr>
              <a:t>Anticiper les besoins via les données du véhicule connecté (maintenance, upgrade).</a:t>
            </a:r>
            <a:endParaRPr lang="en-US" sz="800" dirty="0">
              <a:latin typeface="Arial" panose="020B0604020202020204" pitchFamily="34" charset="0"/>
              <a:ea typeface="Inter"/>
              <a:cs typeface="Arial" panose="020B0604020202020204" pitchFamily="34" charset="0"/>
            </a:endParaRPr>
          </a:p>
        </p:txBody>
      </p:sp>
      <p:sp>
        <p:nvSpPr>
          <p:cNvPr id="15" name="Text 7"/>
          <p:cNvSpPr/>
          <p:nvPr/>
        </p:nvSpPr>
        <p:spPr>
          <a:xfrm>
            <a:off x="4964906" y="3942207"/>
            <a:ext cx="3536156" cy="264816"/>
          </a:xfrm>
          <a:prstGeom prst="rect">
            <a:avLst/>
          </a:prstGeom>
          <a:noFill/>
          <a:ln/>
        </p:spPr>
        <p:txBody>
          <a:bodyPr wrap="square" lIns="212598" tIns="0" rIns="0" bIns="0" rtlCol="0" anchor="t">
            <a:spAutoFit/>
          </a:bodyPr>
          <a:lstStyle/>
          <a:p>
            <a:pPr marL="0" indent="0" algn="l">
              <a:lnSpc>
                <a:spcPct val="112000"/>
              </a:lnSpc>
              <a:buNone/>
            </a:pPr>
            <a:r>
              <a:rPr lang="en-US" sz="800" b="1" dirty="0">
                <a:solidFill>
                  <a:srgbClr val="333333"/>
                </a:solidFill>
                <a:latin typeface="Arial" panose="020B0604020202020204" pitchFamily="34" charset="0"/>
                <a:ea typeface="Inter"/>
                <a:cs typeface="Arial" panose="020B0604020202020204" pitchFamily="34" charset="0"/>
              </a:rPr>
              <a:t>Expérience Client 360° :</a:t>
            </a:r>
            <a:r>
              <a:rPr lang="en-US" sz="800" dirty="0">
                <a:solidFill>
                  <a:srgbClr val="333333"/>
                </a:solidFill>
                <a:latin typeface="Arial" panose="020B0604020202020204" pitchFamily="34" charset="0"/>
                <a:ea typeface="Inter"/>
                <a:cs typeface="Arial" panose="020B0604020202020204" pitchFamily="34" charset="0"/>
              </a:rPr>
              <a:t> Unification des données online/offline/véhicule sans couture.</a:t>
            </a:r>
            <a:endParaRPr lang="en-US" sz="800" dirty="0">
              <a:latin typeface="Arial" panose="020B0604020202020204" pitchFamily="34" charset="0"/>
              <a:ea typeface="Inter"/>
              <a:cs typeface="Arial" panose="020B0604020202020204" pitchFamily="34" charset="0"/>
            </a:endParaRPr>
          </a:p>
        </p:txBody>
      </p:sp>
      <p:sp>
        <p:nvSpPr>
          <p:cNvPr id="16" name="Text 8"/>
          <p:cNvSpPr/>
          <p:nvPr/>
        </p:nvSpPr>
        <p:spPr>
          <a:xfrm>
            <a:off x="4964906" y="4333662"/>
            <a:ext cx="3536156" cy="268407"/>
          </a:xfrm>
          <a:prstGeom prst="rect">
            <a:avLst/>
          </a:prstGeom>
          <a:noFill/>
          <a:ln/>
        </p:spPr>
        <p:txBody>
          <a:bodyPr wrap="square" lIns="212598" tIns="0" rIns="0" bIns="0" rtlCol="0" anchor="t">
            <a:spAutoFit/>
          </a:bodyPr>
          <a:lstStyle/>
          <a:p>
            <a:pPr marL="0" indent="0" algn="l">
              <a:lnSpc>
                <a:spcPct val="112000"/>
              </a:lnSpc>
              <a:buNone/>
            </a:pPr>
            <a:r>
              <a:rPr lang="en-US" sz="800" b="1" dirty="0">
                <a:solidFill>
                  <a:srgbClr val="333333"/>
                </a:solidFill>
                <a:latin typeface="Arial" panose="020B0604020202020204" pitchFamily="34" charset="0"/>
                <a:ea typeface="Inter"/>
                <a:cs typeface="Arial" panose="020B0604020202020204" pitchFamily="34" charset="0"/>
              </a:rPr>
              <a:t>Blockchain &amp; Confiance :</a:t>
            </a:r>
            <a:r>
              <a:rPr lang="en-US" sz="800" dirty="0">
                <a:solidFill>
                  <a:srgbClr val="333333"/>
                </a:solidFill>
                <a:latin typeface="Arial" panose="020B0604020202020204" pitchFamily="34" charset="0"/>
                <a:ea typeface="Inter"/>
                <a:cs typeface="Arial" panose="020B0604020202020204" pitchFamily="34" charset="0"/>
              </a:rPr>
              <a:t> Sécurisation des données sensibles et gestion du consentement.</a:t>
            </a:r>
            <a:endParaRPr lang="en-US" sz="800" dirty="0">
              <a:latin typeface="Arial" panose="020B0604020202020204" pitchFamily="34" charset="0"/>
              <a:ea typeface="Inter"/>
              <a:cs typeface="Arial" panose="020B0604020202020204" pitchFamily="34" charset="0"/>
            </a:endParaRPr>
          </a:p>
        </p:txBody>
      </p:sp>
      <p:sp>
        <p:nvSpPr>
          <p:cNvPr id="18" name="Shape 10"/>
          <p:cNvSpPr/>
          <p:nvPr/>
        </p:nvSpPr>
        <p:spPr>
          <a:xfrm>
            <a:off x="500063" y="4764565"/>
            <a:ext cx="8143875" cy="14288"/>
          </a:xfrm>
          <a:prstGeom prst="rect">
            <a:avLst/>
          </a:prstGeom>
          <a:solidFill>
            <a:srgbClr val="002060"/>
          </a:solidFill>
          <a:ln/>
        </p:spPr>
      </p:sp>
      <p:pic>
        <p:nvPicPr>
          <p:cNvPr id="19" name="Image 5" descr="preencoded.png"/>
          <p:cNvPicPr>
            <a:picLocks noChangeAspect="1"/>
          </p:cNvPicPr>
          <p:nvPr/>
        </p:nvPicPr>
        <p:blipFill>
          <a:blip r:embed="rId4"/>
          <a:stretch>
            <a:fillRect/>
          </a:stretch>
        </p:blipFill>
        <p:spPr>
          <a:xfrm>
            <a:off x="4964906" y="3565040"/>
            <a:ext cx="114300" cy="159981"/>
          </a:xfrm>
          <a:prstGeom prst="rect">
            <a:avLst/>
          </a:prstGeom>
        </p:spPr>
      </p:pic>
      <p:pic>
        <p:nvPicPr>
          <p:cNvPr id="20" name="Image 6" descr="preencoded.png"/>
          <p:cNvPicPr>
            <a:picLocks noChangeAspect="1"/>
          </p:cNvPicPr>
          <p:nvPr/>
        </p:nvPicPr>
        <p:blipFill>
          <a:blip r:embed="rId5"/>
          <a:stretch>
            <a:fillRect/>
          </a:stretch>
        </p:blipFill>
        <p:spPr>
          <a:xfrm>
            <a:off x="4964906" y="3956495"/>
            <a:ext cx="114300" cy="159981"/>
          </a:xfrm>
          <a:prstGeom prst="rect">
            <a:avLst/>
          </a:prstGeom>
        </p:spPr>
      </p:pic>
      <p:pic>
        <p:nvPicPr>
          <p:cNvPr id="21" name="Image 7" descr="preencoded.png"/>
          <p:cNvPicPr>
            <a:picLocks noChangeAspect="1"/>
          </p:cNvPicPr>
          <p:nvPr/>
        </p:nvPicPr>
        <p:blipFill>
          <a:blip r:embed="rId6"/>
          <a:stretch>
            <a:fillRect/>
          </a:stretch>
        </p:blipFill>
        <p:spPr>
          <a:xfrm>
            <a:off x="4964906" y="4347950"/>
            <a:ext cx="114300" cy="15998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p:cNvSpPr/>
          <p:nvPr/>
        </p:nvSpPr>
        <p:spPr>
          <a:xfrm>
            <a:off x="428625" y="0"/>
            <a:ext cx="8286750" cy="803588"/>
          </a:xfrm>
          <a:prstGeom prst="rect">
            <a:avLst/>
          </a:prstGeom>
          <a:solidFill>
            <a:srgbClr val="000000">
              <a:alpha val="0"/>
            </a:srgbClr>
          </a:solidFill>
          <a:ln/>
        </p:spPr>
      </p:sp>
      <p:sp>
        <p:nvSpPr>
          <p:cNvPr id="4" name="Shape 1"/>
          <p:cNvSpPr/>
          <p:nvPr/>
        </p:nvSpPr>
        <p:spPr>
          <a:xfrm>
            <a:off x="428625" y="789301"/>
            <a:ext cx="8286750" cy="14288"/>
          </a:xfrm>
          <a:prstGeom prst="rect">
            <a:avLst/>
          </a:prstGeom>
          <a:solidFill>
            <a:srgbClr val="F2F2F2"/>
          </a:solidFill>
          <a:ln/>
        </p:spPr>
      </p:sp>
      <p:sp>
        <p:nvSpPr>
          <p:cNvPr id="5" name="Text 2"/>
          <p:cNvSpPr/>
          <p:nvPr/>
        </p:nvSpPr>
        <p:spPr>
          <a:xfrm>
            <a:off x="180975" y="131099"/>
            <a:ext cx="8286750" cy="246221"/>
          </a:xfrm>
          <a:prstGeom prst="rect">
            <a:avLst/>
          </a:prstGeom>
          <a:noFill/>
          <a:ln/>
        </p:spPr>
        <p:txBody>
          <a:bodyPr wrap="square" lIns="0" tIns="0" rIns="0" bIns="0" rtlCol="0" anchor="t">
            <a:spAutoFit/>
          </a:bodyPr>
          <a:lstStyle/>
          <a:p>
            <a:pPr marL="0" indent="0" algn="l">
              <a:buNone/>
            </a:pPr>
            <a:r>
              <a:rPr lang="en-US" sz="1600" b="1" dirty="0">
                <a:solidFill>
                  <a:srgbClr val="003366"/>
                </a:solidFill>
                <a:latin typeface="Arial" pitchFamily="34" charset="0"/>
                <a:ea typeface="Arial" pitchFamily="34" charset="-122"/>
                <a:cs typeface="Arial" pitchFamily="34" charset="-120"/>
              </a:rPr>
              <a:t>8. Conclusion</a:t>
            </a:r>
            <a:endParaRPr lang="en-US" sz="1600" dirty="0"/>
          </a:p>
        </p:txBody>
      </p:sp>
      <p:sp>
        <p:nvSpPr>
          <p:cNvPr id="6" name="Shape 3"/>
          <p:cNvSpPr/>
          <p:nvPr/>
        </p:nvSpPr>
        <p:spPr>
          <a:xfrm>
            <a:off x="428625" y="1075051"/>
            <a:ext cx="2071688" cy="360759"/>
          </a:xfrm>
          <a:prstGeom prst="rect">
            <a:avLst/>
          </a:prstGeom>
          <a:solidFill>
            <a:srgbClr val="003366"/>
          </a:solidFill>
          <a:ln/>
        </p:spPr>
      </p:sp>
      <p:sp>
        <p:nvSpPr>
          <p:cNvPr id="7" name="Text 4"/>
          <p:cNvSpPr/>
          <p:nvPr/>
        </p:nvSpPr>
        <p:spPr>
          <a:xfrm>
            <a:off x="428625" y="1075051"/>
            <a:ext cx="2071688" cy="360759"/>
          </a:xfrm>
          <a:prstGeom prst="rect">
            <a:avLst/>
          </a:prstGeom>
          <a:noFill/>
          <a:ln/>
        </p:spPr>
        <p:txBody>
          <a:bodyPr wrap="square" lIns="127508" tIns="127508" rIns="127508" bIns="127508" rtlCol="0" anchor="ctr">
            <a:spAutoFit/>
          </a:bodyPr>
          <a:lstStyle/>
          <a:p>
            <a:pPr marL="0" indent="0" algn="l">
              <a:buNone/>
            </a:pPr>
            <a:r>
              <a:rPr lang="en-US" sz="900" b="1" dirty="0">
                <a:solidFill>
                  <a:srgbClr val="003366"/>
                </a:solidFill>
                <a:latin typeface="Arial" pitchFamily="34" charset="0"/>
                <a:ea typeface="Arial" pitchFamily="34" charset="-122"/>
                <a:cs typeface="Arial" pitchFamily="34" charset="-120"/>
              </a:rPr>
              <a:t>CRITÈRE</a:t>
            </a:r>
            <a:endParaRPr lang="en-US" sz="900" dirty="0"/>
          </a:p>
        </p:txBody>
      </p:sp>
      <p:sp>
        <p:nvSpPr>
          <p:cNvPr id="8" name="Shape 5"/>
          <p:cNvSpPr/>
          <p:nvPr/>
        </p:nvSpPr>
        <p:spPr>
          <a:xfrm>
            <a:off x="2500313" y="1075051"/>
            <a:ext cx="3107531" cy="360759"/>
          </a:xfrm>
          <a:prstGeom prst="rect">
            <a:avLst/>
          </a:prstGeom>
          <a:solidFill>
            <a:srgbClr val="003366"/>
          </a:solidFill>
          <a:ln/>
        </p:spPr>
      </p:sp>
      <p:sp>
        <p:nvSpPr>
          <p:cNvPr id="9" name="Text 6"/>
          <p:cNvSpPr/>
          <p:nvPr/>
        </p:nvSpPr>
        <p:spPr>
          <a:xfrm>
            <a:off x="2500313" y="1075051"/>
            <a:ext cx="3107531" cy="360759"/>
          </a:xfrm>
          <a:prstGeom prst="rect">
            <a:avLst/>
          </a:prstGeom>
          <a:noFill/>
          <a:ln/>
        </p:spPr>
        <p:txBody>
          <a:bodyPr wrap="square" lIns="127508" tIns="127508" rIns="127508" bIns="127508" rtlCol="0" anchor="ctr">
            <a:spAutoFit/>
          </a:bodyPr>
          <a:lstStyle/>
          <a:p>
            <a:pPr marL="0" indent="0" algn="l">
              <a:buNone/>
            </a:pPr>
            <a:r>
              <a:rPr lang="en-US" sz="900" b="1" dirty="0">
                <a:solidFill>
                  <a:srgbClr val="FFFFFF"/>
                </a:solidFill>
                <a:latin typeface="Arial" pitchFamily="34" charset="0"/>
                <a:ea typeface="Arial" pitchFamily="34" charset="-122"/>
                <a:cs typeface="Arial" pitchFamily="34" charset="-120"/>
              </a:rPr>
              <a:t>RENAULT</a:t>
            </a:r>
            <a:endParaRPr lang="en-US" sz="900" dirty="0"/>
          </a:p>
        </p:txBody>
      </p:sp>
      <p:sp>
        <p:nvSpPr>
          <p:cNvPr id="10" name="Shape 7"/>
          <p:cNvSpPr/>
          <p:nvPr/>
        </p:nvSpPr>
        <p:spPr>
          <a:xfrm>
            <a:off x="5607844" y="1075051"/>
            <a:ext cx="3107531" cy="360759"/>
          </a:xfrm>
          <a:prstGeom prst="rect">
            <a:avLst/>
          </a:prstGeom>
          <a:solidFill>
            <a:srgbClr val="003366"/>
          </a:solidFill>
          <a:ln/>
        </p:spPr>
      </p:sp>
      <p:sp>
        <p:nvSpPr>
          <p:cNvPr id="11" name="Text 8"/>
          <p:cNvSpPr/>
          <p:nvPr/>
        </p:nvSpPr>
        <p:spPr>
          <a:xfrm>
            <a:off x="5607844" y="1049733"/>
            <a:ext cx="3107531" cy="411395"/>
          </a:xfrm>
          <a:prstGeom prst="rect">
            <a:avLst/>
          </a:prstGeom>
          <a:noFill/>
          <a:ln/>
        </p:spPr>
        <p:txBody>
          <a:bodyPr wrap="square" lIns="127508" tIns="127508" rIns="127508" bIns="127508" rtlCol="0" anchor="ctr">
            <a:spAutoFit/>
          </a:bodyPr>
          <a:lstStyle/>
          <a:p>
            <a:pPr marL="0" indent="0" algn="l">
              <a:buNone/>
            </a:pPr>
            <a:r>
              <a:rPr lang="en-US" sz="1000" b="1" dirty="0">
                <a:solidFill>
                  <a:srgbClr val="FFFFFF"/>
                </a:solidFill>
                <a:latin typeface="Arial" pitchFamily="34" charset="0"/>
                <a:ea typeface="Arial" pitchFamily="34" charset="-122"/>
                <a:cs typeface="Arial" pitchFamily="34" charset="-120"/>
              </a:rPr>
              <a:t>BMW</a:t>
            </a:r>
            <a:endParaRPr lang="en-US" sz="1000" dirty="0"/>
          </a:p>
        </p:txBody>
      </p:sp>
      <p:sp>
        <p:nvSpPr>
          <p:cNvPr id="12" name="Text 9"/>
          <p:cNvSpPr/>
          <p:nvPr/>
        </p:nvSpPr>
        <p:spPr>
          <a:xfrm>
            <a:off x="428625" y="1416412"/>
            <a:ext cx="2071688" cy="428131"/>
          </a:xfrm>
          <a:prstGeom prst="rect">
            <a:avLst/>
          </a:prstGeom>
          <a:noFill/>
          <a:ln/>
        </p:spPr>
        <p:txBody>
          <a:bodyPr wrap="square" lIns="127508" tIns="127508" rIns="127508" bIns="127508" rtlCol="0" anchor="ctr">
            <a:spAutoFit/>
          </a:bodyPr>
          <a:lstStyle/>
          <a:p>
            <a:pPr marL="0" indent="0" algn="l">
              <a:lnSpc>
                <a:spcPct val="120000"/>
              </a:lnSpc>
              <a:buNone/>
            </a:pPr>
            <a:r>
              <a:rPr lang="en-US" sz="1000" b="1" dirty="0">
                <a:solidFill>
                  <a:srgbClr val="003366"/>
                </a:solidFill>
                <a:latin typeface="Arial" pitchFamily="34" charset="0"/>
                <a:ea typeface="Arial" pitchFamily="34" charset="-122"/>
                <a:cs typeface="Arial" pitchFamily="34" charset="-120"/>
              </a:rPr>
              <a:t>Objectif Data</a:t>
            </a:r>
            <a:endParaRPr lang="en-US" sz="1000" dirty="0"/>
          </a:p>
        </p:txBody>
      </p:sp>
      <p:sp>
        <p:nvSpPr>
          <p:cNvPr id="13" name="Text 10"/>
          <p:cNvSpPr/>
          <p:nvPr/>
        </p:nvSpPr>
        <p:spPr>
          <a:xfrm>
            <a:off x="2607469" y="1564398"/>
            <a:ext cx="1732847" cy="170624"/>
          </a:xfrm>
          <a:prstGeom prst="rect">
            <a:avLst/>
          </a:prstGeom>
          <a:noFill/>
          <a:ln/>
        </p:spPr>
        <p:txBody>
          <a:bodyPr wrap="none" lIns="0" tIns="0" rIns="0" bIns="0" rtlCol="0" anchor="t">
            <a:spAutoFit/>
          </a:bodyPr>
          <a:lstStyle/>
          <a:p>
            <a:pPr>
              <a:lnSpc>
                <a:spcPct val="120000"/>
              </a:lnSpc>
            </a:pPr>
            <a:r>
              <a:rPr lang="en-US" sz="1000" dirty="0">
                <a:solidFill>
                  <a:srgbClr val="333333"/>
                </a:solidFill>
                <a:latin typeface="Arial" pitchFamily="34" charset="0"/>
                <a:ea typeface="Arial" pitchFamily="34" charset="-122"/>
                <a:cs typeface="Arial" pitchFamily="34" charset="-120"/>
              </a:rPr>
              <a:t>Maximiser le </a:t>
            </a:r>
            <a:r>
              <a:rPr lang="en-US" sz="1000" b="1" dirty="0">
                <a:solidFill>
                  <a:srgbClr val="E6B800"/>
                </a:solidFill>
                <a:latin typeface="Arial" pitchFamily="34" charset="0"/>
                <a:ea typeface="Arial" pitchFamily="34" charset="-122"/>
                <a:cs typeface="Arial" pitchFamily="34" charset="-120"/>
              </a:rPr>
              <a:t>Volume </a:t>
            </a:r>
            <a:r>
              <a:rPr lang="en-US" sz="1000" dirty="0">
                <a:solidFill>
                  <a:srgbClr val="333333"/>
                </a:solidFill>
                <a:latin typeface="Arial" pitchFamily="34" charset="0"/>
                <a:ea typeface="Arial" pitchFamily="34" charset="-122"/>
                <a:cs typeface="Arial" pitchFamily="34" charset="-120"/>
              </a:rPr>
              <a:t>de leads</a:t>
            </a:r>
            <a:endParaRPr lang="en-US" sz="1000" dirty="0"/>
          </a:p>
        </p:txBody>
      </p:sp>
      <p:sp>
        <p:nvSpPr>
          <p:cNvPr id="15" name="Text 12"/>
          <p:cNvSpPr/>
          <p:nvPr/>
        </p:nvSpPr>
        <p:spPr>
          <a:xfrm>
            <a:off x="3759954" y="1545165"/>
            <a:ext cx="65" cy="171394"/>
          </a:xfrm>
          <a:prstGeom prst="rect">
            <a:avLst/>
          </a:prstGeom>
          <a:noFill/>
          <a:ln/>
        </p:spPr>
        <p:txBody>
          <a:bodyPr wrap="none" lIns="0" tIns="0" rIns="0" bIns="0" rtlCol="0" anchor="t">
            <a:spAutoFit/>
          </a:bodyPr>
          <a:lstStyle/>
          <a:p>
            <a:pPr marL="0" indent="0" algn="l">
              <a:lnSpc>
                <a:spcPct val="120000"/>
              </a:lnSpc>
              <a:buNone/>
            </a:pPr>
            <a:endParaRPr lang="en-US" sz="1000" dirty="0"/>
          </a:p>
        </p:txBody>
      </p:sp>
      <p:sp>
        <p:nvSpPr>
          <p:cNvPr id="16" name="Text 13"/>
          <p:cNvSpPr/>
          <p:nvPr/>
        </p:nvSpPr>
        <p:spPr>
          <a:xfrm>
            <a:off x="5715000" y="1564398"/>
            <a:ext cx="1833835" cy="170624"/>
          </a:xfrm>
          <a:prstGeom prst="rect">
            <a:avLst/>
          </a:prstGeom>
          <a:noFill/>
          <a:ln/>
        </p:spPr>
        <p:txBody>
          <a:bodyPr wrap="none" lIns="0" tIns="0" rIns="0" bIns="0" rtlCol="0" anchor="t">
            <a:spAutoFit/>
          </a:bodyPr>
          <a:lstStyle/>
          <a:p>
            <a:pPr>
              <a:lnSpc>
                <a:spcPct val="120000"/>
              </a:lnSpc>
            </a:pPr>
            <a:r>
              <a:rPr lang="en-US" sz="1000" dirty="0">
                <a:solidFill>
                  <a:srgbClr val="333333"/>
                </a:solidFill>
                <a:latin typeface="Arial" pitchFamily="34" charset="0"/>
                <a:ea typeface="Arial" pitchFamily="34" charset="-122"/>
                <a:cs typeface="Arial" pitchFamily="34" charset="-120"/>
              </a:rPr>
              <a:t>Maximiser la </a:t>
            </a:r>
            <a:r>
              <a:rPr lang="en-US" sz="1000" b="1" dirty="0">
                <a:solidFill>
                  <a:srgbClr val="0066B1"/>
                </a:solidFill>
                <a:latin typeface="Arial" pitchFamily="34" charset="0"/>
                <a:ea typeface="Arial" pitchFamily="34" charset="-122"/>
                <a:cs typeface="Arial" pitchFamily="34" charset="-120"/>
              </a:rPr>
              <a:t>Valeur </a:t>
            </a:r>
            <a:r>
              <a:rPr lang="en-US" sz="1000" dirty="0">
                <a:solidFill>
                  <a:srgbClr val="333333"/>
                </a:solidFill>
                <a:latin typeface="Arial" pitchFamily="34" charset="0"/>
                <a:ea typeface="Arial" pitchFamily="34" charset="-122"/>
                <a:cs typeface="Arial" pitchFamily="34" charset="-120"/>
              </a:rPr>
              <a:t>client (LTV)</a:t>
            </a:r>
            <a:endParaRPr lang="en-US" sz="1000" dirty="0"/>
          </a:p>
        </p:txBody>
      </p:sp>
      <p:sp>
        <p:nvSpPr>
          <p:cNvPr id="17" name="Text 14"/>
          <p:cNvSpPr/>
          <p:nvPr/>
        </p:nvSpPr>
        <p:spPr>
          <a:xfrm>
            <a:off x="7816937" y="1812355"/>
            <a:ext cx="65" cy="154273"/>
          </a:xfrm>
          <a:prstGeom prst="rect">
            <a:avLst/>
          </a:prstGeom>
          <a:noFill/>
          <a:ln/>
        </p:spPr>
        <p:txBody>
          <a:bodyPr wrap="none" lIns="0" tIns="0" rIns="0" bIns="0" rtlCol="0" anchor="t">
            <a:spAutoFit/>
          </a:bodyPr>
          <a:lstStyle/>
          <a:p>
            <a:pPr>
              <a:lnSpc>
                <a:spcPct val="120000"/>
              </a:lnSpc>
            </a:pPr>
            <a:endParaRPr lang="en-US" sz="900" dirty="0"/>
          </a:p>
        </p:txBody>
      </p:sp>
      <p:sp>
        <p:nvSpPr>
          <p:cNvPr id="18" name="Text 15"/>
          <p:cNvSpPr/>
          <p:nvPr/>
        </p:nvSpPr>
        <p:spPr>
          <a:xfrm>
            <a:off x="6731310" y="1564398"/>
            <a:ext cx="65" cy="171394"/>
          </a:xfrm>
          <a:prstGeom prst="rect">
            <a:avLst/>
          </a:prstGeom>
          <a:noFill/>
          <a:ln/>
        </p:spPr>
        <p:txBody>
          <a:bodyPr wrap="none" lIns="0" tIns="0" rIns="0" bIns="0" rtlCol="0" anchor="t">
            <a:spAutoFit/>
          </a:bodyPr>
          <a:lstStyle/>
          <a:p>
            <a:pPr marL="0" indent="0" algn="l">
              <a:lnSpc>
                <a:spcPct val="120000"/>
              </a:lnSpc>
              <a:buNone/>
            </a:pPr>
            <a:endParaRPr lang="en-US" sz="1000" dirty="0"/>
          </a:p>
        </p:txBody>
      </p:sp>
      <p:sp>
        <p:nvSpPr>
          <p:cNvPr id="19" name="Text 16"/>
          <p:cNvSpPr/>
          <p:nvPr/>
        </p:nvSpPr>
        <p:spPr>
          <a:xfrm>
            <a:off x="428625" y="1807532"/>
            <a:ext cx="2071688" cy="428131"/>
          </a:xfrm>
          <a:prstGeom prst="rect">
            <a:avLst/>
          </a:prstGeom>
          <a:noFill/>
          <a:ln/>
        </p:spPr>
        <p:txBody>
          <a:bodyPr wrap="square" lIns="127508" tIns="127508" rIns="127508" bIns="127508" rtlCol="0" anchor="ctr">
            <a:spAutoFit/>
          </a:bodyPr>
          <a:lstStyle/>
          <a:p>
            <a:pPr marL="0" indent="0" algn="l">
              <a:lnSpc>
                <a:spcPct val="120000"/>
              </a:lnSpc>
              <a:buNone/>
            </a:pPr>
            <a:r>
              <a:rPr lang="en-US" sz="1000" b="1" dirty="0">
                <a:solidFill>
                  <a:srgbClr val="003366"/>
                </a:solidFill>
                <a:latin typeface="Arial" pitchFamily="34" charset="0"/>
                <a:ea typeface="Arial" pitchFamily="34" charset="-122"/>
                <a:cs typeface="Arial" pitchFamily="34" charset="-120"/>
              </a:rPr>
              <a:t>Expérience UX</a:t>
            </a:r>
            <a:endParaRPr lang="en-US" sz="1000" dirty="0"/>
          </a:p>
        </p:txBody>
      </p:sp>
      <p:sp>
        <p:nvSpPr>
          <p:cNvPr id="20" name="Text 17"/>
          <p:cNvSpPr/>
          <p:nvPr/>
        </p:nvSpPr>
        <p:spPr>
          <a:xfrm>
            <a:off x="2500313" y="1807532"/>
            <a:ext cx="3107531" cy="428131"/>
          </a:xfrm>
          <a:prstGeom prst="rect">
            <a:avLst/>
          </a:prstGeom>
          <a:noFill/>
          <a:ln/>
        </p:spPr>
        <p:txBody>
          <a:bodyPr wrap="square" lIns="127508" tIns="127508" rIns="127508" bIns="127508" rtlCol="0" anchor="ctr">
            <a:spAutoFit/>
          </a:bodyPr>
          <a:lstStyle/>
          <a:p>
            <a:pPr marL="0" indent="0" algn="l">
              <a:lnSpc>
                <a:spcPct val="120000"/>
              </a:lnSpc>
              <a:buNone/>
            </a:pPr>
            <a:r>
              <a:rPr lang="en-US" sz="1000" dirty="0">
                <a:solidFill>
                  <a:srgbClr val="333333"/>
                </a:solidFill>
                <a:latin typeface="Arial" pitchFamily="34" charset="0"/>
                <a:ea typeface="Arial" pitchFamily="34" charset="-122"/>
                <a:cs typeface="Arial" pitchFamily="34" charset="-120"/>
              </a:rPr>
              <a:t>Simple, Rapide, Efficace</a:t>
            </a:r>
            <a:endParaRPr lang="en-US" sz="1000" dirty="0"/>
          </a:p>
        </p:txBody>
      </p:sp>
      <p:sp>
        <p:nvSpPr>
          <p:cNvPr id="21" name="Text 18"/>
          <p:cNvSpPr/>
          <p:nvPr/>
        </p:nvSpPr>
        <p:spPr>
          <a:xfrm>
            <a:off x="5607844" y="1807532"/>
            <a:ext cx="3107531" cy="428131"/>
          </a:xfrm>
          <a:prstGeom prst="rect">
            <a:avLst/>
          </a:prstGeom>
          <a:noFill/>
          <a:ln/>
        </p:spPr>
        <p:txBody>
          <a:bodyPr wrap="square" lIns="127508" tIns="127508" rIns="127508" bIns="127508" rtlCol="0" anchor="ctr">
            <a:spAutoFit/>
          </a:bodyPr>
          <a:lstStyle/>
          <a:p>
            <a:pPr marL="0" indent="0" algn="l">
              <a:lnSpc>
                <a:spcPct val="120000"/>
              </a:lnSpc>
              <a:buNone/>
            </a:pPr>
            <a:r>
              <a:rPr lang="en-US" sz="1000" dirty="0">
                <a:solidFill>
                  <a:srgbClr val="333333"/>
                </a:solidFill>
                <a:latin typeface="Arial" pitchFamily="34" charset="0"/>
                <a:ea typeface="Arial" pitchFamily="34" charset="-122"/>
                <a:cs typeface="Arial" pitchFamily="34" charset="-120"/>
              </a:rPr>
              <a:t>Immersive, Luxe, Émotionnelle</a:t>
            </a:r>
            <a:endParaRPr lang="en-US" sz="1000" dirty="0"/>
          </a:p>
        </p:txBody>
      </p:sp>
      <p:sp>
        <p:nvSpPr>
          <p:cNvPr id="22" name="Text 19"/>
          <p:cNvSpPr/>
          <p:nvPr/>
        </p:nvSpPr>
        <p:spPr>
          <a:xfrm>
            <a:off x="428625" y="2200439"/>
            <a:ext cx="2071688" cy="428131"/>
          </a:xfrm>
          <a:prstGeom prst="rect">
            <a:avLst/>
          </a:prstGeom>
          <a:noFill/>
          <a:ln/>
        </p:spPr>
        <p:txBody>
          <a:bodyPr wrap="square" lIns="127508" tIns="127508" rIns="127508" bIns="127508" rtlCol="0" anchor="ctr">
            <a:spAutoFit/>
          </a:bodyPr>
          <a:lstStyle/>
          <a:p>
            <a:pPr marL="0" indent="0" algn="l">
              <a:lnSpc>
                <a:spcPct val="120000"/>
              </a:lnSpc>
              <a:buNone/>
            </a:pPr>
            <a:r>
              <a:rPr lang="en-US" sz="1000" b="1" dirty="0">
                <a:solidFill>
                  <a:srgbClr val="003366"/>
                </a:solidFill>
                <a:latin typeface="Arial" pitchFamily="34" charset="0"/>
                <a:ea typeface="Arial" pitchFamily="34" charset="-122"/>
                <a:cs typeface="Arial" pitchFamily="34" charset="-120"/>
              </a:rPr>
              <a:t>Configurateur</a:t>
            </a:r>
            <a:endParaRPr lang="en-US" sz="1000" dirty="0"/>
          </a:p>
        </p:txBody>
      </p:sp>
      <p:sp>
        <p:nvSpPr>
          <p:cNvPr id="23" name="Text 20"/>
          <p:cNvSpPr/>
          <p:nvPr/>
        </p:nvSpPr>
        <p:spPr>
          <a:xfrm>
            <a:off x="2500313" y="2200439"/>
            <a:ext cx="3107531" cy="428131"/>
          </a:xfrm>
          <a:prstGeom prst="rect">
            <a:avLst/>
          </a:prstGeom>
          <a:noFill/>
          <a:ln/>
        </p:spPr>
        <p:txBody>
          <a:bodyPr wrap="square" lIns="127508" tIns="127508" rIns="127508" bIns="127508" rtlCol="0" anchor="ctr">
            <a:spAutoFit/>
          </a:bodyPr>
          <a:lstStyle/>
          <a:p>
            <a:pPr marL="0" indent="0" algn="l">
              <a:lnSpc>
                <a:spcPct val="120000"/>
              </a:lnSpc>
              <a:buNone/>
            </a:pPr>
            <a:r>
              <a:rPr lang="en-US" sz="1000" dirty="0">
                <a:solidFill>
                  <a:srgbClr val="333333"/>
                </a:solidFill>
                <a:latin typeface="Arial" pitchFamily="34" charset="0"/>
                <a:ea typeface="Arial" pitchFamily="34" charset="-122"/>
                <a:cs typeface="Arial" pitchFamily="34" charset="-120"/>
              </a:rPr>
              <a:t>Standard &amp; Fonctionnel</a:t>
            </a:r>
            <a:endParaRPr lang="en-US" sz="1000" dirty="0"/>
          </a:p>
        </p:txBody>
      </p:sp>
      <p:sp>
        <p:nvSpPr>
          <p:cNvPr id="24" name="Text 21"/>
          <p:cNvSpPr/>
          <p:nvPr/>
        </p:nvSpPr>
        <p:spPr>
          <a:xfrm>
            <a:off x="5607844" y="2200439"/>
            <a:ext cx="3107531" cy="428131"/>
          </a:xfrm>
          <a:prstGeom prst="rect">
            <a:avLst/>
          </a:prstGeom>
          <a:noFill/>
          <a:ln/>
        </p:spPr>
        <p:txBody>
          <a:bodyPr wrap="square" lIns="127508" tIns="127508" rIns="127508" bIns="127508" rtlCol="0" anchor="ctr">
            <a:spAutoFit/>
          </a:bodyPr>
          <a:lstStyle/>
          <a:p>
            <a:pPr marL="0" indent="0" algn="l">
              <a:lnSpc>
                <a:spcPct val="120000"/>
              </a:lnSpc>
              <a:buNone/>
            </a:pPr>
            <a:r>
              <a:rPr lang="en-US" sz="1000" dirty="0">
                <a:solidFill>
                  <a:srgbClr val="333333"/>
                </a:solidFill>
                <a:latin typeface="Arial" pitchFamily="34" charset="0"/>
                <a:ea typeface="Arial" pitchFamily="34" charset="-122"/>
                <a:cs typeface="Arial" pitchFamily="34" charset="-120"/>
              </a:rPr>
              <a:t>Ultra-détaillé &amp; Personnalisé</a:t>
            </a:r>
            <a:endParaRPr lang="en-US" sz="1000" dirty="0"/>
          </a:p>
        </p:txBody>
      </p:sp>
      <p:sp>
        <p:nvSpPr>
          <p:cNvPr id="25" name="Text 22"/>
          <p:cNvSpPr/>
          <p:nvPr/>
        </p:nvSpPr>
        <p:spPr>
          <a:xfrm>
            <a:off x="428625" y="2593345"/>
            <a:ext cx="2071688" cy="428131"/>
          </a:xfrm>
          <a:prstGeom prst="rect">
            <a:avLst/>
          </a:prstGeom>
          <a:noFill/>
          <a:ln/>
        </p:spPr>
        <p:txBody>
          <a:bodyPr wrap="square" lIns="127508" tIns="127508" rIns="127508" bIns="127508" rtlCol="0" anchor="ctr">
            <a:spAutoFit/>
          </a:bodyPr>
          <a:lstStyle/>
          <a:p>
            <a:pPr marL="0" indent="0" algn="l">
              <a:lnSpc>
                <a:spcPct val="120000"/>
              </a:lnSpc>
              <a:buNone/>
            </a:pPr>
            <a:r>
              <a:rPr lang="en-US" sz="1000" b="1" dirty="0">
                <a:solidFill>
                  <a:srgbClr val="003366"/>
                </a:solidFill>
                <a:latin typeface="Arial" pitchFamily="34" charset="0"/>
                <a:ea typeface="Arial" pitchFamily="34" charset="-122"/>
                <a:cs typeface="Arial" pitchFamily="34" charset="-120"/>
              </a:rPr>
              <a:t>Marketing</a:t>
            </a:r>
            <a:endParaRPr lang="en-US" sz="1000" dirty="0"/>
          </a:p>
        </p:txBody>
      </p:sp>
      <p:sp>
        <p:nvSpPr>
          <p:cNvPr id="26" name="Text 23"/>
          <p:cNvSpPr/>
          <p:nvPr/>
        </p:nvSpPr>
        <p:spPr>
          <a:xfrm>
            <a:off x="2500313" y="2593345"/>
            <a:ext cx="3107531" cy="428131"/>
          </a:xfrm>
          <a:prstGeom prst="rect">
            <a:avLst/>
          </a:prstGeom>
          <a:noFill/>
          <a:ln/>
        </p:spPr>
        <p:txBody>
          <a:bodyPr wrap="square" lIns="127508" tIns="127508" rIns="127508" bIns="127508" rtlCol="0" anchor="ctr">
            <a:spAutoFit/>
          </a:bodyPr>
          <a:lstStyle/>
          <a:p>
            <a:pPr marL="0" indent="0" algn="l">
              <a:lnSpc>
                <a:spcPct val="120000"/>
              </a:lnSpc>
              <a:buNone/>
            </a:pPr>
            <a:r>
              <a:rPr lang="en-US" sz="1000" dirty="0">
                <a:solidFill>
                  <a:srgbClr val="333333"/>
                </a:solidFill>
                <a:latin typeface="Arial" pitchFamily="34" charset="0"/>
                <a:ea typeface="Arial" pitchFamily="34" charset="-122"/>
                <a:cs typeface="Arial" pitchFamily="34" charset="-120"/>
              </a:rPr>
              <a:t>Promotions &amp; Phygital</a:t>
            </a:r>
            <a:endParaRPr lang="en-US" sz="1000" dirty="0"/>
          </a:p>
        </p:txBody>
      </p:sp>
      <p:sp>
        <p:nvSpPr>
          <p:cNvPr id="27" name="Text 24"/>
          <p:cNvSpPr/>
          <p:nvPr/>
        </p:nvSpPr>
        <p:spPr>
          <a:xfrm>
            <a:off x="5607844" y="2593345"/>
            <a:ext cx="3107531" cy="428131"/>
          </a:xfrm>
          <a:prstGeom prst="rect">
            <a:avLst/>
          </a:prstGeom>
          <a:noFill/>
          <a:ln/>
        </p:spPr>
        <p:txBody>
          <a:bodyPr wrap="square" lIns="127508" tIns="127508" rIns="127508" bIns="127508" rtlCol="0" anchor="ctr">
            <a:spAutoFit/>
          </a:bodyPr>
          <a:lstStyle/>
          <a:p>
            <a:pPr marL="0" indent="0" algn="l">
              <a:lnSpc>
                <a:spcPct val="120000"/>
              </a:lnSpc>
              <a:buNone/>
            </a:pPr>
            <a:r>
              <a:rPr lang="en-US" sz="1000" dirty="0">
                <a:solidFill>
                  <a:srgbClr val="333333"/>
                </a:solidFill>
                <a:latin typeface="Arial" pitchFamily="34" charset="0"/>
                <a:ea typeface="Arial" pitchFamily="34" charset="-122"/>
                <a:cs typeface="Arial" pitchFamily="34" charset="-120"/>
              </a:rPr>
              <a:t>Image, Lifestyle &amp; Exclusivité</a:t>
            </a:r>
            <a:endParaRPr lang="en-US" sz="1000" dirty="0"/>
          </a:p>
        </p:txBody>
      </p:sp>
      <p:sp>
        <p:nvSpPr>
          <p:cNvPr id="28" name="Shape 25"/>
          <p:cNvSpPr/>
          <p:nvPr/>
        </p:nvSpPr>
        <p:spPr>
          <a:xfrm>
            <a:off x="428625" y="3293185"/>
            <a:ext cx="8286750" cy="532209"/>
          </a:xfrm>
          <a:prstGeom prst="rect">
            <a:avLst/>
          </a:prstGeom>
          <a:solidFill>
            <a:srgbClr val="F2F2F2"/>
          </a:solidFill>
          <a:ln/>
        </p:spPr>
      </p:sp>
      <p:sp>
        <p:nvSpPr>
          <p:cNvPr id="29" name="Shape 26"/>
          <p:cNvSpPr/>
          <p:nvPr/>
        </p:nvSpPr>
        <p:spPr>
          <a:xfrm>
            <a:off x="428625" y="3293185"/>
            <a:ext cx="8286750" cy="28575"/>
          </a:xfrm>
          <a:prstGeom prst="rect">
            <a:avLst/>
          </a:prstGeom>
          <a:solidFill>
            <a:srgbClr val="003366"/>
          </a:solidFill>
          <a:ln/>
        </p:spPr>
      </p:sp>
      <p:sp>
        <p:nvSpPr>
          <p:cNvPr id="30" name="Text 27"/>
          <p:cNvSpPr/>
          <p:nvPr/>
        </p:nvSpPr>
        <p:spPr>
          <a:xfrm>
            <a:off x="428625" y="3293185"/>
            <a:ext cx="8286750" cy="532209"/>
          </a:xfrm>
          <a:prstGeom prst="rect">
            <a:avLst/>
          </a:prstGeom>
          <a:noFill/>
          <a:ln/>
        </p:spPr>
        <p:txBody>
          <a:bodyPr wrap="square" lIns="212598" tIns="212598" rIns="212598" bIns="212598" rtlCol="0" anchor="t">
            <a:spAutoFit/>
          </a:bodyPr>
          <a:lstStyle/>
          <a:p>
            <a:pPr marL="0" indent="0" algn="ctr">
              <a:buNone/>
            </a:pPr>
            <a:r>
              <a:rPr lang="en-US" sz="900" b="1" dirty="0">
                <a:solidFill>
                  <a:srgbClr val="333333"/>
                </a:solidFill>
                <a:latin typeface="Arial" pitchFamily="34" charset="0"/>
                <a:ea typeface="Arial" pitchFamily="34" charset="-122"/>
                <a:cs typeface="Arial" pitchFamily="34" charset="-120"/>
              </a:rPr>
              <a:t>Verdict : Deux stratégies Data distinctes parfaitement alignées avec le positionnement de marque respectif.</a:t>
            </a:r>
            <a:endParaRPr lang="en-US" sz="900" dirty="0"/>
          </a:p>
        </p:txBody>
      </p:sp>
      <p:sp>
        <p:nvSpPr>
          <p:cNvPr id="31" name="Text 28"/>
          <p:cNvSpPr/>
          <p:nvPr/>
        </p:nvSpPr>
        <p:spPr>
          <a:xfrm>
            <a:off x="8746992" y="4813102"/>
            <a:ext cx="111258" cy="116086"/>
          </a:xfrm>
          <a:prstGeom prst="rect">
            <a:avLst/>
          </a:prstGeom>
          <a:noFill/>
          <a:ln/>
        </p:spPr>
        <p:txBody>
          <a:bodyPr wrap="none" lIns="0" tIns="0" rIns="0" bIns="0" rtlCol="0" anchor="t">
            <a:spAutoFit/>
          </a:bodyPr>
          <a:lstStyle/>
          <a:p>
            <a:pPr marL="0" indent="0" algn="l">
              <a:buNone/>
            </a:pPr>
            <a:r>
              <a:rPr lang="en-US" sz="750" dirty="0">
                <a:solidFill>
                  <a:srgbClr val="CCCCCC"/>
                </a:solidFill>
                <a:latin typeface="Arial" pitchFamily="34" charset="0"/>
                <a:ea typeface="Arial" pitchFamily="34" charset="-122"/>
                <a:cs typeface="Arial" pitchFamily="34" charset="-120"/>
              </a:rPr>
              <a:t>09</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0"/>
          <p:cNvSpPr/>
          <p:nvPr/>
        </p:nvSpPr>
        <p:spPr>
          <a:xfrm>
            <a:off x="2137767" y="1610023"/>
            <a:ext cx="4868466" cy="507831"/>
          </a:xfrm>
          <a:prstGeom prst="rect">
            <a:avLst/>
          </a:prstGeom>
          <a:noFill/>
          <a:ln/>
        </p:spPr>
        <p:txBody>
          <a:bodyPr wrap="square" lIns="0" tIns="0" rIns="0" bIns="0" rtlCol="0" anchor="t">
            <a:spAutoFit/>
          </a:bodyPr>
          <a:lstStyle/>
          <a:p>
            <a:pPr marL="0" indent="0" algn="ctr">
              <a:buNone/>
            </a:pPr>
            <a:r>
              <a:rPr lang="en-US" sz="3300" b="1" dirty="0">
                <a:solidFill>
                  <a:srgbClr val="002060"/>
                </a:solidFill>
                <a:latin typeface="Arial" panose="020B0604020202020204" pitchFamily="34" charset="0"/>
                <a:ea typeface="Space Grotesk Bold" pitchFamily="34" charset="-122"/>
                <a:cs typeface="Arial" panose="020B0604020202020204" pitchFamily="34" charset="0"/>
              </a:rPr>
              <a:t>Questions &amp; Échanges</a:t>
            </a:r>
            <a:endParaRPr lang="en-US" sz="3300" dirty="0">
              <a:latin typeface="Arial" panose="020B0604020202020204" pitchFamily="34" charset="0"/>
              <a:cs typeface="Arial" panose="020B0604020202020204" pitchFamily="34" charset="0"/>
            </a:endParaRPr>
          </a:p>
        </p:txBody>
      </p:sp>
      <p:sp>
        <p:nvSpPr>
          <p:cNvPr id="5" name="Text 1"/>
          <p:cNvSpPr/>
          <p:nvPr/>
        </p:nvSpPr>
        <p:spPr>
          <a:xfrm>
            <a:off x="3241477" y="2408337"/>
            <a:ext cx="2661047" cy="246221"/>
          </a:xfrm>
          <a:prstGeom prst="rect">
            <a:avLst/>
          </a:prstGeom>
          <a:noFill/>
          <a:ln/>
        </p:spPr>
        <p:txBody>
          <a:bodyPr wrap="square" lIns="0" tIns="0" rIns="0" bIns="0" rtlCol="0" anchor="t">
            <a:spAutoFit/>
          </a:bodyPr>
          <a:lstStyle/>
          <a:p>
            <a:pPr marL="0" indent="0" algn="ctr">
              <a:buNone/>
            </a:pPr>
            <a:r>
              <a:rPr lang="en-US" sz="1600" b="1" dirty="0">
                <a:solidFill>
                  <a:srgbClr val="0070C0"/>
                </a:solidFill>
                <a:latin typeface="Arial" panose="020B0604020202020204" pitchFamily="34" charset="0"/>
                <a:ea typeface="Inter Bold" pitchFamily="34" charset="-122"/>
                <a:cs typeface="Arial" panose="020B0604020202020204" pitchFamily="34" charset="0"/>
              </a:rPr>
              <a:t>Merci de votre attention</a:t>
            </a:r>
            <a:endParaRPr lang="en-US" sz="1600" dirty="0">
              <a:latin typeface="Arial" panose="020B0604020202020204" pitchFamily="34" charset="0"/>
              <a:cs typeface="Arial" panose="020B0604020202020204" pitchFamily="34" charset="0"/>
            </a:endParaRPr>
          </a:p>
        </p:txBody>
      </p:sp>
      <p:sp>
        <p:nvSpPr>
          <p:cNvPr id="6" name="Text 2"/>
          <p:cNvSpPr/>
          <p:nvPr/>
        </p:nvSpPr>
        <p:spPr>
          <a:xfrm>
            <a:off x="1714500" y="3042345"/>
            <a:ext cx="5715000" cy="323165"/>
          </a:xfrm>
          <a:prstGeom prst="rect">
            <a:avLst/>
          </a:prstGeom>
          <a:noFill/>
          <a:ln/>
        </p:spPr>
        <p:txBody>
          <a:bodyPr wrap="square" lIns="0" tIns="0" rIns="0" bIns="0" rtlCol="0" anchor="t">
            <a:spAutoFit/>
          </a:bodyPr>
          <a:lstStyle/>
          <a:p>
            <a:pPr marL="0" indent="0" algn="ctr">
              <a:buNone/>
            </a:pPr>
            <a:r>
              <a:rPr lang="en-US" sz="1050" dirty="0">
                <a:solidFill>
                  <a:srgbClr val="333333"/>
                </a:solidFill>
                <a:latin typeface="Arial" panose="020B0604020202020204" pitchFamily="34" charset="0"/>
                <a:ea typeface="Inter" pitchFamily="34" charset="-122"/>
                <a:cs typeface="Arial" panose="020B0604020202020204" pitchFamily="34" charset="0"/>
              </a:rPr>
              <a:t>Nous sommes à votre entière disposition pour approfondir certains points ou répondre à vos interrogations concernant cette analyse comparative.</a:t>
            </a:r>
            <a:endParaRPr lang="en-US" sz="1050" dirty="0">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Ronds dans l’eau">
  <a:themeElements>
    <a:clrScheme name="Ronds dans l’eau">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Ronds dans l’eau">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onds dans l’eau">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560</TotalTime>
  <Words>2008</Words>
  <Application>Microsoft Office PowerPoint</Application>
  <PresentationFormat>Affichage à l'écran (16:9)</PresentationFormat>
  <Paragraphs>173</Paragraphs>
  <Slides>11</Slides>
  <Notes>11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11</vt:i4>
      </vt:variant>
    </vt:vector>
  </HeadingPairs>
  <TitlesOfParts>
    <vt:vector size="17" baseType="lpstr">
      <vt:lpstr>Aptos Display</vt:lpstr>
      <vt:lpstr>Arial</vt:lpstr>
      <vt:lpstr>Inter</vt:lpstr>
      <vt:lpstr>Inter Bold</vt:lpstr>
      <vt:lpstr>Tw Cen MT</vt:lpstr>
      <vt:lpstr>Ronds dans l’eau</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Ines DAMMAK</cp:lastModifiedBy>
  <cp:revision>3</cp:revision>
  <dcterms:created xsi:type="dcterms:W3CDTF">2026-05-26T22:56:11Z</dcterms:created>
  <dcterms:modified xsi:type="dcterms:W3CDTF">2026-05-28T19:53:55Z</dcterms:modified>
</cp:coreProperties>
</file>