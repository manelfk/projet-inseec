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61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07C4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07C41">
              <a:alpha val="3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880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Walmart — Ventes &amp; Supply Chain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 DAMMAK   •   Manel FRIKHA   •   Marie-ange AKé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 l'étude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07C4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préparation des données &amp; indicateurs clés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34440" y="2039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qualité, puis vue d'ensemble business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107C4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359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des bases via RECHERCHEV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26609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 la table maîtresse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457200" cy="457200"/>
          </a:xfrm>
          <a:prstGeom prst="ellipse">
            <a:avLst/>
          </a:prstGeom>
          <a:solidFill>
            <a:srgbClr val="107C4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9809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sont nos clients à forte valeur 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32826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panier moyen, âge, revenu par fidélité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48456"/>
            <a:ext cx="457200" cy="457200"/>
          </a:xfrm>
          <a:prstGeom prst="ellipse">
            <a:avLst/>
          </a:prstGeom>
          <a:solidFill>
            <a:srgbClr val="107C4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60273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Sont-ils exposés aux ruptures de stock 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34440" y="39044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 × rupture de stock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107C4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2245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ruptures surviennent-elles 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23444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demande prévue / réelle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107C4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846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promotions aggravent-elles le phénomène ?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34440" y="5148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× ruptures de stock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513832"/>
            <a:ext cx="457200" cy="457200"/>
          </a:xfrm>
          <a:prstGeom prst="ellipse">
            <a:avLst/>
          </a:prstGeom>
          <a:solidFill>
            <a:srgbClr val="107C4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54681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234440" y="57698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constats, 3 actions concrètes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— Concilier satisfaction client et maîtrise des stocks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93776" y="1728216"/>
            <a:ext cx="40416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media/image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783080"/>
            <a:ext cx="3931920" cy="2816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783080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83480" y="1920240"/>
            <a:ext cx="6446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 :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— grande distribution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étudié :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transactions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bases :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 (Commercial/Clients) et Bloc B (Supply Chain/Stocks)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5488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0" y="3657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cherche à concilier deux impératifs : satisfaire ses clients — notamment les plus fidèles — et maîtriser ses stocks. Cette étude croise les données commerciales et logistiques pour identifier où ces deux objectifs entrent en tension, et formuler des recommandations concrètes.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segments de clientèle stratégiques et évaluer leur exposition aux ruptures de stock.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fiabilité des prévisions de demande pour comprendre l'origine des ruptures.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l'effet des opérations promotionnelles sur la disponibilité des produits.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1 — Commercial / Clients (Bloc A)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93776" y="1545336"/>
            <a:ext cx="11173968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media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00200"/>
            <a:ext cx="11064240" cy="42793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lignes. Colonnes clés : identifiant de transaction, produit, catégorie, prix, profil client (âge, genre, revenu, fidélité), moyen de paiement et promotion appliquée.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2 — Supply Chain / Stocks (Bloc B)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93776" y="1545336"/>
            <a:ext cx="11173968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media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00200"/>
            <a:ext cx="11064240" cy="42793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lignes. Colonnes clés : identifiant de transaction (clé commune avec le Bloc A), niveau de stock, seuil de réapprovisionnement, demande prévue/réelle, indicateur de rupture de stock.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&amp; qualité des données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notre base de données est complète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2514600"/>
          </a:xfrm>
          <a:prstGeom prst="roundRect">
            <a:avLst>
              <a:gd name="adj" fmla="val 2182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nouvelle feuille nommée « Formules » : clic droit sur un onglet en bas → Insérer → Feuille de calcul.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cette feuille, cliquer sur une cellule vide.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: =NB.VIDE('Block A'!A2:R5001)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Entrée : le résultat compte les cellules vides sur toute la largeur de la table (18 colonnes, 5000 lignes).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Répéter la même formule sur 'Block B'!A2:R5001.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Attention à la plage : elle doit couvrir exactement les lignes de données (2 à 5001), sans ligne vide en trop, sinon le résultat est faussé.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34456" y="2048256"/>
            <a:ext cx="573328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0" descr="media/image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2103120"/>
            <a:ext cx="5623560" cy="7132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34456" y="3008376"/>
            <a:ext cx="34015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media/image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9320" y="3063240"/>
            <a:ext cx="3291840" cy="5303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56235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8247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5696712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 : 0 valeur manquante dans les deux bases — la clé de jointure transaction_id est fiable pour les croisements RECHERCHEV à venir.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&amp; qualité des données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contient-elle bien 5 000 transactions exploitables, sans ligne corrompue sur l'identifiant clé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feuille « Formules », cliquer sur une cellule vide.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: =NBVAL('Block A'!A2:A5001)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Appuyer sur Entrée : la fonction compte les cellules non vides (texte ou nombre) sur la colonne transaction_id.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Répéter sur 'Block B'!A2:A5001.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deux résultats : ils doivent être égaux à 5000.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34456" y="2048256"/>
            <a:ext cx="5504688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2103120"/>
            <a:ext cx="5394960" cy="1691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0292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303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5102352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NBVAL sert à valider la fiabilité de la clé de jointure (transaction_id) avant de l'utiliser dans tous les RECHERCHEV de l'étape 2 : un identifiant manquant ou corrompu fausserait tous les croisements.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des doublons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transaction est-elle unique dans la base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760720" cy="2880360"/>
          </a:xfrm>
          <a:prstGeom prst="roundRect">
            <a:avLst>
              <a:gd name="adj" fmla="val 1905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5303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Bloc A, insérer une colonne à côté de transaction_id : clic droit sur l'en-tête de colonne → Insérer.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la colonne « Doublons ? ».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1ère ligne de données, taper : =NB.SI($A$2:$A$5001;A2)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Verrouiller la plage avec les $ pour qu'elle reste fixe en recopiant vers le bas.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Recopier la formule sur les 5000 lignes (sélectionner puis Ctrl+D).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la synthèse : =NB.SI(plage_doublons;"&gt;1") → nombre de lignes dupliquées.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28816" y="2048256"/>
            <a:ext cx="5047488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0" y="2103120"/>
            <a:ext cx="4937760" cy="1874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28816" y="4105656"/>
            <a:ext cx="239572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media/image1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83680" y="4160520"/>
            <a:ext cx="2286000" cy="3840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997696" y="4105656"/>
            <a:ext cx="2578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media/image1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0" y="4160520"/>
            <a:ext cx="2468880" cy="38404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" y="47548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95604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828032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 : 0 doublon dans les deux bases. Astuce : verrouiller la plage avec $ est indispensable, sinon la plage glisse à chaque ligne recopiée et le résultat devient incohérent.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— Qualité des données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965960"/>
          <a:ext cx="8686800" cy="173736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7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manquantes (NB.VIDE)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Lignes exploitables (NBVAL)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Doublons (NB.SI)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233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245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4096512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bases sont parfaitement complètes : toutes les transaction_id, notre clé de jointure, sont existantes et uniques. La table maîtresse peut être construite en toute confiance.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5" name="Text 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chiffre d'affaires par transaction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chiffre d'affaires généré par chaque transaction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Bloc A, insérer une colonne après unit_price.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la colonne « montant_vente ».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1ère ligne : =ARRONDI(quantity_sold*unit_price;2)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Recopier la formule sur les 5000 lignes (Ctrl+D).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34456" y="2048256"/>
            <a:ext cx="5504688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2103120"/>
            <a:ext cx="5394960" cy="1874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45720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731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4645152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colonne est la brique de base de tous les indicateurs commerciaux à venir : chiffre d'affaires total, panier moyen, KPI par segment...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l'écart de prévision de la demande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réelle a-t-elle été correctement anticipée par les prévisions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Bloc B, insérer une colonne après actual_demand.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la colonne « ecart_demande ».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1ère ligne : =actual_demand - forecasted_demand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Recopier la formule sur les 5000 lignes (Ctrl+D).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34456" y="2048256"/>
            <a:ext cx="5504688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2103120"/>
            <a:ext cx="5394960" cy="1874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45720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731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4645152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écart positif signifie une demande sous-estimée (risque de rupture de stock) ; un écart négatif signifie une demande surestimée (surstockage). Cette colonne alimentera l'étape 5.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de Performance (KPI)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 que la donnée est propre et que montant_vente existe, quelle est l'ampleur du business Walmart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1284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15 263 601 €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 généré (SOMME)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21284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3 053 €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(MOYENNE)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21284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9 999 €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292608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grosse transaction (MAX)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1540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15400" y="2212848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52560" y="2926080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petite transaction (MIN)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" y="3648456"/>
            <a:ext cx="285292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0" descr="media/image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3703320"/>
            <a:ext cx="2743200" cy="38404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374136" y="3648456"/>
            <a:ext cx="285292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1" descr="media/image1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29000" y="3703320"/>
            <a:ext cx="2743200" cy="38404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254496" y="3648456"/>
            <a:ext cx="248716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2" descr="media/image1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09360" y="3703320"/>
            <a:ext cx="2377440" cy="38404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9096" y="3648456"/>
            <a:ext cx="248716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3" descr="media/image1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23960" y="3703320"/>
            <a:ext cx="2377440" cy="38404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77240" y="44622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plus loin — SOMME.SI : </a:t>
            </a: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=SOMME.SI(category;"Electronics";montant_vente) → CA Electronics = 7 941 632 € vs Appliances = 7 321 970 €.   </a:t>
            </a:r>
            <a:r>
              <a:rPr lang="en-US" sz="11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CONCATENER :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=CONCATENER(category;" - ";TEXTE(transaction_date;"mmmm")) → crée un libellé lisible "Electronics - mars" pour étiqueter les graphiques.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1898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34440" y="5468112"/>
            <a:ext cx="10149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15,26M€ de CA sur 5000 transactions et un panier moyen de 3 053€, Walmart opère à forte volumétrie — ce qui rend le taux de rupture de stock (à venir) d'autant plus critique en valeur absolue.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chiffre d'affaires varie-t-il selon le mois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colonne transaction_date est au format 31/03/2024 21:46 — peut-on en extraire une tendance saisonnière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029200" cy="2880360"/>
          </a:xfrm>
          <a:prstGeom prst="roundRect">
            <a:avLst>
              <a:gd name="adj" fmla="val 1905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572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Bloc A, insérer une colonne après transaction_date.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la colonne « Mois ».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: =TEXTE(DATE(2000;MOIS(transaction_date);1);"mmmm")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formule convertit le numéro de mois en nom lisible ("mars", "avril"…).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Recopier la formule sur les 5000 lignes (Ctrl+D).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51576" y="2093976"/>
            <a:ext cx="5916168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2148840"/>
            <a:ext cx="580644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51576" y="2642616"/>
            <a:ext cx="591616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media/image2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06440" y="2697480"/>
            <a:ext cx="5806440" cy="2286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4361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5285232"/>
            <a:ext cx="10149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colonne « Mois » (texte lisible) alimente directement le TCD de la slide suivante : Lignes = Mois, Valeurs = Somme de montant_vente, pour visualiser la tendance de chiffre d'affaires au fil de l'année.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chiffre d'affaires varie-t-il selon le mois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du TCD : Lignes = Mois, Valeurs = Somme de montant_vente, puis graphique croisé dynamique.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931920" cy="2880360"/>
          </a:xfrm>
          <a:prstGeom prst="roundRect">
            <a:avLst>
              <a:gd name="adj" fmla="val 1905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474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la table maîtresse avec en-têtes.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→ Tableau croisé dynamique.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: Mois — Valeurs : Somme de montant_vente.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→ Graphique croisé dynamique → Courbe ou Barres.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54296" y="1911096"/>
            <a:ext cx="376732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965960"/>
            <a:ext cx="3657600" cy="3154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94776" y="2322576"/>
            <a:ext cx="321868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media/image2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49640" y="2377440"/>
            <a:ext cx="3108960" cy="23317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48182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5330952"/>
            <a:ext cx="10149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affiche le CA le plus élevé (≈2,02M€) ; septembre est le plus bas mais correspond à une période incomplète dans le jeu de données. La tendance générale reste stable entre 1,6M€ et 1,9M€ selon les mois.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 des bases via RECHERCHEV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relier, pour chaque vente réalisée, le niveau de stock et les conditions d'approvisionnement du produit concerné 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au RECHERCHEV sur l'identifiant de transaction, les données commerciales et logistiques sont unifiées en une seule table maîtresse, sans copier-coller manuel.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120640" cy="2651760"/>
          </a:xfrm>
          <a:prstGeom prst="roundRect">
            <a:avLst>
              <a:gd name="adj" fmla="val 2069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249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Bloc A, se placer dans la 1ère cellule vide après la dernière colonne.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la colonne (ex. « stockout_indicator »).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: =RECHERCHEV($A2;'Block B'!$A:$S;18;FAUX)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= position de la colonne recherchée dans le Bloc B ; FAUX = correspondance exacte.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Recopier vers le bas (Ctrl+D), puis répéter pour inventory_level, reorder_point et supplier_lead_time.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34456" y="2505456"/>
            <a:ext cx="550468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0" descr="media/image1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2560320"/>
            <a:ext cx="5394960" cy="2468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53492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504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5422392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croisement permettra ensuite d'étudier si les promotions provoquent des ruptures de stock, ou si les clients fidèles sont plus touchés par ces ruptures.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sont nos clients à forte valeur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de fidélité reflète-t-il un profil client différent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2651760"/>
          </a:xfrm>
          <a:prstGeom prst="roundRect">
            <a:avLst>
              <a:gd name="adj" fmla="val 2069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la table maîtresse avec ses en-têtes.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Insertion → Tableau croisé dynamique → Nouvelle feuille.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customer_loyalty_level dans Lignes.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montant_vente, transaction_id, customer_age et customer_income dans Valeurs.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3 derniers, clic droit → Synthétiser les valeurs par → Moyenne (sauf montant_vente : Somme).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34456" y="2048256"/>
            <a:ext cx="5504688" cy="2532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2103120"/>
            <a:ext cx="5394960" cy="2423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sont nos clients à forte valeur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82496" y="1636776"/>
            <a:ext cx="8796528" cy="2829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media/image26.png"/>
          <p:cNvPicPr>
            <a:picLocks noChangeAspect="1"/>
          </p:cNvPicPr>
          <p:nvPr/>
        </p:nvPicPr>
        <p:blipFill>
          <a:blip r:embed="rId3"/>
          <a:srcRect b="12537"/>
          <a:stretch>
            <a:fillRect/>
          </a:stretch>
        </p:blipFill>
        <p:spPr>
          <a:xfrm>
            <a:off x="1737360" y="1718144"/>
            <a:ext cx="8686800" cy="26791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760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501091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l'intuition, le niveau de fidélité ne différencie ni le panier moyen (≈3000€), ni l'âge (44-45 ans), ni le revenu (≈69-71k€) : les 4 segments ont un profil quasi identique. La vraie question devient : ces clients sont-ils traités équitablement en aval, notamment face aux ruptures de stock ?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clients sont-ils exposés aux ruptures de stock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vérifier si le niveau de fidélité influence le taux de rupture de stock subi.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120640" cy="2926080"/>
          </a:xfrm>
          <a:prstGeom prst="roundRect">
            <a:avLst>
              <a:gd name="adj" fmla="val 1875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la table maîtresse avec en-têtes.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→ Tableau croisé dynamique → Nouvelle feuille.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TCD vide est créé : il faut maintenant glisser les champs dans les bonnes zones (slide suivante).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34456" y="2048256"/>
            <a:ext cx="5504688" cy="2807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2103120"/>
            <a:ext cx="5394960" cy="2697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avons-nous rempli le TCD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: customer_loyalty_level — Colonnes : stockout_indicator — Valeurs : Nombre de transaction_id (% du total de la ligne).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931920" cy="2560320"/>
          </a:xfrm>
          <a:prstGeom prst="roundRect">
            <a:avLst>
              <a:gd name="adj" fmla="val 2143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customer_loyalty_level dans Lignes.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stockout_indicator dans Colonnes.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transaction_id dans Valeurs.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les valeurs → Afficher les valeurs → % du total de la ligne.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0056" y="2002536"/>
            <a:ext cx="2121408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2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2057400"/>
            <a:ext cx="2011680" cy="274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97496" y="2139696"/>
            <a:ext cx="427024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media/image2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52360" y="2194560"/>
            <a:ext cx="4160520" cy="2468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49377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11606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5010912"/>
            <a:ext cx="10149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% du total de la ligne rend chaque segment comparable, même s'ils n'ont pas le même nombre total de transactions.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clients sont-ils exposés aux ruptures de stock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206240" cy="1920240"/>
          </a:xfrm>
          <a:prstGeom prst="roundRect">
            <a:avLst>
              <a:gd name="adj" fmla="val 2857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dans le TCD.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Analyse du TCD → Graphique croisé dynamique.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Histogramme groupé.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: un groupe de barres FAUX/VRAI par segment de fidélité apparaît.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mise en forme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526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l'onglet Création (Outils de graphique), on peut modifier le style, les couleurs et la disposition du graphique.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82896" y="1773936"/>
            <a:ext cx="6784848" cy="2258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0" descr="media/image3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1828800"/>
            <a:ext cx="6675120" cy="21488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202936" y="4059936"/>
            <a:ext cx="4133088" cy="235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media/image3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57800" y="4114800"/>
            <a:ext cx="4023360" cy="22402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clients sont-ils exposés aux ruptures de stock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299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52,5%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rupture — Bronze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0299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743200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rupture — Silver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0299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72200" y="2743200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rupture — Gold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1920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20299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51,1%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15400" y="2743200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rupture — Platinum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50208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34440" y="3730752"/>
            <a:ext cx="10149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rupture de stock est quasi identique quel que soit le niveau de fidélité du client (51 à 52,5%). Ce n'est donc pas un problème de segment ciblé : c'est un problème systémique qui touche près d'une transaction sur deux chez Walmart, sans distinction de clientèle.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Puisque tous les segments se valent, la question devient : d'où vient ce problème généralisé ?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ruptures surviennent-elles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réelle est-elle correctement anticipée par les prévisions, et cet écart explique-t-il les ruptures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212080" cy="2331720"/>
          </a:xfrm>
          <a:prstGeom prst="roundRect">
            <a:avLst>
              <a:gd name="adj" fmla="val 2353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→ Tableau croisé dynamique sur la table maîtresse.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: category.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: Moyenne de ecart_demande, puis Nombre de transaction_id avec stockout_indicator en Colonnes (% du total de la ligne).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→ Graphique croisé dynamique → Barres.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34456" y="2048256"/>
            <a:ext cx="550468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2103120"/>
            <a:ext cx="5394960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93776" y="4562856"/>
            <a:ext cx="2807208" cy="170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media/image3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4617720"/>
            <a:ext cx="2697480" cy="1600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4617720"/>
            <a:ext cx="8183880" cy="1600200"/>
          </a:xfrm>
          <a:prstGeom prst="roundRect">
            <a:avLst>
              <a:gd name="adj" fmla="val 3429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525322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14800" y="4690872"/>
            <a:ext cx="726948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catégorie Electronics sous-estime la demande de +4,41 unités en moyenne (contre -0,68 pour Appliances) et affiche le taux de rupture le plus élevé (52,9% contre 50,8%). L'imprécision des prévisions contribue directement au taux de rupture généralisé.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promotions aggravent-elles le phénomène 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avec promotion subissent-elles plus de ruptures que la moyenne 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faire (clic par clic)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feuille « Formules », créer 3 cellules 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" y="2852928"/>
            <a:ext cx="49560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media/image3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2907792"/>
            <a:ext cx="4846320" cy="3108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3816" y="3255264"/>
            <a:ext cx="271576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media/image3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" y="3310128"/>
            <a:ext cx="2606040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3703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diviser la 1ère cellule par la 2e → taux de rupture avec promo, formaté en %.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0" y="210312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2212848"/>
            <a:ext cx="21945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1369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537960" y="2816352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promo + rupture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686800" y="210312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0" y="2212848"/>
            <a:ext cx="21945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2607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823960" y="2816352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promo (total)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543800" y="34290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E5F2EA"/>
          </a:solidFill>
          <a:ln w="12700">
            <a:solidFill>
              <a:srgbClr val="D7E8D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43800" y="3538728"/>
            <a:ext cx="21945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7680960" y="4142232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rupture si promo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48640" y="48006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11606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34440" y="4873752"/>
            <a:ext cx="101498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des transactions bénéficiant d'une promotion subissent une rupture de stock, contre 51,9% en moyenne générale. Les opérations promotionnelles, en générant un pic de demande ponctuel, aggravent un problème de rupture déjà structurel — sans en être la cause unique.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07C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51,9% des transactions subissent une rupture de stock, uniformément réparti entre segments de fidélité (51,1% à 52,5%).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3977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la politique globale de gestion des stocks (reorder_point) plutôt que de cibler un segment client : le problème est structurel.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0" y="160020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8288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3317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61772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sous-estime la demande réelle de +4,41 unités en moyenne et affiche le taux de rupture le plus élevé (52,9%).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17720" y="37490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17720" y="3977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le modèle de prévision de la demande sur Electronics : mise à jour plus fréquente, stock de sécurité renforcé.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0" y="160020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F3FAF6"/>
          </a:solidFill>
          <a:ln w="12700">
            <a:solidFill>
              <a:srgbClr val="D7E8D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8288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23317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458200" y="25603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rupture atteint 53% sur les transactions en promotion, contre 51,9% en moyenne générale.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58200" y="37490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458200" y="3977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Synchroniser le calendrier promotionnel avec les niveaux de stock (inventory_level vs reorder_point) avant chaque opération.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48640" y="5120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cherchait à concilier satisfaction client et maîtrise des stocks. Notre analyse montre que ces deux objectifs ne s'opposent pas à cause d'un segment de clients particulier, mais d'un problème d'anticipation de la demande, amplifié par les opérations commerciales.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5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07C41">
              <a:alpha val="35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1031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Excel — Étude de cas Walmart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2937</Words>
  <Application>Microsoft Office PowerPoint</Application>
  <PresentationFormat>Grand écran</PresentationFormat>
  <Paragraphs>311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Excel — Walmart</dc:title>
  <dc:subject>PptxGenJS Presentation</dc:subject>
  <dc:creator>Ines DAMMAK, Manel FRIKHA, Marie-ange AKé</dc:creator>
  <cp:lastModifiedBy>Ines DAMMAK</cp:lastModifiedBy>
  <cp:revision>2</cp:revision>
  <dcterms:created xsi:type="dcterms:W3CDTF">2026-07-08T09:53:50Z</dcterms:created>
  <dcterms:modified xsi:type="dcterms:W3CDTF">2026-07-08T10:02:45Z</dcterms:modified>
</cp:coreProperties>
</file>