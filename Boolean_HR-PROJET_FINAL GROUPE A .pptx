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34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190733"/>
            <a:ext cx="7143750" cy="4762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1000125" y="190733"/>
            <a:ext cx="7143750" cy="71438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1428750" y="940826"/>
            <a:ext cx="6286500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Boolean HR — Dashboard Customer Success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1428750" y="2809615"/>
            <a:ext cx="62865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l'Excel artisanal à la Business Intelligence en self-service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1898452" y="3791880"/>
            <a:ext cx="5347097" cy="410766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Manel FRIKHA · Marie-Ange AKÉ · Beni AMBETO · Dilane EDOU LEMAMI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0" y="4720233"/>
            <a:ext cx="9144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Équipe Data Product Management · M2 Data Mining INSEEC · 2026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364331"/>
            <a:ext cx="7715250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2226" dirty="0"/>
          </a:p>
        </p:txBody>
      </p:sp>
      <p:sp>
        <p:nvSpPr>
          <p:cNvPr id="4" name="Shape 1"/>
          <p:cNvSpPr/>
          <p:nvPr/>
        </p:nvSpPr>
        <p:spPr>
          <a:xfrm>
            <a:off x="714375" y="887611"/>
            <a:ext cx="7715250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85825" y="973336"/>
            <a:ext cx="321469" cy="207169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1350169" y="982266"/>
            <a:ext cx="28414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CASE (BESOIN CLIENT)</a:t>
            </a:r>
            <a:endParaRPr lang="en-US" sz="1090" dirty="0"/>
          </a:p>
        </p:txBody>
      </p:sp>
      <p:sp>
        <p:nvSpPr>
          <p:cNvPr id="7" name="Shape 4"/>
          <p:cNvSpPr/>
          <p:nvPr/>
        </p:nvSpPr>
        <p:spPr>
          <a:xfrm>
            <a:off x="714375" y="1337667"/>
            <a:ext cx="7715250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885825" y="1423392"/>
            <a:ext cx="321469" cy="207169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350169" y="1432322"/>
            <a:ext cx="35147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OUTIL DATA VIZ (POWER BI, POURQUOI ?)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714375" y="1787723"/>
            <a:ext cx="7715250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85825" y="1873448"/>
            <a:ext cx="321469" cy="207169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C.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350169" y="1882378"/>
            <a:ext cx="34718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TECHNIQUE DU PRODUIT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714375" y="2237780"/>
            <a:ext cx="7715250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85825" y="2323505"/>
            <a:ext cx="321469" cy="207169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1350169" y="2332434"/>
            <a:ext cx="39844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360 DE NOTRE DASHBOARD EN ACTION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714375" y="2687836"/>
            <a:ext cx="7715250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885825" y="2773561"/>
            <a:ext cx="321469" cy="207169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1350169" y="2782491"/>
            <a:ext cx="20413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 KPIS (POURQUOI ?)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714375" y="3137892"/>
            <a:ext cx="7715250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885825" y="3223617"/>
            <a:ext cx="321469" cy="207169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F.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1350169" y="3232547"/>
            <a:ext cx="33682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DE TRANSFORMATION ADOPTION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714375" y="3587948"/>
            <a:ext cx="7715250" cy="407194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885825" y="3673673"/>
            <a:ext cx="321469" cy="207169"/>
          </a:xfrm>
          <a:prstGeom prst="rect">
            <a:avLst/>
          </a:prstGeom>
          <a:noFill/>
          <a:ln/>
        </p:spPr>
        <p:txBody>
          <a:bodyPr wrap="none" lIns="0" tIns="0" rIns="119126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G.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1350169" y="3682603"/>
            <a:ext cx="37272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CAHIER DES CHARGES PLANNING &amp; JALONS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problème business concret qui coûte cher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817959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statu quo Excel génère des pertes mesurables chaque semaine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196578"/>
            <a:ext cx="3914775" cy="14642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1500" y="1196578"/>
            <a:ext cx="3914775" cy="28575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368028"/>
            <a:ext cx="2857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378744"/>
            <a:ext cx="10947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 humain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42950" y="1682353"/>
            <a:ext cx="3571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Lena consacre plusieurs heures chaque lundi matin à consolider, vérifier et distribuer les données — un travail à faible valeur ajoutée qui mobilise une ressource qualifiée.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657725" y="1196578"/>
            <a:ext cx="3914775" cy="14642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657725" y="1196578"/>
            <a:ext cx="3914775" cy="28575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368028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72075" y="1378744"/>
            <a:ext cx="153233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Fiabilité dégradée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4829175" y="1682353"/>
            <a:ext cx="35718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données Salesforce sont incomplètes (ex. : fusion Acme Corp / TechGiant non reflétée), entraînant des erreurs récurrentes et des vérifications manuelles sur 9 000 clients.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571500" y="2818014"/>
            <a:ext cx="3914775" cy="1298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571500" y="2818014"/>
            <a:ext cx="3914775" cy="28575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989464"/>
            <a:ext cx="200025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7275" y="3000180"/>
            <a:ext cx="17180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opérationnel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742950" y="3303789"/>
            <a:ext cx="3571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fois sur deux, les Excel arrivent en retard, décalant le meeting hebdomadaire de Sofiya et perturbant les agendas de 300 personnes.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4657725" y="2818014"/>
            <a:ext cx="3914775" cy="1298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4657725" y="2818014"/>
            <a:ext cx="3914775" cy="28575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3003752"/>
            <a:ext cx="200025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43500" y="3014467"/>
            <a:ext cx="23645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Problème de confidentialité</a:t>
            </a:r>
            <a:endParaRPr lang="en-US" sz="1193" dirty="0"/>
          </a:p>
        </p:txBody>
      </p:sp>
      <p:sp>
        <p:nvSpPr>
          <p:cNvPr id="24" name="Text 17"/>
          <p:cNvSpPr/>
          <p:nvPr/>
        </p:nvSpPr>
        <p:spPr>
          <a:xfrm>
            <a:off x="4829175" y="3318077"/>
            <a:ext cx="3571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fichiers Excel circulent par e-mail, exposant les chiffres d'un pays à des commerciaux d'autres pays — une violation des règles de cloisonnement des données.</a:t>
            </a:r>
            <a:endParaRPr lang="en-US" sz="942" dirty="0"/>
          </a:p>
        </p:txBody>
      </p:sp>
      <p:sp>
        <p:nvSpPr>
          <p:cNvPr id="25" name="Shape 18"/>
          <p:cNvSpPr/>
          <p:nvPr/>
        </p:nvSpPr>
        <p:spPr>
          <a:xfrm>
            <a:off x="0" y="4259461"/>
            <a:ext cx="9144000" cy="598289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9"/>
          <p:cNvSpPr/>
          <p:nvPr/>
        </p:nvSpPr>
        <p:spPr>
          <a:xfrm>
            <a:off x="571500" y="4455021"/>
            <a:ext cx="44184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Estimation de la perte : 1h/semaine × 300 personnes =</a:t>
            </a:r>
            <a:endParaRPr lang="en-US" sz="1269" dirty="0"/>
          </a:p>
        </p:txBody>
      </p:sp>
      <p:sp>
        <p:nvSpPr>
          <p:cNvPr id="27" name="Text 20"/>
          <p:cNvSpPr/>
          <p:nvPr/>
        </p:nvSpPr>
        <p:spPr>
          <a:xfrm>
            <a:off x="5873948" y="4402336"/>
            <a:ext cx="269855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heures/semaine</a:t>
            </a:r>
            <a:endParaRPr lang="en-US" sz="180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05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Case : un ROI rapide et démontrable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817959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Situation actuelle → Cible post-déploiement · Dashboard opérationnel en 8 semaines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168003"/>
            <a:ext cx="3929063" cy="1608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1500" y="1168003"/>
            <a:ext cx="3929063" cy="28575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326952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7263" y="1310878"/>
            <a:ext cx="153412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Temps de reporting</a:t>
            </a:r>
            <a:endParaRPr lang="en-US" sz="1090" dirty="0"/>
          </a:p>
        </p:txBody>
      </p:sp>
      <p:sp>
        <p:nvSpPr>
          <p:cNvPr id="9" name="Shape 5"/>
          <p:cNvSpPr/>
          <p:nvPr/>
        </p:nvSpPr>
        <p:spPr>
          <a:xfrm>
            <a:off x="714375" y="1614488"/>
            <a:ext cx="464344" cy="14856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14375" y="1614488"/>
            <a:ext cx="4643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1264444" y="1614488"/>
            <a:ext cx="30932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~4h (Lena) pour consolider, vérifier et distribuer chaque lundi.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777" y="2057735"/>
            <a:ext cx="62508" cy="10001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14375" y="2284549"/>
            <a:ext cx="464344" cy="1485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9"/>
          <p:cNvSpPr/>
          <p:nvPr/>
        </p:nvSpPr>
        <p:spPr>
          <a:xfrm>
            <a:off x="714375" y="2284549"/>
            <a:ext cx="4643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</a:t>
            </a:r>
            <a:endParaRPr lang="en-US" sz="584" dirty="0"/>
          </a:p>
        </p:txBody>
      </p:sp>
      <p:sp>
        <p:nvSpPr>
          <p:cNvPr id="15" name="Text 10"/>
          <p:cNvSpPr/>
          <p:nvPr/>
        </p:nvSpPr>
        <p:spPr>
          <a:xfrm>
            <a:off x="1264444" y="2284549"/>
            <a:ext cx="30932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~0h</a:t>
            </a: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rafraîchissement automatique chaque nuit. 300h/semaine libérées.</a:t>
            </a:r>
            <a:endParaRPr lang="en-US" sz="784" dirty="0"/>
          </a:p>
        </p:txBody>
      </p:sp>
      <p:sp>
        <p:nvSpPr>
          <p:cNvPr id="16" name="Shape 11"/>
          <p:cNvSpPr/>
          <p:nvPr/>
        </p:nvSpPr>
        <p:spPr>
          <a:xfrm>
            <a:off x="4643438" y="1168003"/>
            <a:ext cx="3929063" cy="15794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4643438" y="1168003"/>
            <a:ext cx="3929063" cy="28575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326952"/>
            <a:ext cx="117872" cy="1571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89909" y="1310878"/>
            <a:ext cx="20377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Disponibilité des données</a:t>
            </a:r>
            <a:endParaRPr lang="en-US" sz="1090" dirty="0"/>
          </a:p>
        </p:txBody>
      </p:sp>
      <p:sp>
        <p:nvSpPr>
          <p:cNvPr id="20" name="Shape 14"/>
          <p:cNvSpPr/>
          <p:nvPr/>
        </p:nvSpPr>
        <p:spPr>
          <a:xfrm>
            <a:off x="4786313" y="1614488"/>
            <a:ext cx="464344" cy="14856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4786313" y="1614488"/>
            <a:ext cx="4643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</a:t>
            </a:r>
            <a:endParaRPr lang="en-US" sz="584" dirty="0"/>
          </a:p>
        </p:txBody>
      </p:sp>
      <p:sp>
        <p:nvSpPr>
          <p:cNvPr id="22" name="Text 16"/>
          <p:cNvSpPr/>
          <p:nvPr/>
        </p:nvSpPr>
        <p:spPr>
          <a:xfrm>
            <a:off x="5336381" y="1614488"/>
            <a:ext cx="235386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Lundi matin, souvent en retard ou erronées.</a:t>
            </a:r>
            <a:endParaRPr lang="en-US" sz="834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6715" y="1897726"/>
            <a:ext cx="62508" cy="10001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786313" y="2124540"/>
            <a:ext cx="464344" cy="1485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8"/>
          <p:cNvSpPr/>
          <p:nvPr/>
        </p:nvSpPr>
        <p:spPr>
          <a:xfrm>
            <a:off x="4786313" y="2124540"/>
            <a:ext cx="4643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</a:t>
            </a:r>
            <a:endParaRPr lang="en-US" sz="584" dirty="0"/>
          </a:p>
        </p:txBody>
      </p:sp>
      <p:sp>
        <p:nvSpPr>
          <p:cNvPr id="26" name="Text 19"/>
          <p:cNvSpPr/>
          <p:nvPr/>
        </p:nvSpPr>
        <p:spPr>
          <a:xfrm>
            <a:off x="5336381" y="2124540"/>
            <a:ext cx="283964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Disponible 24h/24</a:t>
            </a: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J-0, toujours à jour. Zéro retard.</a:t>
            </a:r>
            <a:endParaRPr lang="en-US" sz="784" dirty="0"/>
          </a:p>
        </p:txBody>
      </p:sp>
      <p:sp>
        <p:nvSpPr>
          <p:cNvPr id="27" name="Shape 20"/>
          <p:cNvSpPr/>
          <p:nvPr/>
        </p:nvSpPr>
        <p:spPr>
          <a:xfrm>
            <a:off x="571500" y="2890317"/>
            <a:ext cx="3929063" cy="14480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1"/>
          <p:cNvSpPr/>
          <p:nvPr/>
        </p:nvSpPr>
        <p:spPr>
          <a:xfrm>
            <a:off x="571500" y="2890317"/>
            <a:ext cx="3929063" cy="28575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049265"/>
            <a:ext cx="137517" cy="15716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37617" y="3033192"/>
            <a:ext cx="13108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Sécurité &amp; accès</a:t>
            </a:r>
            <a:endParaRPr lang="en-US" sz="1090" dirty="0"/>
          </a:p>
        </p:txBody>
      </p:sp>
      <p:sp>
        <p:nvSpPr>
          <p:cNvPr id="31" name="Shape 23"/>
          <p:cNvSpPr/>
          <p:nvPr/>
        </p:nvSpPr>
        <p:spPr>
          <a:xfrm>
            <a:off x="714375" y="3336801"/>
            <a:ext cx="464344" cy="14856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4"/>
          <p:cNvSpPr/>
          <p:nvPr/>
        </p:nvSpPr>
        <p:spPr>
          <a:xfrm>
            <a:off x="714375" y="3336801"/>
            <a:ext cx="4643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</a:t>
            </a:r>
            <a:endParaRPr lang="en-US" sz="584" dirty="0"/>
          </a:p>
        </p:txBody>
      </p:sp>
      <p:sp>
        <p:nvSpPr>
          <p:cNvPr id="33" name="Text 25"/>
          <p:cNvSpPr/>
          <p:nvPr/>
        </p:nvSpPr>
        <p:spPr>
          <a:xfrm>
            <a:off x="1264444" y="3336801"/>
            <a:ext cx="2457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par e-mail · cloisonnement non respecté.</a:t>
            </a:r>
            <a:endParaRPr lang="en-US" sz="834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4777" y="3620040"/>
            <a:ext cx="62508" cy="100013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14375" y="3846854"/>
            <a:ext cx="464344" cy="1485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27"/>
          <p:cNvSpPr/>
          <p:nvPr/>
        </p:nvSpPr>
        <p:spPr>
          <a:xfrm>
            <a:off x="714375" y="3846854"/>
            <a:ext cx="4643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</a:t>
            </a:r>
            <a:endParaRPr lang="en-US" sz="584" dirty="0"/>
          </a:p>
        </p:txBody>
      </p:sp>
      <p:sp>
        <p:nvSpPr>
          <p:cNvPr id="37" name="Text 28"/>
          <p:cNvSpPr/>
          <p:nvPr/>
        </p:nvSpPr>
        <p:spPr>
          <a:xfrm>
            <a:off x="1264444" y="3846854"/>
            <a:ext cx="30932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self-service</a:t>
            </a: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RLS via Azure AD. 25 pays cloisonnés.</a:t>
            </a:r>
            <a:endParaRPr lang="en-US" sz="784" dirty="0"/>
          </a:p>
        </p:txBody>
      </p:sp>
      <p:sp>
        <p:nvSpPr>
          <p:cNvPr id="38" name="Shape 29"/>
          <p:cNvSpPr/>
          <p:nvPr/>
        </p:nvSpPr>
        <p:spPr>
          <a:xfrm>
            <a:off x="4643438" y="2890317"/>
            <a:ext cx="3929063" cy="14480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0"/>
          <p:cNvSpPr/>
          <p:nvPr/>
        </p:nvSpPr>
        <p:spPr>
          <a:xfrm>
            <a:off x="4643438" y="2890317"/>
            <a:ext cx="3929063" cy="28575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049265"/>
            <a:ext cx="157163" cy="157163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029200" y="3033192"/>
            <a:ext cx="15805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opérationnel</a:t>
            </a:r>
            <a:endParaRPr lang="en-US" sz="1090" dirty="0"/>
          </a:p>
        </p:txBody>
      </p:sp>
      <p:sp>
        <p:nvSpPr>
          <p:cNvPr id="42" name="Shape 32"/>
          <p:cNvSpPr/>
          <p:nvPr/>
        </p:nvSpPr>
        <p:spPr>
          <a:xfrm>
            <a:off x="4786313" y="3336801"/>
            <a:ext cx="464344" cy="148568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3"/>
          <p:cNvSpPr/>
          <p:nvPr/>
        </p:nvSpPr>
        <p:spPr>
          <a:xfrm>
            <a:off x="4786313" y="3336801"/>
            <a:ext cx="4643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</a:t>
            </a:r>
            <a:endParaRPr lang="en-US" sz="584" dirty="0"/>
          </a:p>
        </p:txBody>
      </p:sp>
      <p:sp>
        <p:nvSpPr>
          <p:cNvPr id="44" name="Text 34"/>
          <p:cNvSpPr/>
          <p:nvPr/>
        </p:nvSpPr>
        <p:spPr>
          <a:xfrm>
            <a:off x="5336381" y="3336801"/>
            <a:ext cx="236636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Critique — tout repose sur Lena (départ S1).</a:t>
            </a:r>
            <a:endParaRPr lang="en-US" sz="834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6715" y="3620040"/>
            <a:ext cx="62508" cy="100013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4786313" y="3846854"/>
            <a:ext cx="464344" cy="14856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36"/>
          <p:cNvSpPr/>
          <p:nvPr/>
        </p:nvSpPr>
        <p:spPr>
          <a:xfrm>
            <a:off x="4786313" y="3846854"/>
            <a:ext cx="464344" cy="14856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</a:t>
            </a:r>
            <a:endParaRPr lang="en-US" sz="584" dirty="0"/>
          </a:p>
        </p:txBody>
      </p:sp>
      <p:sp>
        <p:nvSpPr>
          <p:cNvPr id="48" name="Text 37"/>
          <p:cNvSpPr/>
          <p:nvPr/>
        </p:nvSpPr>
        <p:spPr>
          <a:xfrm>
            <a:off x="5336381" y="3846854"/>
            <a:ext cx="309324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Résilience totale</a:t>
            </a: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processus pérennisé dans le datamart.</a:t>
            </a:r>
            <a:endParaRPr lang="en-US" sz="784" dirty="0"/>
          </a:p>
        </p:txBody>
      </p:sp>
      <p:sp>
        <p:nvSpPr>
          <p:cNvPr id="49" name="Shape 38"/>
          <p:cNvSpPr/>
          <p:nvPr/>
        </p:nvSpPr>
        <p:spPr>
          <a:xfrm>
            <a:off x="0" y="4452621"/>
            <a:ext cx="9144000" cy="475059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39"/>
          <p:cNvSpPr/>
          <p:nvPr/>
        </p:nvSpPr>
        <p:spPr>
          <a:xfrm>
            <a:off x="1145679" y="4595496"/>
            <a:ext cx="685264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total : 300h/semaine économisées · 7 ETP réorientés · 25 pays sécurisés dès S8</a:t>
            </a:r>
            <a:endParaRPr lang="en-US" sz="10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Choix de l'outil : Power BI s'impose comme évidence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817959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est la seule option compatible avec les contraintes techniques et organisationnelles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196578"/>
            <a:ext cx="2552691" cy="2881108"/>
          </a:xfrm>
          <a:prstGeom prst="rect">
            <a:avLst/>
          </a:prstGeom>
          <a:solidFill>
            <a:srgbClr val="FFFFFF"/>
          </a:solidFill>
          <a:ln w="18288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1500" y="1196578"/>
            <a:ext cx="2552691" cy="47148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71500" y="1196578"/>
            <a:ext cx="2552691" cy="47148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657225" y="1753791"/>
            <a:ext cx="23812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AZURE AD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57225" y="1903809"/>
            <a:ext cx="6054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Complexe</a:t>
            </a:r>
            <a:endParaRPr lang="en-US" sz="942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878" y="1917204"/>
            <a:ext cx="128588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7225" y="2237780"/>
            <a:ext cx="23812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DROITS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657225" y="2387798"/>
            <a:ext cx="5518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Manuelle</a:t>
            </a:r>
            <a:endParaRPr lang="en-US" sz="942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878" y="2401193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7225" y="2721769"/>
            <a:ext cx="23812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PASSÉE</a:t>
            </a:r>
            <a:endParaRPr lang="en-US" sz="683" dirty="0"/>
          </a:p>
        </p:txBody>
      </p:sp>
      <p:sp>
        <p:nvSpPr>
          <p:cNvPr id="15" name="Text 10"/>
          <p:cNvSpPr/>
          <p:nvPr/>
        </p:nvSpPr>
        <p:spPr>
          <a:xfrm>
            <a:off x="657225" y="2871788"/>
            <a:ext cx="11304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Échec (connexion)</a:t>
            </a:r>
            <a:endParaRPr lang="en-US" sz="942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9878" y="2885182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7225" y="3205758"/>
            <a:ext cx="23812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 (300 USERS)</a:t>
            </a:r>
            <a:endParaRPr lang="en-US" sz="683" dirty="0"/>
          </a:p>
        </p:txBody>
      </p:sp>
      <p:sp>
        <p:nvSpPr>
          <p:cNvPr id="18" name="Text 12"/>
          <p:cNvSpPr/>
          <p:nvPr/>
        </p:nvSpPr>
        <p:spPr>
          <a:xfrm>
            <a:off x="657225" y="3355777"/>
            <a:ext cx="3250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Élevé</a:t>
            </a:r>
            <a:endParaRPr lang="en-US" sz="942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878" y="3369171"/>
            <a:ext cx="128588" cy="12858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3270114" y="1167767"/>
            <a:ext cx="2603745" cy="2938730"/>
          </a:xfrm>
          <a:prstGeom prst="rect">
            <a:avLst/>
          </a:prstGeom>
          <a:solidFill>
            <a:srgbClr val="FFFFFF"/>
          </a:solidFill>
          <a:ln w="27432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4"/>
          <p:cNvSpPr/>
          <p:nvPr/>
        </p:nvSpPr>
        <p:spPr>
          <a:xfrm>
            <a:off x="3270114" y="1167767"/>
            <a:ext cx="2603745" cy="480917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5"/>
          <p:cNvSpPr/>
          <p:nvPr/>
        </p:nvSpPr>
        <p:spPr>
          <a:xfrm>
            <a:off x="3270114" y="1167767"/>
            <a:ext cx="2603745" cy="48091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397" dirty="0"/>
          </a:p>
        </p:txBody>
      </p:sp>
      <p:sp>
        <p:nvSpPr>
          <p:cNvPr id="23" name="Text 16"/>
          <p:cNvSpPr/>
          <p:nvPr/>
        </p:nvSpPr>
        <p:spPr>
          <a:xfrm>
            <a:off x="3357553" y="1736124"/>
            <a:ext cx="2428866" cy="123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AZURE AD</a:t>
            </a:r>
            <a:endParaRPr lang="en-US" sz="683" dirty="0"/>
          </a:p>
        </p:txBody>
      </p:sp>
      <p:sp>
        <p:nvSpPr>
          <p:cNvPr id="24" name="Text 17"/>
          <p:cNvSpPr/>
          <p:nvPr/>
        </p:nvSpPr>
        <p:spPr>
          <a:xfrm>
            <a:off x="3357553" y="1889143"/>
            <a:ext cx="792420" cy="158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(SSO)</a:t>
            </a:r>
            <a:endParaRPr lang="en-US" sz="942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5260" y="1902805"/>
            <a:ext cx="131160" cy="13115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357553" y="2229793"/>
            <a:ext cx="2428866" cy="123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DROITS</a:t>
            </a:r>
            <a:endParaRPr lang="en-US" sz="683" dirty="0"/>
          </a:p>
        </p:txBody>
      </p:sp>
      <p:sp>
        <p:nvSpPr>
          <p:cNvPr id="27" name="Text 19"/>
          <p:cNvSpPr/>
          <p:nvPr/>
        </p:nvSpPr>
        <p:spPr>
          <a:xfrm>
            <a:off x="3357553" y="2382812"/>
            <a:ext cx="652153" cy="158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RLS native</a:t>
            </a:r>
            <a:endParaRPr lang="en-US" sz="942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5260" y="2396474"/>
            <a:ext cx="131160" cy="13115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357553" y="2723461"/>
            <a:ext cx="2428866" cy="123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PASSÉE</a:t>
            </a:r>
            <a:endParaRPr lang="en-US" sz="683" dirty="0"/>
          </a:p>
        </p:txBody>
      </p:sp>
      <p:sp>
        <p:nvSpPr>
          <p:cNvPr id="30" name="Text 21"/>
          <p:cNvSpPr/>
          <p:nvPr/>
        </p:nvSpPr>
        <p:spPr>
          <a:xfrm>
            <a:off x="3357553" y="2876481"/>
            <a:ext cx="848892" cy="158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Recommandé</a:t>
            </a:r>
            <a:endParaRPr lang="en-US" sz="942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5260" y="2890143"/>
            <a:ext cx="131160" cy="131159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357553" y="3217130"/>
            <a:ext cx="2428866" cy="123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 (300 USERS)</a:t>
            </a:r>
            <a:endParaRPr lang="en-US" sz="683" dirty="0"/>
          </a:p>
        </p:txBody>
      </p:sp>
      <p:sp>
        <p:nvSpPr>
          <p:cNvPr id="33" name="Text 23"/>
          <p:cNvSpPr/>
          <p:nvPr/>
        </p:nvSpPr>
        <p:spPr>
          <a:xfrm>
            <a:off x="3357553" y="3370149"/>
            <a:ext cx="856179" cy="1584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 (M365)</a:t>
            </a:r>
            <a:endParaRPr lang="en-US" sz="942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5260" y="3383812"/>
            <a:ext cx="131160" cy="131159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6019781" y="1196578"/>
            <a:ext cx="2552719" cy="2881108"/>
          </a:xfrm>
          <a:prstGeom prst="rect">
            <a:avLst/>
          </a:prstGeom>
          <a:solidFill>
            <a:srgbClr val="FFFFFF"/>
          </a:solidFill>
          <a:ln w="18288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25"/>
          <p:cNvSpPr/>
          <p:nvPr/>
        </p:nvSpPr>
        <p:spPr>
          <a:xfrm>
            <a:off x="6019781" y="1196578"/>
            <a:ext cx="2552719" cy="47148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26"/>
          <p:cNvSpPr/>
          <p:nvPr/>
        </p:nvSpPr>
        <p:spPr>
          <a:xfrm>
            <a:off x="6019781" y="1196578"/>
            <a:ext cx="2552719" cy="47148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Metabase</a:t>
            </a:r>
            <a:endParaRPr lang="en-US" sz="1397" dirty="0"/>
          </a:p>
        </p:txBody>
      </p:sp>
      <p:sp>
        <p:nvSpPr>
          <p:cNvPr id="38" name="Text 27"/>
          <p:cNvSpPr/>
          <p:nvPr/>
        </p:nvSpPr>
        <p:spPr>
          <a:xfrm>
            <a:off x="6105506" y="1753791"/>
            <a:ext cx="23812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AZURE AD</a:t>
            </a:r>
            <a:endParaRPr lang="en-US" sz="683" dirty="0"/>
          </a:p>
        </p:txBody>
      </p:sp>
      <p:sp>
        <p:nvSpPr>
          <p:cNvPr id="39" name="Text 28"/>
          <p:cNvSpPr/>
          <p:nvPr/>
        </p:nvSpPr>
        <p:spPr>
          <a:xfrm>
            <a:off x="6105506" y="1903809"/>
            <a:ext cx="4875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Partielle</a:t>
            </a:r>
            <a:endParaRPr lang="en-US" sz="942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8188" y="1917204"/>
            <a:ext cx="128588" cy="12858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105506" y="2237780"/>
            <a:ext cx="23812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DES DROITS</a:t>
            </a:r>
            <a:endParaRPr lang="en-US" sz="683" dirty="0"/>
          </a:p>
        </p:txBody>
      </p:sp>
      <p:sp>
        <p:nvSpPr>
          <p:cNvPr id="42" name="Text 30"/>
          <p:cNvSpPr/>
          <p:nvPr/>
        </p:nvSpPr>
        <p:spPr>
          <a:xfrm>
            <a:off x="6105506" y="2387798"/>
            <a:ext cx="4375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Limitée</a:t>
            </a:r>
            <a:endParaRPr lang="en-US" sz="942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8188" y="2401193"/>
            <a:ext cx="128588" cy="12858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105506" y="2721769"/>
            <a:ext cx="23812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PASSÉE</a:t>
            </a:r>
            <a:endParaRPr lang="en-US" sz="683" dirty="0"/>
          </a:p>
        </p:txBody>
      </p:sp>
      <p:sp>
        <p:nvSpPr>
          <p:cNvPr id="45" name="Text 32"/>
          <p:cNvSpPr/>
          <p:nvPr/>
        </p:nvSpPr>
        <p:spPr>
          <a:xfrm>
            <a:off x="6105506" y="2871788"/>
            <a:ext cx="5857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testé</a:t>
            </a:r>
            <a:endParaRPr lang="en-US" sz="942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8188" y="2885182"/>
            <a:ext cx="128588" cy="12858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105506" y="3205758"/>
            <a:ext cx="23812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 (300 USERS)</a:t>
            </a:r>
            <a:endParaRPr lang="en-US" sz="683" dirty="0"/>
          </a:p>
        </p:txBody>
      </p:sp>
      <p:sp>
        <p:nvSpPr>
          <p:cNvPr id="48" name="Text 34"/>
          <p:cNvSpPr/>
          <p:nvPr/>
        </p:nvSpPr>
        <p:spPr>
          <a:xfrm>
            <a:off x="6105506" y="3355777"/>
            <a:ext cx="803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</a:t>
            </a:r>
            <a:endParaRPr lang="en-US" sz="942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8188" y="3369171"/>
            <a:ext cx="128588" cy="128588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571500" y="4163411"/>
            <a:ext cx="8001000" cy="8943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36"/>
          <p:cNvSpPr/>
          <p:nvPr/>
        </p:nvSpPr>
        <p:spPr>
          <a:xfrm>
            <a:off x="571500" y="4163411"/>
            <a:ext cx="57150" cy="894364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" y="4467718"/>
            <a:ext cx="321469" cy="28575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1235869" y="4306286"/>
            <a:ext cx="7165181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Décision : Power BI</a:t>
            </a:r>
            <a:endParaRPr lang="en-US" sz="1090" dirty="0"/>
          </a:p>
        </p:txBody>
      </p:sp>
      <p:sp>
        <p:nvSpPr>
          <p:cNvPr id="54" name="Text 38"/>
          <p:cNvSpPr/>
          <p:nvPr/>
        </p:nvSpPr>
        <p:spPr>
          <a:xfrm>
            <a:off x="1235869" y="4565582"/>
            <a:ext cx="65365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native avec Azure AD, Row-Level Security (RLS) pour le cloisonnement par pays, et licence déjà</a:t>
            </a:r>
            <a:endParaRPr lang="en-US" sz="942" dirty="0"/>
          </a:p>
        </p:txBody>
      </p:sp>
      <p:sp>
        <p:nvSpPr>
          <p:cNvPr id="55" name="Text 39"/>
          <p:cNvSpPr/>
          <p:nvPr/>
        </p:nvSpPr>
        <p:spPr>
          <a:xfrm>
            <a:off x="1235869" y="4565582"/>
            <a:ext cx="7159823" cy="335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disponible dans l'écosystème Microsoft de Boolean HR.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technique : un datamart dédié pour la performance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096566"/>
            <a:ext cx="8001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architecture en couches garantit fiabilité, performance et scalabilité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571500" y="1457325"/>
            <a:ext cx="1914525" cy="227849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1500" y="1457325"/>
            <a:ext cx="1914525" cy="42863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471738" y="1457325"/>
            <a:ext cx="14288" cy="2278493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71500" y="3721531"/>
            <a:ext cx="191452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71500" y="1457325"/>
            <a:ext cx="14288" cy="2278493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71500" y="1457325"/>
            <a:ext cx="1914525" cy="383977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77876"/>
            <a:ext cx="125016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541" y="1571625"/>
            <a:ext cx="1214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Couche 1 : Sources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685800" y="1955602"/>
            <a:ext cx="16859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ETL nocturne :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685800" y="2187048"/>
            <a:ext cx="168592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CRM</a:t>
            </a: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clients, comptes, commerciaux</a:t>
            </a:r>
            <a:endParaRPr lang="en-US" sz="734" dirty="0"/>
          </a:p>
        </p:txBody>
      </p:sp>
      <p:sp>
        <p:nvSpPr>
          <p:cNvPr id="15" name="Text 11"/>
          <p:cNvSpPr/>
          <p:nvPr/>
        </p:nvSpPr>
        <p:spPr>
          <a:xfrm>
            <a:off x="685800" y="2544235"/>
            <a:ext cx="1685925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Finance</a:t>
            </a: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CA, contrats</a:t>
            </a:r>
            <a:endParaRPr lang="en-US" sz="734" dirty="0"/>
          </a:p>
        </p:txBody>
      </p:sp>
      <p:sp>
        <p:nvSpPr>
          <p:cNvPr id="16" name="Text 12"/>
          <p:cNvSpPr/>
          <p:nvPr/>
        </p:nvSpPr>
        <p:spPr>
          <a:xfrm>
            <a:off x="685800" y="218704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17" name="Text 13"/>
          <p:cNvSpPr/>
          <p:nvPr/>
        </p:nvSpPr>
        <p:spPr>
          <a:xfrm>
            <a:off x="685800" y="2544235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2809866" y="2482258"/>
            <a:ext cx="142875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76581" y="1457325"/>
            <a:ext cx="2590809" cy="227849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3276581" y="1457325"/>
            <a:ext cx="2590809" cy="42863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5853103" y="1457325"/>
            <a:ext cx="14288" cy="2278493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3276581" y="3721531"/>
            <a:ext cx="2590809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3276581" y="1457325"/>
            <a:ext cx="14288" cy="2278493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3276581" y="1457325"/>
            <a:ext cx="2590809" cy="383977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881" y="1577876"/>
            <a:ext cx="142875" cy="1428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19481" y="1571625"/>
            <a:ext cx="21163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Couche 2 : Datamart (Azure SQL)</a:t>
            </a:r>
            <a:endParaRPr lang="en-US" sz="885" dirty="0"/>
          </a:p>
        </p:txBody>
      </p:sp>
      <p:sp>
        <p:nvSpPr>
          <p:cNvPr id="27" name="Text 21"/>
          <p:cNvSpPr/>
          <p:nvPr/>
        </p:nvSpPr>
        <p:spPr>
          <a:xfrm>
            <a:off x="3390881" y="1955602"/>
            <a:ext cx="236220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Agrégation et nettoyage :</a:t>
            </a:r>
            <a:endParaRPr lang="en-US" sz="784" dirty="0"/>
          </a:p>
        </p:txBody>
      </p:sp>
      <p:sp>
        <p:nvSpPr>
          <p:cNvPr id="28" name="Text 22"/>
          <p:cNvSpPr/>
          <p:nvPr/>
        </p:nvSpPr>
        <p:spPr>
          <a:xfrm>
            <a:off x="3390881" y="2187048"/>
            <a:ext cx="2362209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Déduplification des entités clients (ex. : fusions)</a:t>
            </a:r>
            <a:endParaRPr lang="en-US" sz="780" dirty="0"/>
          </a:p>
        </p:txBody>
      </p:sp>
      <p:sp>
        <p:nvSpPr>
          <p:cNvPr id="29" name="Text 23"/>
          <p:cNvSpPr/>
          <p:nvPr/>
        </p:nvSpPr>
        <p:spPr>
          <a:xfrm>
            <a:off x="3390881" y="2544235"/>
            <a:ext cx="2362209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 pré-agrégées par semaine, pays, commercial</a:t>
            </a:r>
            <a:endParaRPr lang="en-US" sz="780" dirty="0"/>
          </a:p>
        </p:txBody>
      </p:sp>
      <p:sp>
        <p:nvSpPr>
          <p:cNvPr id="30" name="Text 24"/>
          <p:cNvSpPr/>
          <p:nvPr/>
        </p:nvSpPr>
        <p:spPr>
          <a:xfrm>
            <a:off x="3390881" y="2901423"/>
            <a:ext cx="2362209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Zéro connexion directe</a:t>
            </a:r>
            <a:r>
              <a:rPr lang="en-US" sz="780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à la base de production</a:t>
            </a:r>
            <a:endParaRPr lang="en-US" sz="734" dirty="0"/>
          </a:p>
        </p:txBody>
      </p:sp>
      <p:sp>
        <p:nvSpPr>
          <p:cNvPr id="31" name="Text 25"/>
          <p:cNvSpPr/>
          <p:nvPr/>
        </p:nvSpPr>
        <p:spPr>
          <a:xfrm>
            <a:off x="3390881" y="218704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32" name="Text 26"/>
          <p:cNvSpPr/>
          <p:nvPr/>
        </p:nvSpPr>
        <p:spPr>
          <a:xfrm>
            <a:off x="3390881" y="2544235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33" name="Text 27"/>
          <p:cNvSpPr/>
          <p:nvPr/>
        </p:nvSpPr>
        <p:spPr>
          <a:xfrm>
            <a:off x="3390881" y="2901423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6191231" y="2443414"/>
            <a:ext cx="142875" cy="2286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657947" y="1457325"/>
            <a:ext cx="1914525" cy="2200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29"/>
          <p:cNvSpPr/>
          <p:nvPr/>
        </p:nvSpPr>
        <p:spPr>
          <a:xfrm>
            <a:off x="6657947" y="1457325"/>
            <a:ext cx="1914525" cy="42863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0"/>
          <p:cNvSpPr/>
          <p:nvPr/>
        </p:nvSpPr>
        <p:spPr>
          <a:xfrm>
            <a:off x="8558185" y="1457325"/>
            <a:ext cx="14288" cy="2200805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1"/>
          <p:cNvSpPr/>
          <p:nvPr/>
        </p:nvSpPr>
        <p:spPr>
          <a:xfrm>
            <a:off x="6657947" y="3643843"/>
            <a:ext cx="191452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2"/>
          <p:cNvSpPr/>
          <p:nvPr/>
        </p:nvSpPr>
        <p:spPr>
          <a:xfrm>
            <a:off x="6657947" y="1457325"/>
            <a:ext cx="14288" cy="2200805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6657947" y="1457325"/>
            <a:ext cx="1914525" cy="383977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2247" y="1577876"/>
            <a:ext cx="142875" cy="14287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000847" y="1571625"/>
            <a:ext cx="1262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Couche 3 : Power BI</a:t>
            </a:r>
            <a:endParaRPr lang="en-US" sz="885" dirty="0"/>
          </a:p>
        </p:txBody>
      </p:sp>
      <p:sp>
        <p:nvSpPr>
          <p:cNvPr id="43" name="Text 35"/>
          <p:cNvSpPr/>
          <p:nvPr/>
        </p:nvSpPr>
        <p:spPr>
          <a:xfrm>
            <a:off x="6772247" y="1955602"/>
            <a:ext cx="16859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Restitution sécurisée :</a:t>
            </a:r>
            <a:endParaRPr lang="en-US" sz="784" dirty="0"/>
          </a:p>
        </p:txBody>
      </p:sp>
      <p:sp>
        <p:nvSpPr>
          <p:cNvPr id="44" name="Text 36"/>
          <p:cNvSpPr/>
          <p:nvPr/>
        </p:nvSpPr>
        <p:spPr>
          <a:xfrm>
            <a:off x="6772247" y="2187048"/>
            <a:ext cx="168592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RLS</a:t>
            </a:r>
            <a:r>
              <a:rPr lang="en-US" sz="780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cloisonnement par périmètre utilisateur</a:t>
            </a:r>
            <a:endParaRPr lang="en-US" sz="734" dirty="0"/>
          </a:p>
        </p:txBody>
      </p:sp>
      <p:sp>
        <p:nvSpPr>
          <p:cNvPr id="45" name="Text 37"/>
          <p:cNvSpPr/>
          <p:nvPr/>
        </p:nvSpPr>
        <p:spPr>
          <a:xfrm>
            <a:off x="6772247" y="2544235"/>
            <a:ext cx="1685925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Rafraîchissement automatique</a:t>
            </a:r>
            <a:endParaRPr lang="en-US" sz="780" dirty="0"/>
          </a:p>
        </p:txBody>
      </p:sp>
      <p:sp>
        <p:nvSpPr>
          <p:cNvPr id="46" name="Text 38"/>
          <p:cNvSpPr/>
          <p:nvPr/>
        </p:nvSpPr>
        <p:spPr>
          <a:xfrm>
            <a:off x="6772247" y="2751404"/>
            <a:ext cx="1685925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 via navigateur ou app mobile</a:t>
            </a:r>
            <a:endParaRPr lang="en-US" sz="780" dirty="0"/>
          </a:p>
        </p:txBody>
      </p:sp>
      <p:sp>
        <p:nvSpPr>
          <p:cNvPr id="47" name="Shape 39"/>
          <p:cNvSpPr/>
          <p:nvPr/>
        </p:nvSpPr>
        <p:spPr>
          <a:xfrm>
            <a:off x="571500" y="3858155"/>
            <a:ext cx="8000972" cy="999595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0"/>
          <p:cNvSpPr/>
          <p:nvPr/>
        </p:nvSpPr>
        <p:spPr>
          <a:xfrm>
            <a:off x="571500" y="3858155"/>
            <a:ext cx="42863" cy="999595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1"/>
          <p:cNvSpPr/>
          <p:nvPr/>
        </p:nvSpPr>
        <p:spPr>
          <a:xfrm>
            <a:off x="6772247" y="218704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50" name="Text 42"/>
          <p:cNvSpPr/>
          <p:nvPr/>
        </p:nvSpPr>
        <p:spPr>
          <a:xfrm>
            <a:off x="6772247" y="2544235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51" name="Text 43"/>
          <p:cNvSpPr/>
          <p:nvPr/>
        </p:nvSpPr>
        <p:spPr>
          <a:xfrm>
            <a:off x="6772247" y="275140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16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4257926"/>
            <a:ext cx="200025" cy="200025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1085850" y="4100792"/>
            <a:ext cx="731517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pas le temps réel ?</a:t>
            </a:r>
            <a:endParaRPr lang="en-US" sz="885" dirty="0"/>
          </a:p>
        </p:txBody>
      </p:sp>
      <p:sp>
        <p:nvSpPr>
          <p:cNvPr id="54" name="Text 45"/>
          <p:cNvSpPr/>
          <p:nvPr/>
        </p:nvSpPr>
        <p:spPr>
          <a:xfrm>
            <a:off x="1085850" y="4305812"/>
            <a:ext cx="692050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proposition de connexion directe à la production est écartée : 300 connexions simultanées le lundi matin provoqueraient des</a:t>
            </a:r>
            <a:endParaRPr lang="en-US" sz="834" dirty="0"/>
          </a:p>
        </p:txBody>
      </p:sp>
      <p:sp>
        <p:nvSpPr>
          <p:cNvPr id="55" name="Text 46"/>
          <p:cNvSpPr/>
          <p:nvPr/>
        </p:nvSpPr>
        <p:spPr>
          <a:xfrm>
            <a:off x="1085850" y="4305812"/>
            <a:ext cx="7315200" cy="297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crashs. La granularité hebdomadaire suffit aux besoins métiers.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NOS KPIs : PILOTAGE DE LA PERFORMANCE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817959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sur la qualité de la donnée et l'adoption interne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203722"/>
            <a:ext cx="3914775" cy="17055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1500" y="1203722"/>
            <a:ext cx="391477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471988" y="1203722"/>
            <a:ext cx="14288" cy="170557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71500" y="2895005"/>
            <a:ext cx="391477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71500" y="1203722"/>
            <a:ext cx="42863" cy="170557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750094" y="1806476"/>
            <a:ext cx="500063" cy="50006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942207"/>
            <a:ext cx="28575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28750" y="1791295"/>
            <a:ext cx="28789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 PRÉVISIONNEL (CSM)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1428750" y="2021681"/>
            <a:ext cx="28789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globale projetée que les CSM vont réaliser sur leur portefeuille client.</a:t>
            </a:r>
            <a:endParaRPr lang="en-US" sz="780" dirty="0"/>
          </a:p>
        </p:txBody>
      </p:sp>
      <p:sp>
        <p:nvSpPr>
          <p:cNvPr id="14" name="Shape 10"/>
          <p:cNvSpPr/>
          <p:nvPr/>
        </p:nvSpPr>
        <p:spPr>
          <a:xfrm>
            <a:off x="4657725" y="1203722"/>
            <a:ext cx="3914775" cy="17055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657725" y="1203722"/>
            <a:ext cx="391477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558213" y="1203722"/>
            <a:ext cx="14288" cy="170557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4657725" y="2895005"/>
            <a:ext cx="391477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657725" y="1203722"/>
            <a:ext cx="42863" cy="170557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836319" y="1806476"/>
            <a:ext cx="500063" cy="50006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942207"/>
            <a:ext cx="17145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14975" y="1791295"/>
            <a:ext cx="28789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CA HEBDO</a:t>
            </a:r>
            <a:endParaRPr lang="en-US" sz="987" dirty="0"/>
          </a:p>
        </p:txBody>
      </p:sp>
      <p:sp>
        <p:nvSpPr>
          <p:cNvPr id="22" name="Text 17"/>
          <p:cNvSpPr/>
          <p:nvPr/>
        </p:nvSpPr>
        <p:spPr>
          <a:xfrm>
            <a:off x="5514975" y="2021681"/>
            <a:ext cx="28789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Pilotage direct via le rapport hebdomadaire pour garantir le rythme de facturation.</a:t>
            </a:r>
            <a:endParaRPr lang="en-US" sz="780" dirty="0"/>
          </a:p>
        </p:txBody>
      </p:sp>
      <p:sp>
        <p:nvSpPr>
          <p:cNvPr id="23" name="Shape 18"/>
          <p:cNvSpPr/>
          <p:nvPr/>
        </p:nvSpPr>
        <p:spPr>
          <a:xfrm>
            <a:off x="571500" y="3080742"/>
            <a:ext cx="3914775" cy="17055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571500" y="3080742"/>
            <a:ext cx="391477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4471988" y="3080742"/>
            <a:ext cx="14288" cy="170557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571500" y="4772025"/>
            <a:ext cx="391477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571500" y="3080742"/>
            <a:ext cx="42863" cy="170557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750094" y="3683496"/>
            <a:ext cx="500063" cy="50006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3" y="3819227"/>
            <a:ext cx="200025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28750" y="3668316"/>
            <a:ext cx="28789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TAUX DE CHURN (QUALITÉ)</a:t>
            </a:r>
            <a:endParaRPr lang="en-US" sz="987" dirty="0"/>
          </a:p>
        </p:txBody>
      </p:sp>
      <p:sp>
        <p:nvSpPr>
          <p:cNvPr id="31" name="Text 25"/>
          <p:cNvSpPr/>
          <p:nvPr/>
        </p:nvSpPr>
        <p:spPr>
          <a:xfrm>
            <a:off x="1428750" y="3898702"/>
            <a:ext cx="28789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du churn liée aux erreurs de saisie Salesforce pour fiabiliser les prévisions.</a:t>
            </a:r>
            <a:endParaRPr lang="en-US" sz="780" dirty="0"/>
          </a:p>
        </p:txBody>
      </p:sp>
      <p:sp>
        <p:nvSpPr>
          <p:cNvPr id="32" name="Shape 26"/>
          <p:cNvSpPr/>
          <p:nvPr/>
        </p:nvSpPr>
        <p:spPr>
          <a:xfrm>
            <a:off x="4657725" y="3080742"/>
            <a:ext cx="3914775" cy="17055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7"/>
          <p:cNvSpPr/>
          <p:nvPr/>
        </p:nvSpPr>
        <p:spPr>
          <a:xfrm>
            <a:off x="4657725" y="3080742"/>
            <a:ext cx="391477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8558213" y="3080742"/>
            <a:ext cx="14288" cy="170557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4657725" y="4772025"/>
            <a:ext cx="391477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4657725" y="3080742"/>
            <a:ext cx="42863" cy="170557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1"/>
          <p:cNvSpPr/>
          <p:nvPr/>
        </p:nvSpPr>
        <p:spPr>
          <a:xfrm>
            <a:off x="4836319" y="3683496"/>
            <a:ext cx="500063" cy="50006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7763" y="3819227"/>
            <a:ext cx="257175" cy="2286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514975" y="3668316"/>
            <a:ext cx="28789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INTERNE (ADOPTION)</a:t>
            </a:r>
            <a:endParaRPr lang="en-US" sz="987" dirty="0"/>
          </a:p>
        </p:txBody>
      </p:sp>
      <p:sp>
        <p:nvSpPr>
          <p:cNvPr id="40" name="Text 33"/>
          <p:cNvSpPr/>
          <p:nvPr/>
        </p:nvSpPr>
        <p:spPr>
          <a:xfrm>
            <a:off x="5514975" y="3898702"/>
            <a:ext cx="28789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Mesure de l'utilisation effective du dashboard en interne par les équipes Customer Success.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D. VISION 360 DE NOTRE DASHBOARD EN ACTION</a:t>
            </a:r>
            <a:endParaRPr lang="en-US" sz="201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960834"/>
            <a:ext cx="800100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d'adoption : le dashboard ne vaut rien sans utilisateurs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1164431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conduite du changement est aussi critique que le développement technique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514475"/>
            <a:ext cx="8572500" cy="3464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1500" y="1514475"/>
            <a:ext cx="42863" cy="346472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71500" y="1514475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680339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L'échec du précédent dashboard (il y a 3-4 ans) était avant tout un échec d'adoption. Notre plan repose sur quatre leviers 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2075259"/>
            <a:ext cx="3914775" cy="1305520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71500" y="2075259"/>
            <a:ext cx="266607" cy="13055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71500" y="2075259"/>
            <a:ext cx="266607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1009557" y="2246709"/>
            <a:ext cx="330526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Sponsorship exécutif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009557" y="2539603"/>
            <a:ext cx="33052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Sofiya est le sponsor visible du projet. Son endorsement dans le kick-off meeting est non négociable pour légitimer le changement.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657725" y="2075259"/>
            <a:ext cx="3914775" cy="1305520"/>
          </a:xfrm>
          <a:prstGeom prst="rect">
            <a:avLst/>
          </a:prstGeom>
          <a:solidFill>
            <a:srgbClr val="FFFFFF"/>
          </a:solidFill>
          <a:ln w="18288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657725" y="2075259"/>
            <a:ext cx="248106" cy="1291233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657725" y="2075259"/>
            <a:ext cx="248106" cy="1291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5077281" y="2246709"/>
            <a:ext cx="33237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Pilote avec 5 pays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077281" y="2539603"/>
            <a:ext cx="33237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initial sur 5 pays volontaires avant le roll-out global. Collecte de feedback, ajustements UX, et création d'ambassadeurs internes.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571500" y="3537942"/>
            <a:ext cx="3914775" cy="1319808"/>
          </a:xfrm>
          <a:prstGeom prst="rect">
            <a:avLst/>
          </a:prstGeom>
          <a:solidFill>
            <a:srgbClr val="FFFFFF"/>
          </a:solidFill>
          <a:ln w="18288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571500" y="3552230"/>
            <a:ext cx="290103" cy="130552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71500" y="3552230"/>
            <a:ext cx="290103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36" dirty="0"/>
          </a:p>
        </p:txBody>
      </p:sp>
      <p:sp>
        <p:nvSpPr>
          <p:cNvPr id="21" name="Text 18"/>
          <p:cNvSpPr/>
          <p:nvPr/>
        </p:nvSpPr>
        <p:spPr>
          <a:xfrm>
            <a:off x="1033053" y="3723680"/>
            <a:ext cx="328177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courte et ciblée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1033053" y="4016573"/>
            <a:ext cx="328177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de 30 minutes par profil (manager / commercial). Guide PDF d'une page. Vidéo tutorielle de 3 minutes intégrée.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657725" y="3552230"/>
            <a:ext cx="3914775" cy="1305520"/>
          </a:xfrm>
          <a:prstGeom prst="rect">
            <a:avLst/>
          </a:prstGeom>
          <a:solidFill>
            <a:srgbClr val="FFFFFF"/>
          </a:solidFill>
          <a:ln w="18288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657725" y="3552230"/>
            <a:ext cx="315497" cy="130552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657725" y="3552230"/>
            <a:ext cx="315497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36" dirty="0"/>
          </a:p>
        </p:txBody>
      </p:sp>
      <p:sp>
        <p:nvSpPr>
          <p:cNvPr id="26" name="Text 23"/>
          <p:cNvSpPr/>
          <p:nvPr/>
        </p:nvSpPr>
        <p:spPr>
          <a:xfrm>
            <a:off x="5144672" y="3723680"/>
            <a:ext cx="32563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Décommissionnement progressif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5144672" y="4016573"/>
            <a:ext cx="3256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Excel continuent pendant 4 semaines en parallèle, puis sont officiellement arrêtés pour valider la fiabilité.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Calendrier projet : livraison en 8 semaines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817959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planning réaliste qui s'appuie sur le sprint déjà planifié par Giacomo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196578"/>
            <a:ext cx="1914525" cy="29696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1500" y="1196578"/>
            <a:ext cx="1914525" cy="42863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471738" y="1196578"/>
            <a:ext cx="14288" cy="296967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71500" y="4151970"/>
            <a:ext cx="191452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71500" y="1196578"/>
            <a:ext cx="14288" cy="296967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463" y="131087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1625203"/>
            <a:ext cx="1685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FONDATION</a:t>
            </a:r>
            <a:endParaRPr lang="en-US" sz="1090" dirty="0"/>
          </a:p>
        </p:txBody>
      </p:sp>
      <p:sp>
        <p:nvSpPr>
          <p:cNvPr id="12" name="Text 8"/>
          <p:cNvSpPr/>
          <p:nvPr/>
        </p:nvSpPr>
        <p:spPr>
          <a:xfrm>
            <a:off x="685800" y="1843088"/>
            <a:ext cx="16859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SEMAINES 1-2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685800" y="2207419"/>
            <a:ext cx="16859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</a:t>
            </a:r>
            <a:endParaRPr lang="en-US" sz="634" dirty="0"/>
          </a:p>
        </p:txBody>
      </p:sp>
      <p:sp>
        <p:nvSpPr>
          <p:cNvPr id="14" name="Text 10"/>
          <p:cNvSpPr/>
          <p:nvPr/>
        </p:nvSpPr>
        <p:spPr>
          <a:xfrm>
            <a:off x="685800" y="2366004"/>
            <a:ext cx="1685925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Kick-off &amp; cadrage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685800" y="2558886"/>
            <a:ext cx="1685925" cy="30003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 de cadrage validée par Sofiya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685800" y="2366004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685800" y="2558886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685800" y="2973223"/>
            <a:ext cx="16859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S1-S2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685800" y="3131809"/>
            <a:ext cx="1685925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Intégration du datamart</a:t>
            </a:r>
            <a:endParaRPr lang="en-US" sz="780" dirty="0"/>
          </a:p>
        </p:txBody>
      </p:sp>
      <p:sp>
        <p:nvSpPr>
          <p:cNvPr id="20" name="Text 16"/>
          <p:cNvSpPr/>
          <p:nvPr/>
        </p:nvSpPr>
        <p:spPr>
          <a:xfrm>
            <a:off x="685800" y="3324690"/>
            <a:ext cx="1685925" cy="30003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Giacomo : Datamart opérationnel</a:t>
            </a:r>
            <a:endParaRPr lang="en-US" sz="780" dirty="0"/>
          </a:p>
        </p:txBody>
      </p:sp>
      <p:sp>
        <p:nvSpPr>
          <p:cNvPr id="21" name="Shape 17"/>
          <p:cNvSpPr/>
          <p:nvPr/>
        </p:nvSpPr>
        <p:spPr>
          <a:xfrm>
            <a:off x="2600325" y="1196578"/>
            <a:ext cx="1914525" cy="29696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2600325" y="1196578"/>
            <a:ext cx="1914525" cy="42863"/>
          </a:xfrm>
          <a:prstGeom prst="rect">
            <a:avLst/>
          </a:prstGeom>
          <a:solidFill>
            <a:srgbClr val="FFA7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4500563" y="1196578"/>
            <a:ext cx="14288" cy="296967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2600325" y="4151970"/>
            <a:ext cx="191452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2600325" y="1196578"/>
            <a:ext cx="14288" cy="296967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685800" y="3131809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27" name="Text 23"/>
          <p:cNvSpPr/>
          <p:nvPr/>
        </p:nvSpPr>
        <p:spPr>
          <a:xfrm>
            <a:off x="685800" y="3324690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288" y="1310878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714625" y="1625203"/>
            <a:ext cx="1685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CONSTRUCTION</a:t>
            </a:r>
            <a:endParaRPr lang="en-US" sz="1090" dirty="0"/>
          </a:p>
        </p:txBody>
      </p:sp>
      <p:sp>
        <p:nvSpPr>
          <p:cNvPr id="30" name="Text 25"/>
          <p:cNvSpPr/>
          <p:nvPr/>
        </p:nvSpPr>
        <p:spPr>
          <a:xfrm>
            <a:off x="2714625" y="1843088"/>
            <a:ext cx="16859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SEMAINES 2-4</a:t>
            </a:r>
            <a:endParaRPr lang="en-US" sz="727" dirty="0"/>
          </a:p>
        </p:txBody>
      </p:sp>
      <p:sp>
        <p:nvSpPr>
          <p:cNvPr id="31" name="Text 26"/>
          <p:cNvSpPr/>
          <p:nvPr/>
        </p:nvSpPr>
        <p:spPr>
          <a:xfrm>
            <a:off x="2714625" y="2207419"/>
            <a:ext cx="16859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S2-S3</a:t>
            </a:r>
            <a:endParaRPr lang="en-US" sz="634" dirty="0"/>
          </a:p>
        </p:txBody>
      </p:sp>
      <p:sp>
        <p:nvSpPr>
          <p:cNvPr id="32" name="Text 27"/>
          <p:cNvSpPr/>
          <p:nvPr/>
        </p:nvSpPr>
        <p:spPr>
          <a:xfrm>
            <a:off x="2714625" y="2366004"/>
            <a:ext cx="1685925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Modélisation &amp; RLS</a:t>
            </a:r>
            <a:endParaRPr lang="en-US" sz="780" dirty="0"/>
          </a:p>
        </p:txBody>
      </p:sp>
      <p:sp>
        <p:nvSpPr>
          <p:cNvPr id="33" name="Text 28"/>
          <p:cNvSpPr/>
          <p:nvPr/>
        </p:nvSpPr>
        <p:spPr>
          <a:xfrm>
            <a:off x="2714625" y="2558886"/>
            <a:ext cx="1685925" cy="30003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 de données Power BI sécurisé</a:t>
            </a:r>
            <a:endParaRPr lang="en-US" sz="780" dirty="0"/>
          </a:p>
        </p:txBody>
      </p:sp>
      <p:sp>
        <p:nvSpPr>
          <p:cNvPr id="34" name="Text 29"/>
          <p:cNvSpPr/>
          <p:nvPr/>
        </p:nvSpPr>
        <p:spPr>
          <a:xfrm>
            <a:off x="2714625" y="2366004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35" name="Text 30"/>
          <p:cNvSpPr/>
          <p:nvPr/>
        </p:nvSpPr>
        <p:spPr>
          <a:xfrm>
            <a:off x="2714625" y="2558886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36" name="Text 31"/>
          <p:cNvSpPr/>
          <p:nvPr/>
        </p:nvSpPr>
        <p:spPr>
          <a:xfrm>
            <a:off x="2714625" y="2973223"/>
            <a:ext cx="16859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A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S3-S4</a:t>
            </a:r>
            <a:endParaRPr lang="en-US" sz="634" dirty="0"/>
          </a:p>
        </p:txBody>
      </p:sp>
      <p:sp>
        <p:nvSpPr>
          <p:cNvPr id="37" name="Text 32"/>
          <p:cNvSpPr/>
          <p:nvPr/>
        </p:nvSpPr>
        <p:spPr>
          <a:xfrm>
            <a:off x="2714625" y="3131809"/>
            <a:ext cx="1685925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v1</a:t>
            </a:r>
            <a:endParaRPr lang="en-US" sz="780" dirty="0"/>
          </a:p>
        </p:txBody>
      </p:sp>
      <p:sp>
        <p:nvSpPr>
          <p:cNvPr id="38" name="Text 33"/>
          <p:cNvSpPr/>
          <p:nvPr/>
        </p:nvSpPr>
        <p:spPr>
          <a:xfrm>
            <a:off x="2714625" y="3324690"/>
            <a:ext cx="1685925" cy="30003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Maquette interactive du dashboard</a:t>
            </a:r>
            <a:endParaRPr lang="en-US" sz="780" dirty="0"/>
          </a:p>
        </p:txBody>
      </p:sp>
      <p:sp>
        <p:nvSpPr>
          <p:cNvPr id="39" name="Shape 34"/>
          <p:cNvSpPr/>
          <p:nvPr/>
        </p:nvSpPr>
        <p:spPr>
          <a:xfrm>
            <a:off x="4629150" y="1196578"/>
            <a:ext cx="1914525" cy="29696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5"/>
          <p:cNvSpPr/>
          <p:nvPr/>
        </p:nvSpPr>
        <p:spPr>
          <a:xfrm>
            <a:off x="4629150" y="1196578"/>
            <a:ext cx="1914525" cy="42863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6"/>
          <p:cNvSpPr/>
          <p:nvPr/>
        </p:nvSpPr>
        <p:spPr>
          <a:xfrm>
            <a:off x="6529388" y="1196578"/>
            <a:ext cx="14288" cy="296967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7"/>
          <p:cNvSpPr/>
          <p:nvPr/>
        </p:nvSpPr>
        <p:spPr>
          <a:xfrm>
            <a:off x="4629150" y="4151970"/>
            <a:ext cx="191452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8"/>
          <p:cNvSpPr/>
          <p:nvPr/>
        </p:nvSpPr>
        <p:spPr>
          <a:xfrm>
            <a:off x="4629150" y="1196578"/>
            <a:ext cx="14288" cy="296967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9"/>
          <p:cNvSpPr/>
          <p:nvPr/>
        </p:nvSpPr>
        <p:spPr>
          <a:xfrm>
            <a:off x="2714625" y="3131809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45" name="Text 40"/>
          <p:cNvSpPr/>
          <p:nvPr/>
        </p:nvSpPr>
        <p:spPr>
          <a:xfrm>
            <a:off x="2714625" y="3324690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113" y="1310878"/>
            <a:ext cx="228600" cy="2286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4743450" y="1625203"/>
            <a:ext cx="1685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090" dirty="0"/>
          </a:p>
        </p:txBody>
      </p:sp>
      <p:sp>
        <p:nvSpPr>
          <p:cNvPr id="48" name="Text 42"/>
          <p:cNvSpPr/>
          <p:nvPr/>
        </p:nvSpPr>
        <p:spPr>
          <a:xfrm>
            <a:off x="4743450" y="1843088"/>
            <a:ext cx="16859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SEMAINES 4-6</a:t>
            </a:r>
            <a:endParaRPr lang="en-US" sz="727" dirty="0"/>
          </a:p>
        </p:txBody>
      </p:sp>
      <p:sp>
        <p:nvSpPr>
          <p:cNvPr id="49" name="Text 43"/>
          <p:cNvSpPr/>
          <p:nvPr/>
        </p:nvSpPr>
        <p:spPr>
          <a:xfrm>
            <a:off x="4743450" y="2207419"/>
            <a:ext cx="16859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S4-S5</a:t>
            </a:r>
            <a:endParaRPr lang="en-US" sz="634" dirty="0"/>
          </a:p>
        </p:txBody>
      </p:sp>
      <p:sp>
        <p:nvSpPr>
          <p:cNvPr id="50" name="Text 44"/>
          <p:cNvSpPr/>
          <p:nvPr/>
        </p:nvSpPr>
        <p:spPr>
          <a:xfrm>
            <a:off x="4743450" y="2366004"/>
            <a:ext cx="1685925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Recette &amp; Corrections</a:t>
            </a:r>
            <a:endParaRPr lang="en-US" sz="780" dirty="0"/>
          </a:p>
        </p:txBody>
      </p:sp>
      <p:sp>
        <p:nvSpPr>
          <p:cNvPr id="51" name="Text 45"/>
          <p:cNvSpPr/>
          <p:nvPr/>
        </p:nvSpPr>
        <p:spPr>
          <a:xfrm>
            <a:off x="4743450" y="2558886"/>
            <a:ext cx="1685925" cy="30003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avec Sofiya et 3 managers pilotes</a:t>
            </a:r>
            <a:endParaRPr lang="en-US" sz="780" dirty="0"/>
          </a:p>
        </p:txBody>
      </p:sp>
      <p:sp>
        <p:nvSpPr>
          <p:cNvPr id="52" name="Text 46"/>
          <p:cNvSpPr/>
          <p:nvPr/>
        </p:nvSpPr>
        <p:spPr>
          <a:xfrm>
            <a:off x="4743450" y="2366004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53" name="Text 47"/>
          <p:cNvSpPr/>
          <p:nvPr/>
        </p:nvSpPr>
        <p:spPr>
          <a:xfrm>
            <a:off x="4743450" y="2558886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54" name="Text 48"/>
          <p:cNvSpPr/>
          <p:nvPr/>
        </p:nvSpPr>
        <p:spPr>
          <a:xfrm>
            <a:off x="4743450" y="2973223"/>
            <a:ext cx="16859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S6</a:t>
            </a:r>
            <a:endParaRPr lang="en-US" sz="634" dirty="0"/>
          </a:p>
        </p:txBody>
      </p:sp>
      <p:sp>
        <p:nvSpPr>
          <p:cNvPr id="55" name="Text 49"/>
          <p:cNvSpPr/>
          <p:nvPr/>
        </p:nvSpPr>
        <p:spPr>
          <a:xfrm>
            <a:off x="4743450" y="3131809"/>
            <a:ext cx="1685925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Pilote sur 5 pays</a:t>
            </a:r>
            <a:endParaRPr lang="en-US" sz="780" dirty="0"/>
          </a:p>
        </p:txBody>
      </p:sp>
      <p:sp>
        <p:nvSpPr>
          <p:cNvPr id="56" name="Text 50"/>
          <p:cNvSpPr/>
          <p:nvPr/>
        </p:nvSpPr>
        <p:spPr>
          <a:xfrm>
            <a:off x="4743450" y="3324690"/>
            <a:ext cx="1685925" cy="30003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 restreint et rapport de feedback</a:t>
            </a:r>
            <a:endParaRPr lang="en-US" sz="780" dirty="0"/>
          </a:p>
        </p:txBody>
      </p:sp>
      <p:sp>
        <p:nvSpPr>
          <p:cNvPr id="57" name="Shape 51"/>
          <p:cNvSpPr/>
          <p:nvPr/>
        </p:nvSpPr>
        <p:spPr>
          <a:xfrm>
            <a:off x="6657975" y="1196578"/>
            <a:ext cx="1914525" cy="29696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2"/>
          <p:cNvSpPr/>
          <p:nvPr/>
        </p:nvSpPr>
        <p:spPr>
          <a:xfrm>
            <a:off x="6657975" y="1196578"/>
            <a:ext cx="1914525" cy="42863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3"/>
          <p:cNvSpPr/>
          <p:nvPr/>
        </p:nvSpPr>
        <p:spPr>
          <a:xfrm>
            <a:off x="8558213" y="1196578"/>
            <a:ext cx="14288" cy="296967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4"/>
          <p:cNvSpPr/>
          <p:nvPr/>
        </p:nvSpPr>
        <p:spPr>
          <a:xfrm>
            <a:off x="6657975" y="4151970"/>
            <a:ext cx="1914525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5"/>
          <p:cNvSpPr/>
          <p:nvPr/>
        </p:nvSpPr>
        <p:spPr>
          <a:xfrm>
            <a:off x="6657975" y="1196578"/>
            <a:ext cx="14288" cy="2969679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56"/>
          <p:cNvSpPr/>
          <p:nvPr/>
        </p:nvSpPr>
        <p:spPr>
          <a:xfrm>
            <a:off x="4743450" y="3131809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63" name="Text 57"/>
          <p:cNvSpPr/>
          <p:nvPr/>
        </p:nvSpPr>
        <p:spPr>
          <a:xfrm>
            <a:off x="4743450" y="3324690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pic>
        <p:nvPicPr>
          <p:cNvPr id="6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38" y="1310878"/>
            <a:ext cx="228600" cy="228600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6772275" y="1625203"/>
            <a:ext cx="16859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DÉPLOIEMENT</a:t>
            </a:r>
            <a:endParaRPr lang="en-US" sz="1090" dirty="0"/>
          </a:p>
        </p:txBody>
      </p:sp>
      <p:sp>
        <p:nvSpPr>
          <p:cNvPr id="66" name="Text 59"/>
          <p:cNvSpPr/>
          <p:nvPr/>
        </p:nvSpPr>
        <p:spPr>
          <a:xfrm>
            <a:off x="6772275" y="1843088"/>
            <a:ext cx="16859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SEMAINES 7-8</a:t>
            </a:r>
            <a:endParaRPr lang="en-US" sz="727" dirty="0"/>
          </a:p>
        </p:txBody>
      </p:sp>
      <p:sp>
        <p:nvSpPr>
          <p:cNvPr id="67" name="Text 60"/>
          <p:cNvSpPr/>
          <p:nvPr/>
        </p:nvSpPr>
        <p:spPr>
          <a:xfrm>
            <a:off x="6772275" y="2207419"/>
            <a:ext cx="16859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S7</a:t>
            </a:r>
            <a:endParaRPr lang="en-US" sz="634" dirty="0"/>
          </a:p>
        </p:txBody>
      </p:sp>
      <p:sp>
        <p:nvSpPr>
          <p:cNvPr id="68" name="Text 61"/>
          <p:cNvSpPr/>
          <p:nvPr/>
        </p:nvSpPr>
        <p:spPr>
          <a:xfrm>
            <a:off x="6772275" y="2366004"/>
            <a:ext cx="1685925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&amp; Doc</a:t>
            </a:r>
            <a:endParaRPr lang="en-US" sz="780" dirty="0"/>
          </a:p>
        </p:txBody>
      </p:sp>
      <p:sp>
        <p:nvSpPr>
          <p:cNvPr id="69" name="Text 62"/>
          <p:cNvSpPr/>
          <p:nvPr/>
        </p:nvSpPr>
        <p:spPr>
          <a:xfrm>
            <a:off x="6772275" y="2558886"/>
            <a:ext cx="1685925" cy="30003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Guides utilisateurs et vidéos tutorielles</a:t>
            </a:r>
            <a:endParaRPr lang="en-US" sz="780" dirty="0"/>
          </a:p>
        </p:txBody>
      </p:sp>
      <p:sp>
        <p:nvSpPr>
          <p:cNvPr id="70" name="Text 63"/>
          <p:cNvSpPr/>
          <p:nvPr/>
        </p:nvSpPr>
        <p:spPr>
          <a:xfrm>
            <a:off x="6772275" y="2366004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71" name="Text 64"/>
          <p:cNvSpPr/>
          <p:nvPr/>
        </p:nvSpPr>
        <p:spPr>
          <a:xfrm>
            <a:off x="6772275" y="2558886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72" name="Text 65"/>
          <p:cNvSpPr/>
          <p:nvPr/>
        </p:nvSpPr>
        <p:spPr>
          <a:xfrm>
            <a:off x="6772275" y="2973223"/>
            <a:ext cx="16859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S8</a:t>
            </a:r>
            <a:endParaRPr lang="en-US" sz="634" dirty="0"/>
          </a:p>
        </p:txBody>
      </p:sp>
      <p:sp>
        <p:nvSpPr>
          <p:cNvPr id="73" name="Text 66"/>
          <p:cNvSpPr/>
          <p:nvPr/>
        </p:nvSpPr>
        <p:spPr>
          <a:xfrm>
            <a:off x="6772275" y="3131809"/>
            <a:ext cx="1685925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Roll-out global</a:t>
            </a:r>
            <a:endParaRPr lang="en-US" sz="780" dirty="0"/>
          </a:p>
        </p:txBody>
      </p:sp>
      <p:sp>
        <p:nvSpPr>
          <p:cNvPr id="74" name="Text 67"/>
          <p:cNvSpPr/>
          <p:nvPr/>
        </p:nvSpPr>
        <p:spPr>
          <a:xfrm>
            <a:off x="6772275" y="3324690"/>
            <a:ext cx="1685925" cy="300038"/>
          </a:xfrm>
          <a:prstGeom prst="rect">
            <a:avLst/>
          </a:prstGeom>
          <a:noFill/>
          <a:ln/>
        </p:spPr>
        <p:txBody>
          <a:bodyPr wrap="square" lIns="119126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en production pour 300 utilisateurs</a:t>
            </a:r>
            <a:endParaRPr lang="en-US" sz="780" dirty="0"/>
          </a:p>
        </p:txBody>
      </p:sp>
      <p:sp>
        <p:nvSpPr>
          <p:cNvPr id="75" name="Shape 68"/>
          <p:cNvSpPr/>
          <p:nvPr/>
        </p:nvSpPr>
        <p:spPr>
          <a:xfrm>
            <a:off x="571500" y="4309132"/>
            <a:ext cx="8001000" cy="54861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Shape 69"/>
          <p:cNvSpPr/>
          <p:nvPr/>
        </p:nvSpPr>
        <p:spPr>
          <a:xfrm>
            <a:off x="571500" y="4309132"/>
            <a:ext cx="42863" cy="548618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0"/>
          <p:cNvSpPr/>
          <p:nvPr/>
        </p:nvSpPr>
        <p:spPr>
          <a:xfrm>
            <a:off x="6772275" y="3131809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sp>
        <p:nvSpPr>
          <p:cNvPr id="78" name="Text 71"/>
          <p:cNvSpPr/>
          <p:nvPr/>
        </p:nvSpPr>
        <p:spPr>
          <a:xfrm>
            <a:off x="6772275" y="3324690"/>
            <a:ext cx="607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0" dirty="0"/>
          </a:p>
        </p:txBody>
      </p:sp>
      <p:pic>
        <p:nvPicPr>
          <p:cNvPr id="7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4469141"/>
            <a:ext cx="228600" cy="228600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1114425" y="4423432"/>
            <a:ext cx="72866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critique :</a:t>
            </a: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sprint de Giacomo démarre la semaine prochaine. Il faut valider le cadrage </a:t>
            </a:r>
            <a:r>
              <a:rPr lang="en-US" sz="784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cette semaine</a:t>
            </a:r>
            <a:r>
              <a:rPr lang="en-US" sz="834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ne pas manquer cette fenêtre et retarder le projet de 3 semaines.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80010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 &amp; recommandations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71500" y="817959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Trois décisions à valider aujourd'hui pour lancer le projet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1500" y="1110853"/>
            <a:ext cx="8572500" cy="3464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1500" y="1110853"/>
            <a:ext cx="42863" cy="346472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71500" y="1110853"/>
            <a:ext cx="8572500" cy="346472"/>
          </a:xfrm>
          <a:prstGeom prst="rect">
            <a:avLst/>
          </a:prstGeom>
          <a:noFill/>
          <a:ln/>
        </p:spPr>
        <p:txBody>
          <a:bodyPr wrap="square" lIns="170053" tIns="0" rIns="680339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projet Dashboard Customer Success de Boolean HR est techniquement faisable, économiquement justifié et organisationnellement urgent.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1543050"/>
            <a:ext cx="2590781" cy="15323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71500" y="1543050"/>
            <a:ext cx="2590781" cy="42863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147994" y="1543050"/>
            <a:ext cx="14288" cy="153233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71500" y="3061097"/>
            <a:ext cx="2590781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71500" y="1543050"/>
            <a:ext cx="14288" cy="153233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1681153" y="1657350"/>
            <a:ext cx="371475" cy="371475"/>
          </a:xfrm>
          <a:prstGeom prst="ellipse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1681153" y="1657350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1227525" y="2143125"/>
            <a:ext cx="12787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Power BI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685800" y="2389584"/>
            <a:ext cx="23621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 outil de data visualisation (intégration Azure AD, RLS, licence existante).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3276581" y="1543050"/>
            <a:ext cx="2590809" cy="15323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3276581" y="1543050"/>
            <a:ext cx="2590809" cy="42863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5853103" y="1543050"/>
            <a:ext cx="14288" cy="153233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276581" y="3061097"/>
            <a:ext cx="2590809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3276581" y="1543050"/>
            <a:ext cx="14288" cy="153233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386235" y="1657350"/>
            <a:ext cx="371475" cy="371475"/>
          </a:xfrm>
          <a:prstGeom prst="ellipse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386235" y="1657350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3827236" y="2143125"/>
            <a:ext cx="148947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Confirmer le sprint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3390881" y="2389584"/>
            <a:ext cx="23622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le sprint de Giacomo pour le datamart dédié — fenêtre à saisir cette semaine.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5981691" y="1543050"/>
            <a:ext cx="2590781" cy="15323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5981691" y="1543050"/>
            <a:ext cx="2590781" cy="42863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8558185" y="1543050"/>
            <a:ext cx="14288" cy="153233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5981691" y="3061097"/>
            <a:ext cx="2590781" cy="14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5981691" y="1543050"/>
            <a:ext cx="14288" cy="153233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7091344" y="1657350"/>
            <a:ext cx="371475" cy="371475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7091344" y="1657350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6BB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97" dirty="0"/>
          </a:p>
        </p:txBody>
      </p:sp>
      <p:sp>
        <p:nvSpPr>
          <p:cNvPr id="33" name="Text 30"/>
          <p:cNvSpPr/>
          <p:nvPr/>
        </p:nvSpPr>
        <p:spPr>
          <a:xfrm>
            <a:off x="6508235" y="2143125"/>
            <a:ext cx="153769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Nommer le sponsor</a:t>
            </a:r>
            <a:endParaRPr lang="en-US" sz="1090" dirty="0"/>
          </a:p>
        </p:txBody>
      </p:sp>
      <p:sp>
        <p:nvSpPr>
          <p:cNvPr id="34" name="Text 31"/>
          <p:cNvSpPr/>
          <p:nvPr/>
        </p:nvSpPr>
        <p:spPr>
          <a:xfrm>
            <a:off x="6095991" y="2389584"/>
            <a:ext cx="23621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Nommer Sofiya sponsor officiel du projet pour garantir l'adoption par les 300 utilisateurs.</a:t>
            </a:r>
            <a:endParaRPr lang="en-US" sz="834" dirty="0"/>
          </a:p>
        </p:txBody>
      </p:sp>
      <p:sp>
        <p:nvSpPr>
          <p:cNvPr id="35" name="Shape 32"/>
          <p:cNvSpPr/>
          <p:nvPr/>
        </p:nvSpPr>
        <p:spPr>
          <a:xfrm>
            <a:off x="0" y="3675125"/>
            <a:ext cx="9144000" cy="1468375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71500" y="3846575"/>
            <a:ext cx="300038" cy="3429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042988" y="3846575"/>
            <a:ext cx="75295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86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 vous réussissez, ça fera économiser au moins une heure par semaine à tout le monde."</a:t>
            </a:r>
            <a:endParaRPr lang="en-US" sz="1486" dirty="0"/>
          </a:p>
        </p:txBody>
      </p:sp>
      <p:sp>
        <p:nvSpPr>
          <p:cNvPr id="38" name="Text 34"/>
          <p:cNvSpPr/>
          <p:nvPr/>
        </p:nvSpPr>
        <p:spPr>
          <a:xfrm>
            <a:off x="1042988" y="4423767"/>
            <a:ext cx="75295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7E57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Sofiya, VP Customer Success</a:t>
            </a:r>
            <a:endParaRPr lang="en-US" sz="885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29175"/>
            <a:ext cx="125016" cy="142875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782241" y="4831854"/>
            <a:ext cx="11287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semaines de projet</a:t>
            </a:r>
            <a:endParaRPr lang="en-US" sz="834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463" y="4829175"/>
            <a:ext cx="142875" cy="142875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929063" y="4831854"/>
            <a:ext cx="15269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300h/semaine économisées</a:t>
            </a:r>
            <a:endParaRPr lang="en-US" sz="834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548" y="4829175"/>
            <a:ext cx="142875" cy="142875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474148" y="4831854"/>
            <a:ext cx="109835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sécurisées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Microsoft Office PowerPoint</Application>
  <PresentationFormat>Affichage à l'écran (16:9)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marie-ange Aké</cp:lastModifiedBy>
  <cp:revision>1</cp:revision>
  <dcterms:created xsi:type="dcterms:W3CDTF">2026-04-15T22:23:57Z</dcterms:created>
  <dcterms:modified xsi:type="dcterms:W3CDTF">2026-04-15T22:27:19Z</dcterms:modified>
</cp:coreProperties>
</file>